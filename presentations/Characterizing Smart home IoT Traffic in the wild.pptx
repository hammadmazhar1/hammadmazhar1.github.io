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media/image17.jpg" ContentType="image/jpeg"/>
  <Override PartName="/ppt/media/image18.jpg" ContentType="image/jpeg"/>
  <Override PartName="/ppt/media/image19.jpg" ContentType="image/jpeg"/>
  <Override PartName="/ppt/media/image20.jpg" ContentType="image/jpeg"/>
  <Override PartName="/ppt/media/image21.jpg" ContentType="image/jpeg"/>
  <Override PartName="/ppt/media/image23.jpg" ContentType="image/jpeg"/>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9" r:id="rId1"/>
  </p:sldMasterIdLst>
  <p:notesMasterIdLst>
    <p:notesMasterId r:id="rId32"/>
  </p:notesMasterIdLst>
  <p:sldIdLst>
    <p:sldId id="256" r:id="rId2"/>
    <p:sldId id="283" r:id="rId3"/>
    <p:sldId id="282" r:id="rId4"/>
    <p:sldId id="260" r:id="rId5"/>
    <p:sldId id="263" r:id="rId6"/>
    <p:sldId id="264" r:id="rId7"/>
    <p:sldId id="266" r:id="rId8"/>
    <p:sldId id="270" r:id="rId9"/>
    <p:sldId id="284" r:id="rId10"/>
    <p:sldId id="271" r:id="rId11"/>
    <p:sldId id="285" r:id="rId12"/>
    <p:sldId id="273" r:id="rId13"/>
    <p:sldId id="286" r:id="rId14"/>
    <p:sldId id="274" r:id="rId15"/>
    <p:sldId id="276" r:id="rId16"/>
    <p:sldId id="257" r:id="rId17"/>
    <p:sldId id="267" r:id="rId18"/>
    <p:sldId id="268" r:id="rId19"/>
    <p:sldId id="269" r:id="rId20"/>
    <p:sldId id="261" r:id="rId21"/>
    <p:sldId id="258" r:id="rId22"/>
    <p:sldId id="272" r:id="rId23"/>
    <p:sldId id="275" r:id="rId24"/>
    <p:sldId id="265" r:id="rId25"/>
    <p:sldId id="281" r:id="rId26"/>
    <p:sldId id="277" r:id="rId27"/>
    <p:sldId id="259" r:id="rId28"/>
    <p:sldId id="262" r:id="rId29"/>
    <p:sldId id="278" r:id="rId30"/>
    <p:sldId id="280" r:id="rId31"/>
  </p:sldIdLst>
  <p:sldSz cx="12192000" cy="6858000"/>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416" autoAdjust="0"/>
  </p:normalViewPr>
  <p:slideViewPr>
    <p:cSldViewPr snapToGrid="0">
      <p:cViewPr varScale="1">
        <p:scale>
          <a:sx n="77" d="100"/>
          <a:sy n="77" d="100"/>
        </p:scale>
        <p:origin x="191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CA698E-CEAB-4014-9906-71340BB6549D}" type="datetimeFigureOut">
              <a:rPr lang="en-US" smtClean="0"/>
              <a:t>4/17/2020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1FE05-5244-41F3-86F3-D9AEF92FBA9A}" type="slidenum">
              <a:rPr lang="en-US" smtClean="0"/>
              <a:t>‹#›</a:t>
            </a:fld>
            <a:endParaRPr lang="en-US"/>
          </a:p>
        </p:txBody>
      </p:sp>
    </p:spTree>
    <p:extLst>
      <p:ext uri="{BB962C8B-B14F-4D97-AF65-F5344CB8AC3E}">
        <p14:creationId xmlns:p14="http://schemas.microsoft.com/office/powerpoint/2010/main" val="3433185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Hammad Mazhar from the University of Iowa and today I will be presenting our work, ‘Characterizing Smart Home IoT Traffic in the Wild’ where we study smart home IoT traffic from actual homes.</a:t>
            </a:r>
          </a:p>
          <a:p>
            <a:endParaRPr lang="en-US" dirty="0"/>
          </a:p>
          <a:p>
            <a:r>
              <a:rPr lang="en-US" dirty="0"/>
              <a:t>With ~1400 million devices expected to ship in 2023 and an estimated contribution of nearly half of all IoT traffic in 2022, smart home IoT has become ubiquitous in everyday life</a:t>
            </a:r>
          </a:p>
        </p:txBody>
      </p:sp>
      <p:sp>
        <p:nvSpPr>
          <p:cNvPr id="4" name="Slide Number Placeholder 3"/>
          <p:cNvSpPr>
            <a:spLocks noGrp="1"/>
          </p:cNvSpPr>
          <p:nvPr>
            <p:ph type="sldNum" sz="quarter" idx="5"/>
          </p:nvPr>
        </p:nvSpPr>
        <p:spPr/>
        <p:txBody>
          <a:bodyPr/>
          <a:lstStyle/>
          <a:p>
            <a:fld id="{0F11FE05-5244-41F3-86F3-D9AEF92FBA9A}" type="slidenum">
              <a:rPr lang="en-US" smtClean="0"/>
              <a:t>1</a:t>
            </a:fld>
            <a:endParaRPr lang="en-US"/>
          </a:p>
        </p:txBody>
      </p:sp>
    </p:spTree>
    <p:extLst>
      <p:ext uri="{BB962C8B-B14F-4D97-AF65-F5344CB8AC3E}">
        <p14:creationId xmlns:p14="http://schemas.microsoft.com/office/powerpoint/2010/main" val="171612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growth also makes Smart Home IoT a valuable target for malicious purposes.</a:t>
            </a:r>
          </a:p>
          <a:p>
            <a:endParaRPr lang="en-US" dirty="0"/>
          </a:p>
          <a:p>
            <a:r>
              <a:rPr lang="en-US" dirty="0"/>
              <a:t>Over the past few years we have also seen a variety of attacks that leverage vulnerabilities in smart home IoT devices, turning them into botnets for DDoS attacks (as with the </a:t>
            </a:r>
            <a:r>
              <a:rPr lang="en-US" dirty="0" err="1"/>
              <a:t>Mirai</a:t>
            </a:r>
            <a:r>
              <a:rPr lang="en-US" dirty="0"/>
              <a:t> botnet) or privacy invasion tools (such as with the Ring Camera and Hello Barbie doll).</a:t>
            </a:r>
          </a:p>
          <a:p>
            <a:endParaRPr lang="en-US" dirty="0"/>
          </a:p>
          <a:p>
            <a:r>
              <a:rPr lang="en-US" dirty="0"/>
              <a:t>Such incidents have driven researchers to study Smart Home IoT to tackle challenges in security and privacy.</a:t>
            </a:r>
          </a:p>
        </p:txBody>
      </p:sp>
      <p:sp>
        <p:nvSpPr>
          <p:cNvPr id="4" name="Slide Number Placeholder 3"/>
          <p:cNvSpPr>
            <a:spLocks noGrp="1"/>
          </p:cNvSpPr>
          <p:nvPr>
            <p:ph type="sldNum" sz="quarter" idx="5"/>
          </p:nvPr>
        </p:nvSpPr>
        <p:spPr/>
        <p:txBody>
          <a:bodyPr/>
          <a:lstStyle/>
          <a:p>
            <a:fld id="{0F11FE05-5244-41F3-86F3-D9AEF92FBA9A}" type="slidenum">
              <a:rPr lang="en-US" smtClean="0"/>
              <a:t>2</a:t>
            </a:fld>
            <a:endParaRPr lang="en-US"/>
          </a:p>
        </p:txBody>
      </p:sp>
    </p:spTree>
    <p:extLst>
      <p:ext uri="{BB962C8B-B14F-4D97-AF65-F5344CB8AC3E}">
        <p14:creationId xmlns:p14="http://schemas.microsoft.com/office/powerpoint/2010/main" val="364963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such research has run into challenges which limit the effectiveness of their solutions.</a:t>
            </a:r>
          </a:p>
          <a:p>
            <a:endParaRPr lang="en-US" dirty="0"/>
          </a:p>
          <a:p>
            <a:endParaRPr lang="en-US" dirty="0"/>
          </a:p>
          <a:p>
            <a:r>
              <a:rPr lang="en-US" dirty="0"/>
              <a:t>First, fragmentation in the smart home IoT ecosystem limits the categories and types of devices researchers have studied. Past studies have focused on specific types of devices such as Smart TVs or Alexa Voice Assistants.</a:t>
            </a:r>
          </a:p>
          <a:p>
            <a:endParaRPr lang="en-US" dirty="0"/>
          </a:p>
          <a:p>
            <a:r>
              <a:rPr lang="en-US" dirty="0"/>
              <a:t>Second, Prior work on smart home IoT has been conducted in non-representative environments, using testbed conditions where interactions are controlled based on research purpose. Under real-world conditions, users may interact with smart home IoT devices in non-conventional ways.</a:t>
            </a:r>
          </a:p>
          <a:p>
            <a:endParaRPr lang="en-US" dirty="0"/>
          </a:p>
          <a:p>
            <a:r>
              <a:rPr lang="en-US" dirty="0"/>
              <a:t>Third, prior work has been unable to study smart home IoT at scale. Due to cost and space constraints, researchers are limited to studying a small amount of smart home IoT devices, reaching at best 20-30 devices.</a:t>
            </a:r>
          </a:p>
        </p:txBody>
      </p:sp>
      <p:sp>
        <p:nvSpPr>
          <p:cNvPr id="4" name="Slide Number Placeholder 3"/>
          <p:cNvSpPr>
            <a:spLocks noGrp="1"/>
          </p:cNvSpPr>
          <p:nvPr>
            <p:ph type="sldNum" sz="quarter" idx="5"/>
          </p:nvPr>
        </p:nvSpPr>
        <p:spPr/>
        <p:txBody>
          <a:bodyPr/>
          <a:lstStyle/>
          <a:p>
            <a:fld id="{0F11FE05-5244-41F3-86F3-D9AEF92FBA9A}" type="slidenum">
              <a:rPr lang="en-US" smtClean="0"/>
              <a:t>3</a:t>
            </a:fld>
            <a:endParaRPr lang="en-US"/>
          </a:p>
        </p:txBody>
      </p:sp>
    </p:spTree>
    <p:extLst>
      <p:ext uri="{BB962C8B-B14F-4D97-AF65-F5344CB8AC3E}">
        <p14:creationId xmlns:p14="http://schemas.microsoft.com/office/powerpoint/2010/main" val="18826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 tackles these challenges in various ways.</a:t>
            </a:r>
          </a:p>
          <a:p>
            <a:endParaRPr lang="en-US" dirty="0"/>
          </a:p>
          <a:p>
            <a:endParaRPr lang="en-US" i="0" dirty="0"/>
          </a:p>
          <a:p>
            <a:r>
              <a:rPr lang="en-US" i="0" dirty="0"/>
              <a:t>For fragmentation, our study leverages the </a:t>
            </a:r>
            <a:r>
              <a:rPr lang="en-US" i="1" dirty="0"/>
              <a:t>home gateway</a:t>
            </a:r>
            <a:r>
              <a:rPr lang="en-US" i="0" dirty="0"/>
              <a:t> as the vantage point.  This allows us to cover the diversity of the smart home IoT ecosystem.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capture smart home IoT behavior in real conditions, we study smart home IoT behavior </a:t>
            </a:r>
            <a:r>
              <a:rPr lang="en-US" i="1" dirty="0"/>
              <a:t>in the wild</a:t>
            </a:r>
            <a:r>
              <a:rPr lang="en-US" i="0" dirty="0"/>
              <a:t>. By partnering with Minim (a smart home and </a:t>
            </a:r>
            <a:r>
              <a:rPr lang="en-US" i="0" dirty="0" err="1"/>
              <a:t>WiFi</a:t>
            </a:r>
            <a:r>
              <a:rPr lang="en-US" i="0" dirty="0"/>
              <a:t> management platform), we were able to instrument gateways capable of monitoring smart home IoT traffic from actual homes.</a:t>
            </a:r>
          </a:p>
          <a:p>
            <a:endParaRPr lang="en-US" i="0" dirty="0"/>
          </a:p>
          <a:p>
            <a:endParaRPr lang="en-US" i="0" dirty="0"/>
          </a:p>
          <a:p>
            <a:r>
              <a:rPr lang="en-US" i="0" dirty="0"/>
              <a:t>Partnering with Minim also allows us to study smart home IoT behavior at scale,  by covering </a:t>
            </a:r>
            <a:r>
              <a:rPr lang="en-US" i="1" dirty="0"/>
              <a:t>over 200 homes </a:t>
            </a:r>
            <a:r>
              <a:rPr lang="en-US" i="0" dirty="0"/>
              <a:t>through their instrumented gateways.</a:t>
            </a:r>
          </a:p>
        </p:txBody>
      </p:sp>
      <p:sp>
        <p:nvSpPr>
          <p:cNvPr id="4" name="Slide Number Placeholder 3"/>
          <p:cNvSpPr>
            <a:spLocks noGrp="1"/>
          </p:cNvSpPr>
          <p:nvPr>
            <p:ph type="sldNum" sz="quarter" idx="5"/>
          </p:nvPr>
        </p:nvSpPr>
        <p:spPr/>
        <p:txBody>
          <a:bodyPr/>
          <a:lstStyle/>
          <a:p>
            <a:fld id="{0F11FE05-5244-41F3-86F3-D9AEF92FBA9A}" type="slidenum">
              <a:rPr lang="en-US" smtClean="0"/>
              <a:t>4</a:t>
            </a:fld>
            <a:endParaRPr lang="en-US"/>
          </a:p>
        </p:txBody>
      </p:sp>
    </p:spTree>
    <p:extLst>
      <p:ext uri="{BB962C8B-B14F-4D97-AF65-F5344CB8AC3E}">
        <p14:creationId xmlns:p14="http://schemas.microsoft.com/office/powerpoint/2010/main" val="1679147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highlight the instrumentation of the home gateway for collecting data on smart home IoT traffic.</a:t>
            </a:r>
          </a:p>
          <a:p>
            <a:endParaRPr lang="en-US" dirty="0"/>
          </a:p>
          <a:p>
            <a:r>
              <a:rPr lang="en-US" dirty="0"/>
              <a:t>As indicated earlier we utilized Minim’s platform of home gateway routers for collecting this data.</a:t>
            </a:r>
          </a:p>
          <a:p>
            <a:endParaRPr lang="en-US" dirty="0"/>
          </a:p>
          <a:p>
            <a:r>
              <a:rPr lang="en-US" dirty="0"/>
              <a:t>These routers are instrumented to collect </a:t>
            </a:r>
            <a:r>
              <a:rPr lang="en-US" dirty="0" err="1"/>
              <a:t>Netflow</a:t>
            </a:r>
            <a:r>
              <a:rPr lang="en-US" dirty="0"/>
              <a:t>-style flow records at the WAN interface (which is the interface that connects to the ISP) of the home gateway.</a:t>
            </a:r>
          </a:p>
          <a:p>
            <a:endParaRPr lang="en-US" dirty="0"/>
          </a:p>
          <a:p>
            <a:r>
              <a:rPr lang="en-US" dirty="0"/>
              <a:t>Whenever a device is connected to the home gateway, it is identified using expert rules that utilize DHCP, SSDP and UPnP traffic. This allows to identify if a smart home IoT device is connected.</a:t>
            </a:r>
          </a:p>
          <a:p>
            <a:endParaRPr lang="en-US" dirty="0"/>
          </a:p>
          <a:p>
            <a:r>
              <a:rPr lang="en-US" dirty="0"/>
              <a:t>An important point to note here is that all data collection is anonymized. No public facing IP addresses or MAC addresses are collected and all data is collected with consent from the user.</a:t>
            </a:r>
          </a:p>
        </p:txBody>
      </p:sp>
      <p:sp>
        <p:nvSpPr>
          <p:cNvPr id="4" name="Slide Number Placeholder 3"/>
          <p:cNvSpPr>
            <a:spLocks noGrp="1"/>
          </p:cNvSpPr>
          <p:nvPr>
            <p:ph type="sldNum" sz="quarter" idx="5"/>
          </p:nvPr>
        </p:nvSpPr>
        <p:spPr/>
        <p:txBody>
          <a:bodyPr/>
          <a:lstStyle/>
          <a:p>
            <a:fld id="{0F11FE05-5244-41F3-86F3-D9AEF92FBA9A}" type="slidenum">
              <a:rPr lang="en-US" smtClean="0"/>
              <a:t>5</a:t>
            </a:fld>
            <a:endParaRPr lang="en-US"/>
          </a:p>
        </p:txBody>
      </p:sp>
    </p:spTree>
    <p:extLst>
      <p:ext uri="{BB962C8B-B14F-4D97-AF65-F5344CB8AC3E}">
        <p14:creationId xmlns:p14="http://schemas.microsoft.com/office/powerpoint/2010/main" val="1166776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user consent, we collect data from 220 homes over a 19 day period in February 2018. During this period, we observed 1230 devices that connected to the instrumented gateways.</a:t>
            </a:r>
          </a:p>
          <a:p>
            <a:endParaRPr lang="en-US" dirty="0"/>
          </a:p>
          <a:p>
            <a:r>
              <a:rPr lang="en-US" dirty="0"/>
              <a:t>240 devices fall under our IoT umbrella, while 958 did not. 32 devices could not be directly identified by the device identification system.</a:t>
            </a:r>
          </a:p>
          <a:p>
            <a:endParaRPr lang="en-US" dirty="0"/>
          </a:p>
          <a:p>
            <a:r>
              <a:rPr lang="en-US" dirty="0"/>
              <a:t>We observed 66 unique IoT device types (make and model) in our data collection. These types can be grouped into 8 categories which describe their basic functionality, such as Smart TVs</a:t>
            </a:r>
            <a:r>
              <a:rPr lang="en-US"/>
              <a:t>, camer</a:t>
            </a:r>
            <a:endParaRPr lang="en-US" dirty="0"/>
          </a:p>
        </p:txBody>
      </p:sp>
      <p:sp>
        <p:nvSpPr>
          <p:cNvPr id="4" name="Slide Number Placeholder 3"/>
          <p:cNvSpPr>
            <a:spLocks noGrp="1"/>
          </p:cNvSpPr>
          <p:nvPr>
            <p:ph type="sldNum" sz="quarter" idx="5"/>
          </p:nvPr>
        </p:nvSpPr>
        <p:spPr/>
        <p:txBody>
          <a:bodyPr/>
          <a:lstStyle/>
          <a:p>
            <a:fld id="{0F11FE05-5244-41F3-86F3-D9AEF92FBA9A}" type="slidenum">
              <a:rPr lang="en-US" smtClean="0"/>
              <a:t>6</a:t>
            </a:fld>
            <a:endParaRPr lang="en-US"/>
          </a:p>
        </p:txBody>
      </p:sp>
    </p:spTree>
    <p:extLst>
      <p:ext uri="{BB962C8B-B14F-4D97-AF65-F5344CB8AC3E}">
        <p14:creationId xmlns:p14="http://schemas.microsoft.com/office/powerpoint/2010/main" val="3037087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characterize smart home IoT traffic across 3 dimensions; volumetric, temporal, and destination. </a:t>
            </a:r>
          </a:p>
          <a:p>
            <a:r>
              <a:rPr lang="en-US" dirty="0"/>
              <a:t>We highlight some interesting points from this characterization.</a:t>
            </a:r>
          </a:p>
          <a:p>
            <a:endParaRPr lang="en-US" dirty="0"/>
          </a:p>
          <a:p>
            <a:r>
              <a:rPr lang="en-US" dirty="0"/>
              <a:t>For volumetric, we primarily study flow distributions across device categories. A key point we note in these distributions is the prevalence of sub-KB flows, which correspond to control traffic unique to smart home IoT traffic.</a:t>
            </a:r>
          </a:p>
          <a:p>
            <a:endParaRPr lang="en-US" dirty="0"/>
          </a:p>
          <a:p>
            <a:r>
              <a:rPr lang="en-US" dirty="0"/>
              <a:t>Under temporal, we study time series distributions at hourly and sub-hourly levels. At the sub-hour level, we note the presence of sub-hour periodic traffic, which upon further investigation was revealed to be ‘heart-beat’ traffic unique to smart home IoT.</a:t>
            </a:r>
          </a:p>
          <a:p>
            <a:endParaRPr lang="en-US" dirty="0"/>
          </a:p>
          <a:p>
            <a:r>
              <a:rPr lang="en-US" dirty="0"/>
              <a:t>Finally, we study destinations at the Autonomous System and domain level. An interesting finding at the AS level was that for many device categories, 70-90% of traffic was directed to Amazon or Google owned AS es. Despite the front-end fragmentation of the smart home IoT ecosystem, the back-end is much more centralized compared to general web traffic.</a:t>
            </a:r>
          </a:p>
          <a:p>
            <a:endParaRPr lang="en-US" dirty="0"/>
          </a:p>
          <a:p>
            <a:r>
              <a:rPr lang="en-US" dirty="0"/>
              <a:t>Along with these observations, the primary conclusion from this study is that device functionality plays a pivotal role in smart home IoT traffic.</a:t>
            </a:r>
          </a:p>
        </p:txBody>
      </p:sp>
      <p:sp>
        <p:nvSpPr>
          <p:cNvPr id="4" name="Slide Number Placeholder 3"/>
          <p:cNvSpPr>
            <a:spLocks noGrp="1"/>
          </p:cNvSpPr>
          <p:nvPr>
            <p:ph type="sldNum" sz="quarter" idx="5"/>
          </p:nvPr>
        </p:nvSpPr>
        <p:spPr/>
        <p:txBody>
          <a:bodyPr/>
          <a:lstStyle/>
          <a:p>
            <a:fld id="{0F11FE05-5244-41F3-86F3-D9AEF92FBA9A}" type="slidenum">
              <a:rPr lang="en-US" smtClean="0"/>
              <a:t>7</a:t>
            </a:fld>
            <a:endParaRPr lang="en-US"/>
          </a:p>
        </p:txBody>
      </p:sp>
    </p:spTree>
    <p:extLst>
      <p:ext uri="{BB962C8B-B14F-4D97-AF65-F5344CB8AC3E}">
        <p14:creationId xmlns:p14="http://schemas.microsoft.com/office/powerpoint/2010/main" val="2417410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the characterization of smart home IoT traffic, we also explore smart home IoT traffic with respect to security and privacy concerns.</a:t>
            </a:r>
          </a:p>
          <a:p>
            <a:r>
              <a:rPr lang="en-US" dirty="0"/>
              <a:t>We highlight 4 of these concerns through case studies and their implications.</a:t>
            </a:r>
          </a:p>
          <a:p>
            <a:endParaRPr lang="en-US" dirty="0"/>
          </a:p>
          <a:p>
            <a:r>
              <a:rPr lang="en-US" dirty="0"/>
              <a:t>In the interest of time, I will only go through the first 2 of these in detail, namely Security via Access Control and Advertising and Tracking in Smart home IoT.</a:t>
            </a:r>
          </a:p>
          <a:p>
            <a:endParaRPr lang="en-US" dirty="0"/>
          </a:p>
          <a:p>
            <a:r>
              <a:rPr lang="en-US" dirty="0"/>
              <a:t>In the case of Unencrypted traffic, we note certain devices accessing the Internet over HTTP, which leaves them vulnerable to HTTP eavesdropping.</a:t>
            </a:r>
          </a:p>
          <a:p>
            <a:endParaRPr lang="en-US" dirty="0"/>
          </a:p>
          <a:p>
            <a:r>
              <a:rPr lang="en-US" dirty="0"/>
              <a:t>We also noted the use of public DNS services, ignoring the local DNS resolver. Google DNS was the prevalent service used in this case, pointing towards more centralization.</a:t>
            </a:r>
          </a:p>
        </p:txBody>
      </p:sp>
      <p:sp>
        <p:nvSpPr>
          <p:cNvPr id="4" name="Slide Number Placeholder 3"/>
          <p:cNvSpPr>
            <a:spLocks noGrp="1"/>
          </p:cNvSpPr>
          <p:nvPr>
            <p:ph type="sldNum" sz="quarter" idx="5"/>
          </p:nvPr>
        </p:nvSpPr>
        <p:spPr/>
        <p:txBody>
          <a:bodyPr/>
          <a:lstStyle/>
          <a:p>
            <a:fld id="{0F11FE05-5244-41F3-86F3-D9AEF92FBA9A}" type="slidenum">
              <a:rPr lang="en-US" smtClean="0"/>
              <a:t>8</a:t>
            </a:fld>
            <a:endParaRPr lang="en-US"/>
          </a:p>
        </p:txBody>
      </p:sp>
    </p:spTree>
    <p:extLst>
      <p:ext uri="{BB962C8B-B14F-4D97-AF65-F5344CB8AC3E}">
        <p14:creationId xmlns:p14="http://schemas.microsoft.com/office/powerpoint/2010/main" val="1102876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properties of smart home IoT traffic, researchers have proposed some form of Internet Access Control for smart home IoT devices to prevent then from accessing Internet hosts unrelated to their functionality and to mitigate damage in the case of compromise.</a:t>
            </a:r>
          </a:p>
          <a:p>
            <a:endParaRPr lang="en-US" dirty="0"/>
          </a:p>
          <a:p>
            <a:r>
              <a:rPr lang="en-US" dirty="0"/>
              <a:t>To this end, Manufacturer Usage Descriptions have been recently standardized in RFC 8520. These descriptions are to be provided by device manufacturers, laying out how a specific smart home IoT device is expected to access the Internet. Home gateways can then use this information to generate Access Control Lists (ACLs) for installed devices in the home.</a:t>
            </a:r>
          </a:p>
          <a:p>
            <a:endParaRPr lang="en-US" dirty="0"/>
          </a:p>
          <a:p>
            <a:r>
              <a:rPr lang="en-US" dirty="0"/>
              <a:t>Since MUDs are not currently provided by smart home IoT manufacturers, we rely on tools such as </a:t>
            </a:r>
            <a:r>
              <a:rPr lang="en-US" dirty="0" err="1"/>
              <a:t>MUDgee</a:t>
            </a:r>
            <a:r>
              <a:rPr lang="en-US" dirty="0"/>
              <a:t> built by researchers to build these MUDs. </a:t>
            </a:r>
          </a:p>
        </p:txBody>
      </p:sp>
      <p:sp>
        <p:nvSpPr>
          <p:cNvPr id="4" name="Slide Number Placeholder 3"/>
          <p:cNvSpPr>
            <a:spLocks noGrp="1"/>
          </p:cNvSpPr>
          <p:nvPr>
            <p:ph type="sldNum" sz="quarter" idx="5"/>
          </p:nvPr>
        </p:nvSpPr>
        <p:spPr/>
        <p:txBody>
          <a:bodyPr/>
          <a:lstStyle/>
          <a:p>
            <a:fld id="{0F11FE05-5244-41F3-86F3-D9AEF92FBA9A}" type="slidenum">
              <a:rPr lang="en-US" smtClean="0"/>
              <a:t>9</a:t>
            </a:fld>
            <a:endParaRPr lang="en-US"/>
          </a:p>
        </p:txBody>
      </p:sp>
    </p:spTree>
    <p:extLst>
      <p:ext uri="{BB962C8B-B14F-4D97-AF65-F5344CB8AC3E}">
        <p14:creationId xmlns:p14="http://schemas.microsoft.com/office/powerpoint/2010/main" val="736524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experiment, we use the first 72 hours of traffic for individual devices to generate MUDs, create ACLs from them, then test subsequent traffic for acceptance, shown in this plot.</a:t>
            </a:r>
          </a:p>
          <a:p>
            <a:endParaRPr lang="en-US" dirty="0"/>
          </a:p>
          <a:p>
            <a:r>
              <a:rPr lang="en-US" dirty="0"/>
              <a:t>The X axis denotes the amount of time the traffic is from the generated MUD, while the Y axis shows the average % of flows accepted by the MUD for each device category.</a:t>
            </a:r>
          </a:p>
          <a:p>
            <a:endParaRPr lang="en-US" dirty="0"/>
          </a:p>
          <a:p>
            <a:r>
              <a:rPr lang="en-US" dirty="0"/>
              <a:t>We note that acceptance rates generally tend to be high, between 85-95%% for most categories, such as Home Automation, Smart Speakers and Smart Cameras.</a:t>
            </a:r>
          </a:p>
          <a:p>
            <a:r>
              <a:rPr lang="en-US" dirty="0"/>
              <a:t>We also note that some categories saw drops in acceptance such as with Health &amp; Wearable devices. Upon investigation, we see these to be due to Apple Watches, which accessed domains unseen during the training phase.</a:t>
            </a:r>
          </a:p>
          <a:p>
            <a:endParaRPr lang="en-US" dirty="0"/>
          </a:p>
          <a:p>
            <a:endParaRPr lang="en-US" dirty="0"/>
          </a:p>
        </p:txBody>
      </p:sp>
      <p:sp>
        <p:nvSpPr>
          <p:cNvPr id="4" name="Slide Number Placeholder 3"/>
          <p:cNvSpPr>
            <a:spLocks noGrp="1"/>
          </p:cNvSpPr>
          <p:nvPr>
            <p:ph type="sldNum" sz="quarter" idx="5"/>
          </p:nvPr>
        </p:nvSpPr>
        <p:spPr/>
        <p:txBody>
          <a:bodyPr/>
          <a:lstStyle/>
          <a:p>
            <a:fld id="{0F11FE05-5244-41F3-86F3-D9AEF92FBA9A}" type="slidenum">
              <a:rPr lang="en-US" smtClean="0"/>
              <a:t>10</a:t>
            </a:fld>
            <a:endParaRPr lang="en-US"/>
          </a:p>
        </p:txBody>
      </p:sp>
    </p:spTree>
    <p:extLst>
      <p:ext uri="{BB962C8B-B14F-4D97-AF65-F5344CB8AC3E}">
        <p14:creationId xmlns:p14="http://schemas.microsoft.com/office/powerpoint/2010/main" val="2578457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the characterization of smart home IoT traffic, we also explore smart home IoT traffic with respect to security and privacy concerns.</a:t>
            </a:r>
          </a:p>
          <a:p>
            <a:r>
              <a:rPr lang="en-US" dirty="0"/>
              <a:t>We highlight 4 of these concerns through case studies and their implications.</a:t>
            </a:r>
          </a:p>
          <a:p>
            <a:endParaRPr lang="en-US" dirty="0"/>
          </a:p>
          <a:p>
            <a:r>
              <a:rPr lang="en-US" dirty="0"/>
              <a:t>In the interest of time, I will only go through the first 2 of these in detail, namely Security via Access Control and Advertising and Tracking in Smart home IoT.</a:t>
            </a:r>
          </a:p>
          <a:p>
            <a:endParaRPr lang="en-US" dirty="0"/>
          </a:p>
          <a:p>
            <a:r>
              <a:rPr lang="en-US" dirty="0"/>
              <a:t>In the case of Unencrypted traffic, we note certain devices accessing the Internet over HTTP, which leaves them vulnerable to HTTP eavesdropping.</a:t>
            </a:r>
          </a:p>
          <a:p>
            <a:endParaRPr lang="en-US" dirty="0"/>
          </a:p>
          <a:p>
            <a:r>
              <a:rPr lang="en-US" dirty="0"/>
              <a:t>We also noted the use of public DNS services, ignoring the local DNS resolver. Google DNS was the prevalent service used in this case, pointing towards more centralization.</a:t>
            </a:r>
          </a:p>
        </p:txBody>
      </p:sp>
      <p:sp>
        <p:nvSpPr>
          <p:cNvPr id="4" name="Slide Number Placeholder 3"/>
          <p:cNvSpPr>
            <a:spLocks noGrp="1"/>
          </p:cNvSpPr>
          <p:nvPr>
            <p:ph type="sldNum" sz="quarter" idx="5"/>
          </p:nvPr>
        </p:nvSpPr>
        <p:spPr/>
        <p:txBody>
          <a:bodyPr/>
          <a:lstStyle/>
          <a:p>
            <a:fld id="{0F11FE05-5244-41F3-86F3-D9AEF92FBA9A}" type="slidenum">
              <a:rPr lang="en-US" smtClean="0"/>
              <a:t>11</a:t>
            </a:fld>
            <a:endParaRPr lang="en-US"/>
          </a:p>
        </p:txBody>
      </p:sp>
    </p:spTree>
    <p:extLst>
      <p:ext uri="{BB962C8B-B14F-4D97-AF65-F5344CB8AC3E}">
        <p14:creationId xmlns:p14="http://schemas.microsoft.com/office/powerpoint/2010/main" val="1713941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destination characteristics of smart home IoT traffic, we saw the presence of domains what are associated with tracking behavior. To further investigate this behavior, we analyze smart home IoT traffic using Pi-Hole’s blocking lists. Pi-hole is a DNS-level tool for blocking advertising and tracking connections on devices.</a:t>
            </a:r>
          </a:p>
          <a:p>
            <a:endParaRPr lang="en-US" dirty="0"/>
          </a:p>
          <a:p>
            <a:r>
              <a:rPr lang="en-US" dirty="0"/>
              <a:t>When we analyze the unique domains accessed by smart home IoT device categories, we find that Smart TV’s are most prevalent in accessing such hosts at 5.9%, followed by Game Consoles (3.1%) and Smart Assistants (2.9%). A key point to note here is that this represents a </a:t>
            </a:r>
            <a:r>
              <a:rPr lang="en-US" b="1" i="1" u="sng" dirty="0"/>
              <a:t>low bound </a:t>
            </a:r>
            <a:r>
              <a:rPr lang="en-US" dirty="0"/>
              <a:t>on possible ad/tracking hosts since Pi-hole lists are not Specialized to smart home IoT.</a:t>
            </a:r>
          </a:p>
          <a:p>
            <a:endParaRPr lang="en-US" dirty="0"/>
          </a:p>
          <a:p>
            <a:r>
              <a:rPr lang="en-US" dirty="0"/>
              <a:t>Amongst the top ad/tracking domains accessed by these categories, we note that Google-owned domains, such as DoubleClick and </a:t>
            </a:r>
            <a:r>
              <a:rPr lang="en-US" dirty="0" err="1"/>
              <a:t>GoogleSyndication</a:t>
            </a:r>
            <a:r>
              <a:rPr lang="en-US" dirty="0"/>
              <a:t> are prominent, including categories which do not have any devices manufactured by Google. This implies that Google has the capability to track users across smart home IoT devices.</a:t>
            </a:r>
          </a:p>
          <a:p>
            <a:endParaRPr lang="en-US" dirty="0"/>
          </a:p>
          <a:p>
            <a:r>
              <a:rPr lang="en-US" dirty="0"/>
              <a:t>Given these results, it is safe to say that tracking has reached smart home IoT. Given past work on online tracking on web browsers and cellphones, similar work needs to be initiated on smart home IoT.</a:t>
            </a:r>
          </a:p>
        </p:txBody>
      </p:sp>
      <p:sp>
        <p:nvSpPr>
          <p:cNvPr id="4" name="Slide Number Placeholder 3"/>
          <p:cNvSpPr>
            <a:spLocks noGrp="1"/>
          </p:cNvSpPr>
          <p:nvPr>
            <p:ph type="sldNum" sz="quarter" idx="5"/>
          </p:nvPr>
        </p:nvSpPr>
        <p:spPr/>
        <p:txBody>
          <a:bodyPr/>
          <a:lstStyle/>
          <a:p>
            <a:fld id="{0F11FE05-5244-41F3-86F3-D9AEF92FBA9A}" type="slidenum">
              <a:rPr lang="en-US" smtClean="0"/>
              <a:t>12</a:t>
            </a:fld>
            <a:endParaRPr lang="en-US"/>
          </a:p>
        </p:txBody>
      </p:sp>
    </p:spTree>
    <p:extLst>
      <p:ext uri="{BB962C8B-B14F-4D97-AF65-F5344CB8AC3E}">
        <p14:creationId xmlns:p14="http://schemas.microsoft.com/office/powerpoint/2010/main" val="3421268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the characterization of smart home IoT traffic, we also explore smart home IoT traffic with respect to security and privacy concerns.</a:t>
            </a:r>
          </a:p>
          <a:p>
            <a:r>
              <a:rPr lang="en-US" dirty="0"/>
              <a:t>We highlight 4 of these concerns through case studies and their implications.</a:t>
            </a:r>
          </a:p>
          <a:p>
            <a:endParaRPr lang="en-US" dirty="0"/>
          </a:p>
          <a:p>
            <a:r>
              <a:rPr lang="en-US" dirty="0"/>
              <a:t>In the interest of time, I will only go through the first 2 of these in detail, namely Security via Access Control and Advertising and Tracking in Smart home IoT.</a:t>
            </a:r>
          </a:p>
          <a:p>
            <a:endParaRPr lang="en-US" dirty="0"/>
          </a:p>
          <a:p>
            <a:r>
              <a:rPr lang="en-US" dirty="0"/>
              <a:t>In the case of Unencrypted traffic, we note certain devices accessing the Internet over HTTP, which leaves them vulnerable to HTTP eavesdropping.</a:t>
            </a:r>
          </a:p>
          <a:p>
            <a:endParaRPr lang="en-US" dirty="0"/>
          </a:p>
          <a:p>
            <a:r>
              <a:rPr lang="en-US" dirty="0"/>
              <a:t>We also noted the use of public DNS services, ignoring the local DNS resolver. Google DNS was the prevalent service used in this case, pointing towards more centralization.</a:t>
            </a:r>
          </a:p>
        </p:txBody>
      </p:sp>
      <p:sp>
        <p:nvSpPr>
          <p:cNvPr id="4" name="Slide Number Placeholder 3"/>
          <p:cNvSpPr>
            <a:spLocks noGrp="1"/>
          </p:cNvSpPr>
          <p:nvPr>
            <p:ph type="sldNum" sz="quarter" idx="5"/>
          </p:nvPr>
        </p:nvSpPr>
        <p:spPr/>
        <p:txBody>
          <a:bodyPr/>
          <a:lstStyle/>
          <a:p>
            <a:fld id="{0F11FE05-5244-41F3-86F3-D9AEF92FBA9A}" type="slidenum">
              <a:rPr lang="en-US" smtClean="0"/>
              <a:t>13</a:t>
            </a:fld>
            <a:endParaRPr lang="en-US"/>
          </a:p>
        </p:txBody>
      </p:sp>
    </p:spTree>
    <p:extLst>
      <p:ext uri="{BB962C8B-B14F-4D97-AF65-F5344CB8AC3E}">
        <p14:creationId xmlns:p14="http://schemas.microsoft.com/office/powerpoint/2010/main" val="1214415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conclude this talk by laying down key findings and their implications.</a:t>
            </a:r>
          </a:p>
          <a:p>
            <a:endParaRPr lang="en-US" dirty="0"/>
          </a:p>
          <a:p>
            <a:r>
              <a:rPr lang="en-US" dirty="0"/>
              <a:t>One, device functionality plays a pivotal role in smart home IoT traffic behavior. Based on our findings, traffic patterns unique to specific IoT device categories can be leveraged for device identification and their relation with human activity can be leveraged for activity identification. Furthermore, these findings can be used to improve tools for generating MUDs for smart home IoT devices by capturing characteristics unique to specific device types.</a:t>
            </a:r>
          </a:p>
          <a:p>
            <a:endParaRPr lang="en-US" dirty="0"/>
          </a:p>
          <a:p>
            <a:r>
              <a:rPr lang="en-US" dirty="0"/>
              <a:t>Two, the smart home IoT ecosystem backend is becoming centralized with major players providing the bulk of services. This has implications in market share monopolization, as well as redundancy issues. Manufacturers must ensure that their products are resilient in the case of backend failure</a:t>
            </a:r>
          </a:p>
          <a:p>
            <a:endParaRPr lang="en-US" dirty="0"/>
          </a:p>
          <a:p>
            <a:r>
              <a:rPr lang="en-US" dirty="0"/>
              <a:t>Three, advertising and tracking entities have started to target smart home IoT. This has major privacy implications as users may not be aware of how their data is being collected. Our results are likely an underestimate of actual advertising and tracking since the filters available are not specialized for smart home IoT. Further study is required to not only capture the full extent of these activities but also build solutions towards preventing such tracking on these devices as done for web browsing and smartphones.</a:t>
            </a:r>
          </a:p>
          <a:p>
            <a:endParaRPr lang="en-US" dirty="0"/>
          </a:p>
        </p:txBody>
      </p:sp>
      <p:sp>
        <p:nvSpPr>
          <p:cNvPr id="4" name="Slide Number Placeholder 3"/>
          <p:cNvSpPr>
            <a:spLocks noGrp="1"/>
          </p:cNvSpPr>
          <p:nvPr>
            <p:ph type="sldNum" sz="quarter" idx="5"/>
          </p:nvPr>
        </p:nvSpPr>
        <p:spPr/>
        <p:txBody>
          <a:bodyPr/>
          <a:lstStyle/>
          <a:p>
            <a:fld id="{0F11FE05-5244-41F3-86F3-D9AEF92FBA9A}" type="slidenum">
              <a:rPr lang="en-US" smtClean="0"/>
              <a:t>14</a:t>
            </a:fld>
            <a:endParaRPr lang="en-US"/>
          </a:p>
        </p:txBody>
      </p:sp>
    </p:spTree>
    <p:extLst>
      <p:ext uri="{BB962C8B-B14F-4D97-AF65-F5344CB8AC3E}">
        <p14:creationId xmlns:p14="http://schemas.microsoft.com/office/powerpoint/2010/main" val="2643974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past couple of years, smart home IoT has seen tremendous growth. </a:t>
            </a:r>
          </a:p>
          <a:p>
            <a:endParaRPr lang="en-US" dirty="0"/>
          </a:p>
          <a:p>
            <a:r>
              <a:rPr lang="en-US" dirty="0"/>
              <a:t>[Point 1]</a:t>
            </a:r>
          </a:p>
          <a:p>
            <a:endParaRPr lang="en-US" dirty="0"/>
          </a:p>
          <a:p>
            <a:r>
              <a:rPr lang="en-US" dirty="0"/>
              <a:t>Subsequently, the traffic generated by these devices is fast becoming a significant part of world Internet traffic.</a:t>
            </a:r>
          </a:p>
          <a:p>
            <a:endParaRPr lang="en-US" dirty="0"/>
          </a:p>
          <a:p>
            <a:r>
              <a:rPr lang="en-US" dirty="0"/>
              <a:t>[Point 2]</a:t>
            </a:r>
          </a:p>
          <a:p>
            <a:endParaRPr lang="en-US" dirty="0"/>
          </a:p>
          <a:p>
            <a:r>
              <a:rPr lang="en-US" dirty="0"/>
              <a:t>Hence, [Point 3]</a:t>
            </a:r>
          </a:p>
        </p:txBody>
      </p:sp>
      <p:sp>
        <p:nvSpPr>
          <p:cNvPr id="4" name="Slide Number Placeholder 3"/>
          <p:cNvSpPr>
            <a:spLocks noGrp="1"/>
          </p:cNvSpPr>
          <p:nvPr>
            <p:ph type="sldNum" sz="quarter" idx="5"/>
          </p:nvPr>
        </p:nvSpPr>
        <p:spPr/>
        <p:txBody>
          <a:bodyPr/>
          <a:lstStyle/>
          <a:p>
            <a:fld id="{0F11FE05-5244-41F3-86F3-D9AEF92FBA9A}" type="slidenum">
              <a:rPr lang="en-US" smtClean="0"/>
              <a:t>16</a:t>
            </a:fld>
            <a:endParaRPr lang="en-US"/>
          </a:p>
        </p:txBody>
      </p:sp>
    </p:spTree>
    <p:extLst>
      <p:ext uri="{BB962C8B-B14F-4D97-AF65-F5344CB8AC3E}">
        <p14:creationId xmlns:p14="http://schemas.microsoft.com/office/powerpoint/2010/main" val="2365882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study the volumetric characteristics of smart home IoT traffic here by looking at flow distributions across IoT data categories.</a:t>
            </a:r>
          </a:p>
          <a:p>
            <a:endParaRPr lang="en-US" dirty="0"/>
          </a:p>
          <a:p>
            <a:r>
              <a:rPr lang="en-US" dirty="0"/>
              <a:t>This figure shows the cumulative distribution functions of flow sizes for different smart home IoT categories, with Smartphones as a baseline. The X-Axis shows log-scale flow sizes in KB, and the Y-Axis shows the cumulative distribution.</a:t>
            </a:r>
          </a:p>
          <a:p>
            <a:endParaRPr lang="en-US" dirty="0"/>
          </a:p>
          <a:p>
            <a:endParaRPr lang="en-US" dirty="0"/>
          </a:p>
          <a:p>
            <a:r>
              <a:rPr lang="en-US" dirty="0"/>
              <a:t>We note that device categories such as smart assistants, work appliances, and home automation mostly generate less than a KB per flow. Such devices primarily use the internet for sending control data, such as accessing weather reports or ‘heartbeat’ messages.</a:t>
            </a:r>
          </a:p>
          <a:p>
            <a:endParaRPr lang="en-US" dirty="0"/>
          </a:p>
          <a:p>
            <a:endParaRPr lang="en-US" dirty="0"/>
          </a:p>
          <a:p>
            <a:r>
              <a:rPr lang="en-US" dirty="0"/>
              <a:t>On the other hand,  we see device categories such as Smart TVs, Game Consoles and Smart Cameras generating significantly higher flows. The core functionality of such devices has them accessing Web Content such as video or uploading video data for backup as in the case of smart cameras.</a:t>
            </a:r>
          </a:p>
          <a:p>
            <a:endParaRPr lang="en-US" dirty="0"/>
          </a:p>
          <a:p>
            <a:r>
              <a:rPr lang="en-US" dirty="0"/>
              <a:t>Overall, our study showed that volumetric characteristics are dependent on device functionality.</a:t>
            </a:r>
          </a:p>
        </p:txBody>
      </p:sp>
      <p:sp>
        <p:nvSpPr>
          <p:cNvPr id="4" name="Slide Number Placeholder 3"/>
          <p:cNvSpPr>
            <a:spLocks noGrp="1"/>
          </p:cNvSpPr>
          <p:nvPr>
            <p:ph type="sldNum" sz="quarter" idx="5"/>
          </p:nvPr>
        </p:nvSpPr>
        <p:spPr/>
        <p:txBody>
          <a:bodyPr/>
          <a:lstStyle/>
          <a:p>
            <a:fld id="{0F11FE05-5244-41F3-86F3-D9AEF92FBA9A}" type="slidenum">
              <a:rPr lang="en-US" smtClean="0"/>
              <a:t>17</a:t>
            </a:fld>
            <a:endParaRPr lang="en-US"/>
          </a:p>
        </p:txBody>
      </p:sp>
    </p:spTree>
    <p:extLst>
      <p:ext uri="{BB962C8B-B14F-4D97-AF65-F5344CB8AC3E}">
        <p14:creationId xmlns:p14="http://schemas.microsoft.com/office/powerpoint/2010/main" val="2252288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studying the temporal characteristics of smart home IoT, we look at time series distributions of traffic.</a:t>
            </a:r>
          </a:p>
          <a:p>
            <a:endParaRPr lang="en-US" dirty="0"/>
          </a:p>
          <a:p>
            <a:r>
              <a:rPr lang="en-US" dirty="0"/>
              <a:t>Here we show hourly time series distributions for smart home IoT categories across the days of the week. The X-axis shows the time of day while the Y-axis shows the % of flows observed for the category.</a:t>
            </a:r>
          </a:p>
          <a:p>
            <a:endParaRPr lang="en-US" dirty="0"/>
          </a:p>
          <a:p>
            <a:endParaRPr lang="en-US" dirty="0"/>
          </a:p>
          <a:p>
            <a:r>
              <a:rPr lang="en-US" dirty="0"/>
              <a:t>We observe daily diurnal traffic patterns for specific device categories such as Game Consoles, Smart TVs and Health/Wearables. Common across these device categories is that their functionality requires explicit user interactions such as accessing Web video or downloading video game data.</a:t>
            </a:r>
          </a:p>
          <a:p>
            <a:endParaRPr lang="en-US" dirty="0"/>
          </a:p>
          <a:p>
            <a:r>
              <a:rPr lang="en-US" dirty="0"/>
              <a:t>We also note that certain device categories do not exhibit such daily patterns such as Home Automation, Smart Cameras and Smart Speakers. These devices are often designed to not require explicit user interactions, such as monitoring environments for changes. On closer inspection, such categories instead show sub-hour periodicity through ‘heartbeat’ traffic.</a:t>
            </a:r>
          </a:p>
          <a:p>
            <a:endParaRPr lang="en-US" dirty="0"/>
          </a:p>
          <a:p>
            <a:r>
              <a:rPr lang="en-US" dirty="0"/>
              <a:t>In general,  device functionality plays an important role in temporal characteristics of smart home IoT traffic.</a:t>
            </a:r>
          </a:p>
        </p:txBody>
      </p:sp>
      <p:sp>
        <p:nvSpPr>
          <p:cNvPr id="4" name="Slide Number Placeholder 3"/>
          <p:cNvSpPr>
            <a:spLocks noGrp="1"/>
          </p:cNvSpPr>
          <p:nvPr>
            <p:ph type="sldNum" sz="quarter" idx="5"/>
          </p:nvPr>
        </p:nvSpPr>
        <p:spPr/>
        <p:txBody>
          <a:bodyPr/>
          <a:lstStyle/>
          <a:p>
            <a:fld id="{0F11FE05-5244-41F3-86F3-D9AEF92FBA9A}" type="slidenum">
              <a:rPr lang="en-US" smtClean="0"/>
              <a:t>18</a:t>
            </a:fld>
            <a:endParaRPr lang="en-US"/>
          </a:p>
        </p:txBody>
      </p:sp>
    </p:spTree>
    <p:extLst>
      <p:ext uri="{BB962C8B-B14F-4D97-AF65-F5344CB8AC3E}">
        <p14:creationId xmlns:p14="http://schemas.microsoft.com/office/powerpoint/2010/main" val="1599789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explore the destination characteristics of smart home IoT traffic. We do this in two levels, at the Autonomous System level, and at the domain level.</a:t>
            </a:r>
          </a:p>
          <a:p>
            <a:endParaRPr lang="en-US" dirty="0"/>
          </a:p>
          <a:p>
            <a:r>
              <a:rPr lang="en-US" dirty="0"/>
              <a:t>At the autonomous level, we note that certain AS-es were unique to certain categories such as HP for Work Appliances and Apple for Wearables. However, a key point we note is that 70-90% of all traffic for most categories went  to an Amazon or Google owned AS. Both companies provide cloud storage and processing services such as AWS and Google Cloud. While devices made by these companies would be expected to utilize these services, other manufacturers seem to have adopted these services for their IoT backends instead of rolling out their own. In short, while the smart home IoT ecosystem is fragmented on the front-end, it is centralized on the back-end.</a:t>
            </a:r>
          </a:p>
          <a:p>
            <a:endParaRPr lang="en-US" dirty="0"/>
          </a:p>
          <a:p>
            <a:r>
              <a:rPr lang="en-US" dirty="0"/>
              <a:t>On the domain level, top domains for smart home IoT categories correspond to device functionality. For instances, smart speakers accessed pandora.com (a music streaming service) frequently, while game consoles would access xboxlive.com and smart TVs would access netflix.com. However we noted the presence of domains associated with tracking, such as samsungacr.com for smart TVs.</a:t>
            </a:r>
          </a:p>
        </p:txBody>
      </p:sp>
      <p:sp>
        <p:nvSpPr>
          <p:cNvPr id="4" name="Slide Number Placeholder 3"/>
          <p:cNvSpPr>
            <a:spLocks noGrp="1"/>
          </p:cNvSpPr>
          <p:nvPr>
            <p:ph type="sldNum" sz="quarter" idx="5"/>
          </p:nvPr>
        </p:nvSpPr>
        <p:spPr/>
        <p:txBody>
          <a:bodyPr/>
          <a:lstStyle/>
          <a:p>
            <a:fld id="{0F11FE05-5244-41F3-86F3-D9AEF92FBA9A}" type="slidenum">
              <a:rPr lang="en-US" smtClean="0"/>
              <a:t>19</a:t>
            </a:fld>
            <a:endParaRPr lang="en-US"/>
          </a:p>
        </p:txBody>
      </p:sp>
    </p:spTree>
    <p:extLst>
      <p:ext uri="{BB962C8B-B14F-4D97-AF65-F5344CB8AC3E}">
        <p14:creationId xmlns:p14="http://schemas.microsoft.com/office/powerpoint/2010/main" val="2598601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on, it is important to understand what we consider as a smart home IoT device.</a:t>
            </a:r>
          </a:p>
          <a:p>
            <a:endParaRPr lang="en-US" dirty="0"/>
          </a:p>
          <a:p>
            <a:r>
              <a:rPr lang="en-US" dirty="0"/>
              <a:t>Our work considers Internet-connected devices at home to lie on a spectrum based on their functionality.</a:t>
            </a:r>
          </a:p>
          <a:p>
            <a:endParaRPr lang="en-US" dirty="0"/>
          </a:p>
          <a:p>
            <a:r>
              <a:rPr lang="en-US" dirty="0"/>
              <a:t>On one side, we have devices designed for very specific, singular purposes. Examples of these include home automation devices such as smart bulbs and smart thermostats, and smart cameras.</a:t>
            </a:r>
          </a:p>
          <a:p>
            <a:endParaRPr lang="en-US" dirty="0"/>
          </a:p>
          <a:p>
            <a:r>
              <a:rPr lang="en-US" dirty="0"/>
              <a:t>On the other side, we have multi-purposed devices which perform a variety of tasks such as smartphones, laptops and personal computers.</a:t>
            </a:r>
          </a:p>
          <a:p>
            <a:endParaRPr lang="en-US" dirty="0"/>
          </a:p>
          <a:p>
            <a:r>
              <a:rPr lang="en-US" dirty="0"/>
              <a:t>In the middle of these we have ‘IoT-</a:t>
            </a:r>
            <a:r>
              <a:rPr lang="en-US" dirty="0" err="1"/>
              <a:t>ish</a:t>
            </a:r>
            <a:r>
              <a:rPr lang="en-US" dirty="0"/>
              <a:t>’ devices which can perform multiple tasks, but are close to IoT devices based on their core functionality, such as Smart TVs and Game Consoles.</a:t>
            </a:r>
          </a:p>
          <a:p>
            <a:endParaRPr lang="en-US" dirty="0"/>
          </a:p>
          <a:p>
            <a:r>
              <a:rPr lang="en-US" dirty="0"/>
              <a:t>In our work, we consider single-purposed and ‘IoT-</a:t>
            </a:r>
            <a:r>
              <a:rPr lang="en-US" dirty="0" err="1"/>
              <a:t>ish</a:t>
            </a:r>
            <a:r>
              <a:rPr lang="en-US" dirty="0"/>
              <a:t>’ devices as smart home IoT devices. </a:t>
            </a:r>
          </a:p>
        </p:txBody>
      </p:sp>
      <p:sp>
        <p:nvSpPr>
          <p:cNvPr id="4" name="Slide Number Placeholder 3"/>
          <p:cNvSpPr>
            <a:spLocks noGrp="1"/>
          </p:cNvSpPr>
          <p:nvPr>
            <p:ph type="sldNum" sz="quarter" idx="5"/>
          </p:nvPr>
        </p:nvSpPr>
        <p:spPr/>
        <p:txBody>
          <a:bodyPr/>
          <a:lstStyle/>
          <a:p>
            <a:fld id="{0F11FE05-5244-41F3-86F3-D9AEF92FBA9A}" type="slidenum">
              <a:rPr lang="en-US" smtClean="0"/>
              <a:t>20</a:t>
            </a:fld>
            <a:endParaRPr lang="en-US"/>
          </a:p>
        </p:txBody>
      </p:sp>
    </p:spTree>
    <p:extLst>
      <p:ext uri="{BB962C8B-B14F-4D97-AF65-F5344CB8AC3E}">
        <p14:creationId xmlns:p14="http://schemas.microsoft.com/office/powerpoint/2010/main" val="3229639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of Smart Home IoT also brings with it new challenges to:</a:t>
            </a:r>
          </a:p>
          <a:p>
            <a:endParaRPr lang="en-US" dirty="0"/>
          </a:p>
          <a:p>
            <a:r>
              <a:rPr lang="en-US" dirty="0"/>
              <a:t>Management: Where ISPs need to deploy strategies to account for traffic from these devices to ensure network performance, and homes where users need to understand how to manage the smart devices installed in their homes.</a:t>
            </a:r>
          </a:p>
          <a:p>
            <a:endParaRPr lang="en-US" dirty="0"/>
          </a:p>
          <a:p>
            <a:r>
              <a:rPr lang="en-US" dirty="0"/>
              <a:t>Security: We’ve seen how vulnerable smart home IoT devices can be leveraged to build botnets with the </a:t>
            </a:r>
            <a:r>
              <a:rPr lang="en-US" dirty="0" err="1"/>
              <a:t>Mirai</a:t>
            </a:r>
            <a:r>
              <a:rPr lang="en-US" dirty="0"/>
              <a:t> botnet, which attacked </a:t>
            </a:r>
            <a:r>
              <a:rPr lang="en-US" dirty="0" err="1"/>
              <a:t>Dyn</a:t>
            </a:r>
            <a:r>
              <a:rPr lang="en-US" dirty="0"/>
              <a:t> in 2017. The smart home IoT market has generally seen security as an afterthought so vulnerable devices are still being sold and shipped to customers.</a:t>
            </a:r>
          </a:p>
          <a:p>
            <a:endParaRPr lang="en-US" dirty="0"/>
          </a:p>
          <a:p>
            <a:r>
              <a:rPr lang="en-US" dirty="0"/>
              <a:t>Privacy: In a rush to capture the market, manufacturers have often failed to place proper precautions on consumer data, leading to sensitive data leakage often through unencrypted traffic.</a:t>
            </a:r>
          </a:p>
          <a:p>
            <a:endParaRPr lang="en-US" dirty="0"/>
          </a:p>
          <a:p>
            <a:r>
              <a:rPr lang="en-US" dirty="0"/>
              <a:t>These challenges lead us to conclude that studying smart home IoT device design, adoption and usage is paramount to tackling these challenges.</a:t>
            </a:r>
          </a:p>
        </p:txBody>
      </p:sp>
      <p:sp>
        <p:nvSpPr>
          <p:cNvPr id="4" name="Slide Number Placeholder 3"/>
          <p:cNvSpPr>
            <a:spLocks noGrp="1"/>
          </p:cNvSpPr>
          <p:nvPr>
            <p:ph type="sldNum" sz="quarter" idx="5"/>
          </p:nvPr>
        </p:nvSpPr>
        <p:spPr/>
        <p:txBody>
          <a:bodyPr/>
          <a:lstStyle/>
          <a:p>
            <a:fld id="{0F11FE05-5244-41F3-86F3-D9AEF92FBA9A}" type="slidenum">
              <a:rPr lang="en-US" smtClean="0"/>
              <a:t>21</a:t>
            </a:fld>
            <a:endParaRPr lang="en-US"/>
          </a:p>
        </p:txBody>
      </p:sp>
    </p:spTree>
    <p:extLst>
      <p:ext uri="{BB962C8B-B14F-4D97-AF65-F5344CB8AC3E}">
        <p14:creationId xmlns:p14="http://schemas.microsoft.com/office/powerpoint/2010/main" val="4091481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11FE05-5244-41F3-86F3-D9AEF92FBA9A}" type="slidenum">
              <a:rPr lang="en-US" smtClean="0"/>
              <a:t>24</a:t>
            </a:fld>
            <a:endParaRPr lang="en-US"/>
          </a:p>
        </p:txBody>
      </p:sp>
    </p:spTree>
    <p:extLst>
      <p:ext uri="{BB962C8B-B14F-4D97-AF65-F5344CB8AC3E}">
        <p14:creationId xmlns:p14="http://schemas.microsoft.com/office/powerpoint/2010/main" val="3976646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eaLnBrk="1" latinLnBrk="0" hangingPunct="1">
              <a:buNone/>
              <a:defRPr kumimoji="0" sz="3733">
                <a:solidFill>
                  <a:srgbClr val="FFFFFF"/>
                </a:solidFill>
              </a:defRPr>
            </a:lvl1pPr>
            <a:lvl2pPr marL="609585" indent="0" algn="ctr" eaLnBrk="1" latinLnBrk="0" hangingPunct="1">
              <a:buNone/>
            </a:lvl2pPr>
            <a:lvl3pPr marL="1219170" indent="0" algn="ctr" eaLnBrk="1" latinLnBrk="0" hangingPunct="1">
              <a:buNone/>
            </a:lvl3pPr>
            <a:lvl4pPr marL="1828754" indent="0" algn="ctr" eaLnBrk="1" latinLnBrk="0" hangingPunct="1">
              <a:buNone/>
            </a:lvl4pPr>
            <a:lvl5pPr marL="2438339" indent="0" algn="ctr" eaLnBrk="1" latinLnBrk="0" hangingPunct="1">
              <a:buNone/>
            </a:lvl5pPr>
            <a:lvl6pPr marL="3047924" indent="0" algn="ctr" eaLnBrk="1" latinLnBrk="0" hangingPunct="1">
              <a:buNone/>
            </a:lvl6pPr>
            <a:lvl7pPr marL="3657509" indent="0" algn="ctr" eaLnBrk="1" latinLnBrk="0" hangingPunct="1">
              <a:buNone/>
            </a:lvl7pPr>
            <a:lvl8pPr marL="4267093" indent="0" algn="ctr" eaLnBrk="1" latinLnBrk="0" hangingPunct="1">
              <a:buNone/>
            </a:lvl8pPr>
            <a:lvl9pPr marL="4876678" indent="0" algn="ctr" eaLnBrk="1" latinLnBrk="0" hangingPunct="1">
              <a:buNone/>
            </a:lvl9pPr>
            <a:extLst/>
          </a:lstStyle>
          <a:p>
            <a:pPr eaLnBrk="1" latinLnBrk="1" hangingPunct="1"/>
            <a:r>
              <a:rPr lang="en-US"/>
              <a:t>Click to edit Master subtitle style</a:t>
            </a:r>
            <a:endParaRPr/>
          </a:p>
        </p:txBody>
      </p:sp>
      <p:sp>
        <p:nvSpPr>
          <p:cNvPr id="28" name="Date Placeholder 27"/>
          <p:cNvSpPr>
            <a:spLocks noGrp="1"/>
          </p:cNvSpPr>
          <p:nvPr>
            <p:ph type="dt" sz="half" idx="10"/>
          </p:nvPr>
        </p:nvSpPr>
        <p:spPr>
          <a:xfrm>
            <a:off x="101600" y="6068699"/>
            <a:ext cx="2743200" cy="685800"/>
          </a:xfrm>
        </p:spPr>
        <p:txBody>
          <a:bodyPr>
            <a:noAutofit/>
          </a:bodyPr>
          <a:lstStyle>
            <a:lvl1pPr algn="ctr" eaLnBrk="1" latinLnBrk="0" hangingPunct="1">
              <a:defRPr kumimoji="0" sz="2667">
                <a:solidFill>
                  <a:srgbClr val="FFFFFF"/>
                </a:solidFill>
              </a:defRPr>
            </a:lvl1pPr>
            <a:extLst/>
          </a:lstStyle>
          <a:p>
            <a:fld id="{179B51AD-176B-4541-AE14-5E4BFB4943E8}" type="datetime1">
              <a:rPr lang="en-US" smtClean="0"/>
              <a:t>4/17/2020</a:t>
            </a:fld>
            <a:endParaRPr lang="en-US"/>
          </a:p>
        </p:txBody>
      </p:sp>
      <p:sp>
        <p:nvSpPr>
          <p:cNvPr id="17" name="Footer Placeholder 16"/>
          <p:cNvSpPr>
            <a:spLocks noGrp="1"/>
          </p:cNvSpPr>
          <p:nvPr>
            <p:ph type="ftr" sz="quarter" idx="11"/>
          </p:nvPr>
        </p:nvSpPr>
        <p:spPr>
          <a:xfrm>
            <a:off x="2780524" y="236539"/>
            <a:ext cx="7823200" cy="365125"/>
          </a:xfrm>
        </p:spPr>
        <p:txBody>
          <a:bodyPr/>
          <a:lstStyle>
            <a:lvl1pPr algn="r" eaLnBrk="1" latinLnBrk="0" hangingPunct="1">
              <a:defRPr kumimoji="0">
                <a:solidFill>
                  <a:schemeClr val="tx2"/>
                </a:solidFill>
              </a:defRPr>
            </a:lvl1pPr>
            <a:extLst/>
          </a:lstStyle>
          <a:p>
            <a:r>
              <a:rPr lang="en-US"/>
              <a:t>M. Hammad Mazhar</a:t>
            </a:r>
          </a:p>
        </p:txBody>
      </p:sp>
      <p:sp>
        <p:nvSpPr>
          <p:cNvPr id="29" name="Slide Number Placeholder 28"/>
          <p:cNvSpPr>
            <a:spLocks noGrp="1"/>
          </p:cNvSpPr>
          <p:nvPr>
            <p:ph type="sldNum" sz="quarter" idx="12"/>
          </p:nvPr>
        </p:nvSpPr>
        <p:spPr>
          <a:xfrm>
            <a:off x="10668000" y="228600"/>
            <a:ext cx="1117600" cy="381000"/>
          </a:xfrm>
        </p:spPr>
        <p:txBody>
          <a:bodyPr/>
          <a:lstStyle>
            <a:lvl1pPr eaLnBrk="1" latinLnBrk="0" hangingPunct="1">
              <a:defRPr kumimoji="0">
                <a:solidFill>
                  <a:schemeClr val="tx2"/>
                </a:solidFill>
              </a:defRPr>
            </a:lvl1pPr>
            <a:extLst/>
          </a:lstStyle>
          <a:p>
            <a:fld id="{2ABC7612-2C91-4738-8FA0-3151D896C48D}" type="slidenum">
              <a:rPr lang="en-US" smtClean="0"/>
              <a:t>‹#›</a:t>
            </a:fld>
            <a:endParaRPr lang="en-US"/>
          </a:p>
        </p:txBody>
      </p:sp>
      <p:sp>
        <p:nvSpPr>
          <p:cNvPr id="12" name="Rectangle 11"/>
          <p:cNvSpPr>
            <a:spLocks noGrp="1"/>
          </p:cNvSpPr>
          <p:nvPr>
            <p:ph type="title"/>
          </p:nvPr>
        </p:nvSpPr>
        <p:spPr>
          <a:xfrm>
            <a:off x="3149600" y="3124200"/>
            <a:ext cx="8636000" cy="2717800"/>
          </a:xfrm>
        </p:spPr>
        <p:txBody>
          <a:bodyPr rtlCol="0" anchor="b"/>
          <a:lstStyle>
            <a:lvl1pPr eaLnBrk="1" latinLnBrk="0" hangingPunct="1">
              <a:defRPr kumimoji="0" cap="all" baseline="0"/>
            </a:lvl1pPr>
            <a:extLst/>
          </a:lstStyle>
          <a:p>
            <a:pPr eaLnBrk="1" latinLnBrk="1" hangingPunct="1"/>
            <a:r>
              <a:rPr lang="en-US"/>
              <a:t>Click to edit Master title style</a:t>
            </a:r>
            <a:endParaRPr/>
          </a:p>
        </p:txBody>
      </p:sp>
    </p:spTree>
    <p:extLst>
      <p:ext uri="{BB962C8B-B14F-4D97-AF65-F5344CB8AC3E}">
        <p14:creationId xmlns:p14="http://schemas.microsoft.com/office/powerpoint/2010/main" val="34059450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1" hangingPunct="1"/>
            <a:r>
              <a:rPr lang="en-US"/>
              <a:t>Click to edit Master title style</a:t>
            </a:r>
            <a:endParaRPr/>
          </a:p>
        </p:txBody>
      </p:sp>
      <p:sp>
        <p:nvSpPr>
          <p:cNvPr id="3" name="Rectangle 2"/>
          <p:cNvSpPr>
            <a:spLocks noGrp="1"/>
          </p:cNvSpPr>
          <p:nvPr>
            <p:ph type="dt" sz="half" idx="10"/>
          </p:nvPr>
        </p:nvSpPr>
        <p:spPr/>
        <p:txBody>
          <a:bodyPr/>
          <a:lstStyle/>
          <a:p>
            <a:fld id="{415370E6-B2A6-4901-9783-7502F918C491}" type="datetime1">
              <a:rPr lang="en-US" smtClean="0"/>
              <a:t>4/17/2020</a:t>
            </a:fld>
            <a:endParaRPr lang="en-US"/>
          </a:p>
        </p:txBody>
      </p:sp>
      <p:sp>
        <p:nvSpPr>
          <p:cNvPr id="4" name="Rectangle 3"/>
          <p:cNvSpPr>
            <a:spLocks noGrp="1"/>
          </p:cNvSpPr>
          <p:nvPr>
            <p:ph type="ftr" sz="quarter" idx="11"/>
          </p:nvPr>
        </p:nvSpPr>
        <p:spPr/>
        <p:txBody>
          <a:bodyPr/>
          <a:lstStyle/>
          <a:p>
            <a:r>
              <a:rPr lang="en-US"/>
              <a:t>M. Hammad Mazhar</a:t>
            </a:r>
          </a:p>
        </p:txBody>
      </p:sp>
      <p:sp>
        <p:nvSpPr>
          <p:cNvPr id="5" name="Rectangle 4"/>
          <p:cNvSpPr>
            <a:spLocks noGrp="1"/>
          </p:cNvSpPr>
          <p:nvPr>
            <p:ph type="sldNum" sz="quarter" idx="12"/>
          </p:nvPr>
        </p:nvSpPr>
        <p:spPr/>
        <p:txBody>
          <a:bodyPr/>
          <a:lstStyle/>
          <a:p>
            <a:fld id="{2ABC7612-2C91-4738-8FA0-3151D896C48D}" type="slidenum">
              <a:rPr lang="en-US" smtClean="0"/>
              <a:t>‹#›</a:t>
            </a:fld>
            <a:endParaRPr lang="en-US"/>
          </a:p>
        </p:txBody>
      </p:sp>
      <p:sp>
        <p:nvSpPr>
          <p:cNvPr id="7" name="Rectangle 6"/>
          <p:cNvSpPr>
            <a:spLocks noGrp="1"/>
          </p:cNvSpPr>
          <p:nvPr>
            <p:ph sz="quarter" idx="13"/>
          </p:nvPr>
        </p:nvSpPr>
        <p:spPr>
          <a:xfrm>
            <a:off x="812800" y="1803400"/>
            <a:ext cx="10871200" cy="4368800"/>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Tree>
    <p:extLst>
      <p:ext uri="{BB962C8B-B14F-4D97-AF65-F5344CB8AC3E}">
        <p14:creationId xmlns:p14="http://schemas.microsoft.com/office/powerpoint/2010/main" val="3499392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eaLnBrk="1" latinLnBrk="0" hangingPunct="1">
              <a:buNone/>
              <a:defRPr kumimoji="0" sz="3733">
                <a:solidFill>
                  <a:schemeClr val="tx2"/>
                </a:solidFill>
              </a:defRPr>
            </a:lvl1pPr>
            <a:lvl2pPr eaLnBrk="1" latinLnBrk="0" hangingPunct="1">
              <a:buNone/>
              <a:defRPr kumimoji="0" sz="2400">
                <a:solidFill>
                  <a:schemeClr val="tx1">
                    <a:tint val="75000"/>
                  </a:schemeClr>
                </a:solidFill>
              </a:defRPr>
            </a:lvl2pPr>
            <a:lvl3pPr eaLnBrk="1" latinLnBrk="0" hangingPunct="1">
              <a:buNone/>
              <a:defRPr kumimoji="0" sz="2133">
                <a:solidFill>
                  <a:schemeClr val="tx1">
                    <a:tint val="75000"/>
                  </a:schemeClr>
                </a:solidFill>
              </a:defRPr>
            </a:lvl3pPr>
            <a:lvl4pPr eaLnBrk="1" latinLnBrk="0" hangingPunct="1">
              <a:buNone/>
              <a:defRPr kumimoji="0" sz="1867">
                <a:solidFill>
                  <a:schemeClr val="tx1">
                    <a:tint val="75000"/>
                  </a:schemeClr>
                </a:solidFill>
              </a:defRPr>
            </a:lvl4pPr>
            <a:lvl5pPr eaLnBrk="1" latinLnBrk="0" hangingPunct="1">
              <a:buNone/>
              <a:defRPr kumimoji="0" sz="1867">
                <a:solidFill>
                  <a:schemeClr val="tx1">
                    <a:tint val="75000"/>
                  </a:schemeClr>
                </a:solidFill>
              </a:defRPr>
            </a:lvl5pPr>
            <a:extLst/>
          </a:lstStyle>
          <a:p>
            <a:pPr lvl="0" eaLnBrk="1" latinLnBrk="1" hangingPunct="1"/>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2" name="Title 1"/>
          <p:cNvSpPr>
            <a:spLocks noGrp="1"/>
          </p:cNvSpPr>
          <p:nvPr>
            <p:ph type="title" hasCustomPrompt="1"/>
          </p:nvPr>
        </p:nvSpPr>
        <p:spPr>
          <a:xfrm>
            <a:off x="1828800" y="1600200"/>
            <a:ext cx="10160000" cy="990600"/>
          </a:xfrm>
        </p:spPr>
        <p:txBody>
          <a:bodyPr/>
          <a:lstStyle>
            <a:lvl1pPr algn="l" eaLnBrk="1" latinLnBrk="0" hangingPunct="1">
              <a:buNone/>
              <a:defRPr kumimoji="0" sz="5867" b="0" cap="none">
                <a:solidFill>
                  <a:srgbClr val="FFFFFF"/>
                </a:solidFill>
              </a:defRPr>
            </a:lvl1pPr>
            <a:extLst/>
          </a:lstStyle>
          <a:p>
            <a:r>
              <a:rPr kumimoji="0" lang="en-US" dirty="0"/>
              <a:t>Click to edit master title style</a:t>
            </a:r>
          </a:p>
        </p:txBody>
      </p:sp>
      <p:sp>
        <p:nvSpPr>
          <p:cNvPr id="12" name="Date Placeholder 11"/>
          <p:cNvSpPr>
            <a:spLocks noGrp="1"/>
          </p:cNvSpPr>
          <p:nvPr>
            <p:ph type="dt" sz="half" idx="10"/>
          </p:nvPr>
        </p:nvSpPr>
        <p:spPr/>
        <p:txBody>
          <a:bodyPr/>
          <a:lstStyle/>
          <a:p>
            <a:fld id="{91126A0A-704B-42A5-B029-2614FD07FE92}" type="datetime1">
              <a:rPr lang="en-US" smtClean="0"/>
              <a:t>4/17/2020</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eaLnBrk="1" latinLnBrk="0" hangingPunct="1">
              <a:defRPr kumimoji="0" sz="3200">
                <a:solidFill>
                  <a:srgbClr val="FFFFFF"/>
                </a:solidFill>
              </a:defRPr>
            </a:lvl1pPr>
            <a:extLst/>
          </a:lstStyle>
          <a:p>
            <a:fld id="{2ABC7612-2C91-4738-8FA0-3151D896C48D}" type="slidenum">
              <a:rPr lang="en-US" smtClean="0"/>
              <a:t>‹#›</a:t>
            </a:fld>
            <a:endParaRPr lang="en-US"/>
          </a:p>
        </p:txBody>
      </p:sp>
      <p:sp>
        <p:nvSpPr>
          <p:cNvPr id="14" name="Footer Placeholder 13"/>
          <p:cNvSpPr>
            <a:spLocks noGrp="1"/>
          </p:cNvSpPr>
          <p:nvPr>
            <p:ph type="ftr" sz="quarter" idx="12"/>
          </p:nvPr>
        </p:nvSpPr>
        <p:spPr/>
        <p:txBody>
          <a:bodyPr/>
          <a:lstStyle/>
          <a:p>
            <a:r>
              <a:rPr lang="en-US"/>
              <a:t>M. Hammad Mazhar</a:t>
            </a:r>
          </a:p>
        </p:txBody>
      </p:sp>
    </p:spTree>
    <p:extLst>
      <p:ext uri="{BB962C8B-B14F-4D97-AF65-F5344CB8AC3E}">
        <p14:creationId xmlns:p14="http://schemas.microsoft.com/office/powerpoint/2010/main" val="198475750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1" hangingPunct="1"/>
            <a:r>
              <a:rPr lang="en-US"/>
              <a:t>Click to edit Master title style</a:t>
            </a:r>
            <a:endParaRPr/>
          </a:p>
        </p:txBody>
      </p:sp>
      <p:sp>
        <p:nvSpPr>
          <p:cNvPr id="9" name="Content Placeholder 8"/>
          <p:cNvSpPr>
            <a:spLocks noGrp="1"/>
          </p:cNvSpPr>
          <p:nvPr>
            <p:ph sz="quarter" idx="13"/>
          </p:nvPr>
        </p:nvSpPr>
        <p:spPr>
          <a:xfrm>
            <a:off x="812800" y="1803402"/>
            <a:ext cx="5181600" cy="4358165"/>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1" name="Content Placeholder 10"/>
          <p:cNvSpPr>
            <a:spLocks noGrp="1"/>
          </p:cNvSpPr>
          <p:nvPr>
            <p:ph sz="quarter" idx="14"/>
          </p:nvPr>
        </p:nvSpPr>
        <p:spPr>
          <a:xfrm>
            <a:off x="6459868" y="1803399"/>
            <a:ext cx="5181600" cy="4358167"/>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8" name="Date Placeholder 7"/>
          <p:cNvSpPr>
            <a:spLocks noGrp="1"/>
          </p:cNvSpPr>
          <p:nvPr>
            <p:ph type="dt" sz="half" idx="15"/>
          </p:nvPr>
        </p:nvSpPr>
        <p:spPr/>
        <p:txBody>
          <a:bodyPr rtlCol="0"/>
          <a:lstStyle/>
          <a:p>
            <a:fld id="{694CE22E-898C-4046-946F-FC086F40A23A}" type="datetime1">
              <a:rPr lang="en-US" smtClean="0"/>
              <a:t>4/17/2020</a:t>
            </a:fld>
            <a:endParaRPr lang="en-US"/>
          </a:p>
        </p:txBody>
      </p:sp>
      <p:sp>
        <p:nvSpPr>
          <p:cNvPr id="10" name="Slide Number Placeholder 9"/>
          <p:cNvSpPr>
            <a:spLocks noGrp="1"/>
          </p:cNvSpPr>
          <p:nvPr>
            <p:ph type="sldNum" sz="quarter" idx="16"/>
          </p:nvPr>
        </p:nvSpPr>
        <p:spPr/>
        <p:txBody>
          <a:bodyPr rtlCol="0"/>
          <a:lstStyle/>
          <a:p>
            <a:fld id="{2ABC7612-2C91-4738-8FA0-3151D896C48D}" type="slidenum">
              <a:rPr lang="en-US" smtClean="0"/>
              <a:t>‹#›</a:t>
            </a:fld>
            <a:endParaRPr lang="en-US"/>
          </a:p>
        </p:txBody>
      </p:sp>
      <p:sp>
        <p:nvSpPr>
          <p:cNvPr id="12" name="Footer Placeholder 11"/>
          <p:cNvSpPr>
            <a:spLocks noGrp="1"/>
          </p:cNvSpPr>
          <p:nvPr>
            <p:ph type="ftr" sz="quarter" idx="17"/>
          </p:nvPr>
        </p:nvSpPr>
        <p:spPr/>
        <p:txBody>
          <a:bodyPr rtlCol="0"/>
          <a:lstStyle/>
          <a:p>
            <a:r>
              <a:rPr lang="en-US"/>
              <a:t>M. Hammad Mazhar</a:t>
            </a:r>
          </a:p>
        </p:txBody>
      </p:sp>
    </p:spTree>
    <p:extLst>
      <p:ext uri="{BB962C8B-B14F-4D97-AF65-F5344CB8AC3E}">
        <p14:creationId xmlns:p14="http://schemas.microsoft.com/office/powerpoint/2010/main" val="3275433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eaLnBrk="1" latinLnBrk="0" hangingPunct="1">
              <a:defRPr kumimoji="0"/>
            </a:lvl1pPr>
            <a:extLst/>
          </a:lstStyle>
          <a:p>
            <a:pPr eaLnBrk="1" latinLnBrk="1" hangingPunct="1"/>
            <a:r>
              <a:rPr lang="en-US"/>
              <a:t>Click to edit Master title style</a:t>
            </a:r>
            <a:endParaRPr/>
          </a:p>
        </p:txBody>
      </p:sp>
      <p:sp>
        <p:nvSpPr>
          <p:cNvPr id="11" name="Content Placeholder 10"/>
          <p:cNvSpPr>
            <a:spLocks noGrp="1"/>
          </p:cNvSpPr>
          <p:nvPr>
            <p:ph sz="quarter" idx="13"/>
          </p:nvPr>
        </p:nvSpPr>
        <p:spPr>
          <a:xfrm>
            <a:off x="812800" y="2559757"/>
            <a:ext cx="5181600" cy="3505200"/>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3" name="Content Placeholder 12"/>
          <p:cNvSpPr>
            <a:spLocks noGrp="1"/>
          </p:cNvSpPr>
          <p:nvPr>
            <p:ph sz="quarter" idx="14"/>
          </p:nvPr>
        </p:nvSpPr>
        <p:spPr>
          <a:xfrm>
            <a:off x="6400800" y="2559757"/>
            <a:ext cx="5181600" cy="3505200"/>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0" name="Date Placeholder 9"/>
          <p:cNvSpPr>
            <a:spLocks noGrp="1"/>
          </p:cNvSpPr>
          <p:nvPr>
            <p:ph type="dt" sz="half" idx="15"/>
          </p:nvPr>
        </p:nvSpPr>
        <p:spPr/>
        <p:txBody>
          <a:bodyPr rtlCol="0"/>
          <a:lstStyle/>
          <a:p>
            <a:fld id="{76F8F633-7091-44F3-B2C5-28F6CC91EAA5}" type="datetime1">
              <a:rPr lang="en-US" smtClean="0"/>
              <a:t>4/17/2020</a:t>
            </a:fld>
            <a:endParaRPr lang="en-US"/>
          </a:p>
        </p:txBody>
      </p:sp>
      <p:sp>
        <p:nvSpPr>
          <p:cNvPr id="12" name="Slide Number Placeholder 11"/>
          <p:cNvSpPr>
            <a:spLocks noGrp="1"/>
          </p:cNvSpPr>
          <p:nvPr>
            <p:ph type="sldNum" sz="quarter" idx="16"/>
          </p:nvPr>
        </p:nvSpPr>
        <p:spPr/>
        <p:txBody>
          <a:bodyPr rtlCol="0"/>
          <a:lstStyle/>
          <a:p>
            <a:fld id="{2ABC7612-2C91-4738-8FA0-3151D896C48D}" type="slidenum">
              <a:rPr lang="en-US" smtClean="0"/>
              <a:t>‹#›</a:t>
            </a:fld>
            <a:endParaRPr lang="en-US"/>
          </a:p>
        </p:txBody>
      </p:sp>
      <p:sp>
        <p:nvSpPr>
          <p:cNvPr id="14" name="Footer Placeholder 13"/>
          <p:cNvSpPr>
            <a:spLocks noGrp="1"/>
          </p:cNvSpPr>
          <p:nvPr>
            <p:ph type="ftr" sz="quarter" idx="17"/>
          </p:nvPr>
        </p:nvSpPr>
        <p:spPr/>
        <p:txBody>
          <a:bodyPr rtlCol="0"/>
          <a:lstStyle/>
          <a:p>
            <a:r>
              <a:rPr lang="en-US"/>
              <a:t>M. Hammad Mazhar</a:t>
            </a:r>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eaLnBrk="1" latinLnBrk="0" hangingPunct="1">
              <a:buFontTx/>
              <a:buNone/>
              <a:defRPr kumimoji="0" sz="2667" b="1">
                <a:solidFill>
                  <a:srgbClr val="FFFFFF"/>
                </a:solidFill>
              </a:defRPr>
            </a:lvl1pPr>
            <a:extLst/>
          </a:lstStyle>
          <a:p>
            <a:pPr lvl="0" eaLnBrk="1" latinLnBrk="1" hangingPunct="1"/>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eaLnBrk="1" latinLnBrk="0" hangingPunct="1">
              <a:buFontTx/>
              <a:buNone/>
              <a:defRPr kumimoji="0" sz="2667" b="1">
                <a:solidFill>
                  <a:srgbClr val="FFFFFF"/>
                </a:solidFill>
              </a:defRPr>
            </a:lvl1pPr>
            <a:extLst/>
          </a:lstStyle>
          <a:p>
            <a:pPr lvl="0" eaLnBrk="1" latinLnBrk="1" hangingPunct="1"/>
            <a:r>
              <a:rPr lang="en-US"/>
              <a:t>Click to edit Master text styles</a:t>
            </a:r>
          </a:p>
        </p:txBody>
      </p:sp>
    </p:spTree>
    <p:extLst>
      <p:ext uri="{BB962C8B-B14F-4D97-AF65-F5344CB8AC3E}">
        <p14:creationId xmlns:p14="http://schemas.microsoft.com/office/powerpoint/2010/main" val="145626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1" hangingPunct="1"/>
            <a:r>
              <a:rPr lang="en-US"/>
              <a:t>Click to edit Master title style</a:t>
            </a:r>
            <a:endParaRPr/>
          </a:p>
        </p:txBody>
      </p:sp>
      <p:sp>
        <p:nvSpPr>
          <p:cNvPr id="3" name="Date Placeholder 2"/>
          <p:cNvSpPr>
            <a:spLocks noGrp="1"/>
          </p:cNvSpPr>
          <p:nvPr>
            <p:ph type="dt" sz="half" idx="10"/>
          </p:nvPr>
        </p:nvSpPr>
        <p:spPr/>
        <p:txBody>
          <a:bodyPr/>
          <a:lstStyle/>
          <a:p>
            <a:fld id="{F7DC2FFE-EA5A-4E56-B141-1CC0F381CC84}" type="datetime1">
              <a:rPr lang="en-US" smtClean="0"/>
              <a:t>4/17/2020</a:t>
            </a:fld>
            <a:endParaRPr lang="en-US"/>
          </a:p>
        </p:txBody>
      </p:sp>
      <p:sp>
        <p:nvSpPr>
          <p:cNvPr id="4" name="Footer Placeholder 3"/>
          <p:cNvSpPr>
            <a:spLocks noGrp="1"/>
          </p:cNvSpPr>
          <p:nvPr>
            <p:ph type="ftr" sz="quarter" idx="11"/>
          </p:nvPr>
        </p:nvSpPr>
        <p:spPr/>
        <p:txBody>
          <a:bodyPr/>
          <a:lstStyle/>
          <a:p>
            <a:r>
              <a:rPr lang="en-US"/>
              <a:t>M. Hammad Mazhar</a:t>
            </a:r>
          </a:p>
        </p:txBody>
      </p:sp>
      <p:sp>
        <p:nvSpPr>
          <p:cNvPr id="5" name="Slide Number Placeholder 4"/>
          <p:cNvSpPr>
            <a:spLocks noGrp="1"/>
          </p:cNvSpPr>
          <p:nvPr>
            <p:ph type="sldNum" sz="quarter" idx="12"/>
          </p:nvPr>
        </p:nvSpPr>
        <p:spPr/>
        <p:txBody>
          <a:bodyPr/>
          <a:lstStyle>
            <a:lvl1pPr eaLnBrk="1" latinLnBrk="0" hangingPunct="1">
              <a:defRPr kumimoji="0">
                <a:solidFill>
                  <a:srgbClr val="FFFFFF"/>
                </a:solidFill>
              </a:defRPr>
            </a:lvl1pPr>
            <a:extLst/>
          </a:lstStyle>
          <a:p>
            <a:fld id="{2ABC7612-2C91-4738-8FA0-3151D896C48D}" type="slidenum">
              <a:rPr lang="en-US" smtClean="0"/>
              <a:t>‹#›</a:t>
            </a:fld>
            <a:endParaRPr lang="en-US"/>
          </a:p>
        </p:txBody>
      </p:sp>
    </p:spTree>
    <p:extLst>
      <p:ext uri="{BB962C8B-B14F-4D97-AF65-F5344CB8AC3E}">
        <p14:creationId xmlns:p14="http://schemas.microsoft.com/office/powerpoint/2010/main" val="1442067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DFEE5-54BA-4CBB-895B-F5B31939F3B4}" type="datetime1">
              <a:rPr lang="en-US" smtClean="0"/>
              <a:t>4/17/2020</a:t>
            </a:fld>
            <a:endParaRPr lang="en-US"/>
          </a:p>
        </p:txBody>
      </p:sp>
      <p:sp>
        <p:nvSpPr>
          <p:cNvPr id="3" name="Footer Placeholder 2"/>
          <p:cNvSpPr>
            <a:spLocks noGrp="1"/>
          </p:cNvSpPr>
          <p:nvPr>
            <p:ph type="ftr" sz="quarter" idx="11"/>
          </p:nvPr>
        </p:nvSpPr>
        <p:spPr/>
        <p:txBody>
          <a:bodyPr/>
          <a:lstStyle/>
          <a:p>
            <a:r>
              <a:rPr lang="en-US"/>
              <a:t>M. Hammad Mazhar</a:t>
            </a:r>
          </a:p>
        </p:txBody>
      </p:sp>
      <p:sp>
        <p:nvSpPr>
          <p:cNvPr id="4" name="Slide Number Placeholder 3"/>
          <p:cNvSpPr>
            <a:spLocks noGrp="1"/>
          </p:cNvSpPr>
          <p:nvPr>
            <p:ph type="sldNum" sz="quarter" idx="12"/>
          </p:nvPr>
        </p:nvSpPr>
        <p:spPr>
          <a:xfrm>
            <a:off x="0" y="6248400"/>
            <a:ext cx="711200" cy="381000"/>
          </a:xfrm>
        </p:spPr>
        <p:txBody>
          <a:bodyPr/>
          <a:lstStyle>
            <a:lvl1pPr eaLnBrk="1" latinLnBrk="0" hangingPunct="1">
              <a:defRPr kumimoji="0">
                <a:solidFill>
                  <a:schemeClr val="tx2"/>
                </a:solidFill>
              </a:defRPr>
            </a:lvl1pPr>
            <a:extLst/>
          </a:lstStyle>
          <a:p>
            <a:fld id="{2ABC7612-2C91-4738-8FA0-3151D896C48D}" type="slidenum">
              <a:rPr lang="en-US" smtClean="0"/>
              <a:t>‹#›</a:t>
            </a:fld>
            <a:endParaRPr lang="en-US"/>
          </a:p>
        </p:txBody>
      </p:sp>
    </p:spTree>
    <p:extLst>
      <p:ext uri="{BB962C8B-B14F-4D97-AF65-F5344CB8AC3E}">
        <p14:creationId xmlns:p14="http://schemas.microsoft.com/office/powerpoint/2010/main" val="418552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eaLnBrk="1" latinLnBrk="0" hangingPunct="1">
              <a:buNone/>
              <a:defRPr kumimoji="0" sz="5600" b="0"/>
            </a:lvl1pPr>
            <a:extLst/>
          </a:lstStyle>
          <a:p>
            <a:pPr eaLnBrk="1" latinLnBrk="1" hangingPunct="1"/>
            <a:r>
              <a:rPr lang="en-US"/>
              <a:t>Click to edit Master title style</a:t>
            </a:r>
            <a:endParaRPr/>
          </a:p>
        </p:txBody>
      </p:sp>
      <p:sp>
        <p:nvSpPr>
          <p:cNvPr id="5" name="Date Placeholder 4"/>
          <p:cNvSpPr>
            <a:spLocks noGrp="1"/>
          </p:cNvSpPr>
          <p:nvPr>
            <p:ph type="dt" sz="half" idx="10"/>
          </p:nvPr>
        </p:nvSpPr>
        <p:spPr/>
        <p:txBody>
          <a:bodyPr/>
          <a:lstStyle/>
          <a:p>
            <a:fld id="{680954BE-9A2F-4BBB-A644-2B6CEE09F1E0}" type="datetime1">
              <a:rPr lang="en-US" smtClean="0"/>
              <a:t>4/17/2020</a:t>
            </a:fld>
            <a:endParaRPr lang="en-US"/>
          </a:p>
        </p:txBody>
      </p:sp>
      <p:sp>
        <p:nvSpPr>
          <p:cNvPr id="6" name="Footer Placeholder 5"/>
          <p:cNvSpPr>
            <a:spLocks noGrp="1"/>
          </p:cNvSpPr>
          <p:nvPr>
            <p:ph type="ftr" sz="quarter" idx="11"/>
          </p:nvPr>
        </p:nvSpPr>
        <p:spPr/>
        <p:txBody>
          <a:bodyPr/>
          <a:lstStyle/>
          <a:p>
            <a:r>
              <a:rPr lang="en-US"/>
              <a:t>M. Hammad Mazhar</a:t>
            </a:r>
          </a:p>
        </p:txBody>
      </p:sp>
      <p:sp>
        <p:nvSpPr>
          <p:cNvPr id="7" name="Slide Number Placeholder 6"/>
          <p:cNvSpPr>
            <a:spLocks noGrp="1"/>
          </p:cNvSpPr>
          <p:nvPr>
            <p:ph type="sldNum" sz="quarter" idx="12"/>
          </p:nvPr>
        </p:nvSpPr>
        <p:spPr/>
        <p:txBody>
          <a:bodyPr/>
          <a:lstStyle>
            <a:lvl1pPr eaLnBrk="1" latinLnBrk="0" hangingPunct="1">
              <a:defRPr kumimoji="0">
                <a:solidFill>
                  <a:srgbClr val="FFFFFF"/>
                </a:solidFill>
              </a:defRPr>
            </a:lvl1pPr>
            <a:extLst/>
          </a:lstStyle>
          <a:p>
            <a:fld id="{2ABC7612-2C91-4738-8FA0-3151D896C48D}" type="slidenum">
              <a:rPr lang="en-US" smtClean="0"/>
              <a:t>‹#›</a:t>
            </a:fld>
            <a:endParaRPr lang="en-US"/>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eaLnBrk="1" latinLnBrk="0" hangingPunct="1">
              <a:spcAft>
                <a:spcPts val="1333"/>
              </a:spcAft>
              <a:buNone/>
              <a:defRPr kumimoji="0" sz="2400"/>
            </a:lvl1pPr>
            <a:lvl2pPr eaLnBrk="1" latinLnBrk="0" hangingPunct="1">
              <a:buNone/>
              <a:defRPr kumimoji="0" sz="1600"/>
            </a:lvl2pPr>
            <a:lvl3pPr eaLnBrk="1" latinLnBrk="0" hangingPunct="1">
              <a:buNone/>
              <a:defRPr kumimoji="0" sz="1333"/>
            </a:lvl3pPr>
            <a:lvl4pPr eaLnBrk="1" latinLnBrk="0" hangingPunct="1">
              <a:buNone/>
              <a:defRPr kumimoji="0" sz="1200"/>
            </a:lvl4pPr>
            <a:lvl5pPr eaLnBrk="1" latinLnBrk="0" hangingPunct="1">
              <a:buNone/>
              <a:defRPr kumimoji="0" sz="1200"/>
            </a:lvl5pPr>
            <a:extLst/>
          </a:lstStyle>
          <a:p>
            <a:pPr lvl="0" eaLnBrk="1" latinLnBrk="1" hangingPunct="1"/>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Tree>
    <p:extLst>
      <p:ext uri="{BB962C8B-B14F-4D97-AF65-F5344CB8AC3E}">
        <p14:creationId xmlns:p14="http://schemas.microsoft.com/office/powerpoint/2010/main" val="3115439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eaLnBrk="1" latinLnBrk="0" hangingPunct="1">
              <a:buNone/>
              <a:defRPr kumimoji="0" sz="4267"/>
            </a:lvl1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2133600" y="5486400"/>
            <a:ext cx="9753600" cy="685800"/>
          </a:xfrm>
        </p:spPr>
        <p:txBody>
          <a:bodyPr/>
          <a:lstStyle>
            <a:lvl1pPr marL="0" indent="0" eaLnBrk="1" latinLnBrk="0" hangingPunct="1">
              <a:buFontTx/>
              <a:buNone/>
              <a:defRPr kumimoji="0" sz="2267"/>
            </a:lvl1pPr>
            <a:lvl2pPr eaLnBrk="1" latinLnBrk="0" hangingPunct="1">
              <a:buFontTx/>
              <a:buNone/>
              <a:defRPr kumimoji="0" sz="1600"/>
            </a:lvl2pPr>
            <a:lvl3pPr eaLnBrk="1" latinLnBrk="0" hangingPunct="1">
              <a:buFontTx/>
              <a:buNone/>
              <a:defRPr kumimoji="0" sz="1333"/>
            </a:lvl3pPr>
            <a:lvl4pPr eaLnBrk="1" latinLnBrk="0" hangingPunct="1">
              <a:buFontTx/>
              <a:buNone/>
              <a:defRPr kumimoji="0" sz="1200"/>
            </a:lvl4pPr>
            <a:lvl5pPr eaLnBrk="1" latinLnBrk="0" hangingPunct="1">
              <a:buFontTx/>
              <a:buNone/>
              <a:defRPr kumimoji="0" sz="1200"/>
            </a:lvl5pPr>
            <a:extLst/>
          </a:lstStyle>
          <a:p>
            <a:pPr lvl="0" eaLnBrk="1" latinLnBrk="1" hangingPunct="1"/>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2" name="Title 1"/>
          <p:cNvSpPr>
            <a:spLocks noGrp="1"/>
          </p:cNvSpPr>
          <p:nvPr>
            <p:ph type="title"/>
          </p:nvPr>
        </p:nvSpPr>
        <p:spPr>
          <a:xfrm>
            <a:off x="2133600" y="4724400"/>
            <a:ext cx="9753600" cy="609600"/>
          </a:xfrm>
        </p:spPr>
        <p:txBody>
          <a:bodyPr anchor="ctr"/>
          <a:lstStyle>
            <a:lvl1pPr algn="l" eaLnBrk="1" latinLnBrk="0" hangingPunct="1">
              <a:buNone/>
              <a:defRPr kumimoji="0" sz="3733" b="0">
                <a:solidFill>
                  <a:srgbClr val="FFFFFF"/>
                </a:solidFill>
              </a:defRPr>
            </a:lvl1pPr>
            <a:extLst/>
          </a:lstStyle>
          <a:p>
            <a:pPr eaLnBrk="1" latinLnBrk="1" hangingPunct="1"/>
            <a:r>
              <a:rPr lang="en-US"/>
              <a:t>Click to edit Master title style</a:t>
            </a:r>
            <a:endParaRPr/>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12" name="Date Placeholder 11"/>
          <p:cNvSpPr>
            <a:spLocks noGrp="1"/>
          </p:cNvSpPr>
          <p:nvPr>
            <p:ph type="dt" sz="half" idx="10"/>
          </p:nvPr>
        </p:nvSpPr>
        <p:spPr>
          <a:xfrm>
            <a:off x="8331200" y="6248400"/>
            <a:ext cx="3556000" cy="365125"/>
          </a:xfrm>
        </p:spPr>
        <p:txBody>
          <a:bodyPr rtlCol="0"/>
          <a:lstStyle/>
          <a:p>
            <a:fld id="{507DE12D-466A-4956-BB4E-BFB6CF1C56DC}" type="datetime1">
              <a:rPr lang="en-US" smtClean="0"/>
              <a:t>4/17/2020</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eaLnBrk="1" latinLnBrk="0" hangingPunct="1">
              <a:defRPr kumimoji="0" sz="3733"/>
            </a:lvl1pPr>
            <a:extLst/>
          </a:lstStyle>
          <a:p>
            <a:fld id="{2ABC7612-2C91-4738-8FA0-3151D896C48D}" type="slidenum">
              <a:rPr lang="en-US" smtClean="0"/>
              <a:t>‹#›</a:t>
            </a:fld>
            <a:endParaRPr lang="en-US"/>
          </a:p>
        </p:txBody>
      </p:sp>
      <p:sp>
        <p:nvSpPr>
          <p:cNvPr id="14" name="Footer Placeholder 13"/>
          <p:cNvSpPr>
            <a:spLocks noGrp="1"/>
          </p:cNvSpPr>
          <p:nvPr>
            <p:ph type="ftr" sz="quarter" idx="12"/>
          </p:nvPr>
        </p:nvSpPr>
        <p:spPr>
          <a:xfrm>
            <a:off x="2133600" y="6248207"/>
            <a:ext cx="6096000" cy="365125"/>
          </a:xfrm>
        </p:spPr>
        <p:txBody>
          <a:bodyPr rtlCol="0"/>
          <a:lstStyle/>
          <a:p>
            <a:r>
              <a:rPr lang="en-US"/>
              <a:t>M. Hammad Mazhar</a:t>
            </a:r>
          </a:p>
        </p:txBody>
      </p:sp>
    </p:spTree>
    <p:extLst>
      <p:ext uri="{BB962C8B-B14F-4D97-AF65-F5344CB8AC3E}">
        <p14:creationId xmlns:p14="http://schemas.microsoft.com/office/powerpoint/2010/main" val="343921809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eaLnBrk="1" latinLnBrk="1" hangingPunct="1"/>
            <a:r>
              <a:rPr kumimoji="0" lang="en-US"/>
              <a:t>Click to edit Master text styles</a:t>
            </a:r>
          </a:p>
          <a:p>
            <a:pPr lvl="1" eaLnBrk="1" latinLnBrk="1" hangingPunct="1"/>
            <a:r>
              <a:rPr kumimoji="0" lang="en-US"/>
              <a:t>Second level</a:t>
            </a:r>
          </a:p>
          <a:p>
            <a:pPr lvl="2" eaLnBrk="1" latinLnBrk="1" hangingPunct="1"/>
            <a:r>
              <a:rPr kumimoji="0" lang="en-US"/>
              <a:t>Third level</a:t>
            </a:r>
          </a:p>
          <a:p>
            <a:pPr lvl="3" eaLnBrk="1" latinLnBrk="1" hangingPunct="1"/>
            <a:r>
              <a:rPr kumimoji="0" lang="en-US"/>
              <a:t>Fourth level</a:t>
            </a:r>
          </a:p>
          <a:p>
            <a:pPr lvl="4" eaLnBrk="1" latinLnBrk="1" hangingPunct="1"/>
            <a:r>
              <a:rPr kumimoji="0" lang="en-US"/>
              <a:t>Fifth level</a:t>
            </a:r>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eaLnBrk="1" latinLnBrk="0" hangingPunct="1">
              <a:defRPr kumimoji="0" sz="1867">
                <a:solidFill>
                  <a:schemeClr val="tx2"/>
                </a:solidFill>
              </a:defRPr>
            </a:lvl1pPr>
            <a:extLst/>
          </a:lstStyle>
          <a:p>
            <a:fld id="{98B5011D-280F-4822-9E79-90027639DB43}" type="datetime1">
              <a:rPr lang="en-US" smtClean="0"/>
              <a:t>4/17/2020</a:t>
            </a:fld>
            <a:endParaRPr lang="en-US"/>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eaLnBrk="1" latinLnBrk="0" hangingPunct="1">
              <a:defRPr kumimoji="0" sz="1867">
                <a:solidFill>
                  <a:schemeClr val="tx2"/>
                </a:solidFill>
              </a:defRPr>
            </a:lvl1pPr>
            <a:extLst/>
          </a:lstStyle>
          <a:p>
            <a:r>
              <a:rPr lang="en-US"/>
              <a:t>M. Hammad Mazhar</a:t>
            </a: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eaLnBrk="1" latinLnBrk="0" hangingPunct="1">
              <a:defRPr kumimoji="0" sz="1867" b="1">
                <a:solidFill>
                  <a:srgbClr val="FFFFFF"/>
                </a:solidFill>
              </a:defRPr>
            </a:lvl1pPr>
            <a:extLst/>
          </a:lstStyle>
          <a:p>
            <a:fld id="{2ABC7612-2C91-4738-8FA0-3151D896C48D}" type="slidenum">
              <a:rPr lang="en-US" smtClean="0"/>
              <a:t>‹#›</a:t>
            </a:fld>
            <a:endParaRPr lang="en-US"/>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pPr eaLnBrk="1" latinLnBrk="1" hangingPunct="1"/>
            <a:r>
              <a:rPr kumimoji="0" lang="en-US"/>
              <a:t>Click to edit Master title style</a:t>
            </a:r>
          </a:p>
        </p:txBody>
      </p:sp>
    </p:spTree>
    <p:extLst>
      <p:ext uri="{BB962C8B-B14F-4D97-AF65-F5344CB8AC3E}">
        <p14:creationId xmlns:p14="http://schemas.microsoft.com/office/powerpoint/2010/main" val="2270380644"/>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Lst>
  <p:hf hdr="0" dt="0"/>
  <p:txStyles>
    <p:titleStyle>
      <a:lvl1pPr algn="l" rtl="0" eaLnBrk="1" latinLnBrk="0" hangingPunct="1">
        <a:spcBef>
          <a:spcPct val="0"/>
        </a:spcBef>
        <a:buNone/>
        <a:defRPr kumimoji="0"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kumimoji="0"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kumimoji="0"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kumimoji="0"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kumimoji="0"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kumimoji="0"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kumimoji="0"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kumimoji="0"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kumimoji="0" sz="2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609585" algn="l" rtl="0" eaLnBrk="1" latinLnBrk="0" hangingPunct="1">
        <a:defRPr kumimoji="0" kern="1200">
          <a:solidFill>
            <a:schemeClr val="tx1"/>
          </a:solidFill>
          <a:latin typeface="+mn-lt"/>
          <a:ea typeface="+mn-ea"/>
          <a:cs typeface="+mn-cs"/>
        </a:defRPr>
      </a:lvl2pPr>
      <a:lvl3pPr marL="1219170" algn="l" rtl="0" eaLnBrk="1" latinLnBrk="0" hangingPunct="1">
        <a:defRPr kumimoji="0" kern="1200">
          <a:solidFill>
            <a:schemeClr val="tx1"/>
          </a:solidFill>
          <a:latin typeface="+mn-lt"/>
          <a:ea typeface="+mn-ea"/>
          <a:cs typeface="+mn-cs"/>
        </a:defRPr>
      </a:lvl3pPr>
      <a:lvl4pPr marL="1828754" algn="l" rtl="0" eaLnBrk="1" latinLnBrk="0" hangingPunct="1">
        <a:defRPr kumimoji="0" kern="1200">
          <a:solidFill>
            <a:schemeClr val="tx1"/>
          </a:solidFill>
          <a:latin typeface="+mn-lt"/>
          <a:ea typeface="+mn-ea"/>
          <a:cs typeface="+mn-cs"/>
        </a:defRPr>
      </a:lvl4pPr>
      <a:lvl5pPr marL="2438339" algn="l" rtl="0" eaLnBrk="1" latinLnBrk="0" hangingPunct="1">
        <a:defRPr kumimoji="0" kern="1200">
          <a:solidFill>
            <a:schemeClr val="tx1"/>
          </a:solidFill>
          <a:latin typeface="+mn-lt"/>
          <a:ea typeface="+mn-ea"/>
          <a:cs typeface="+mn-cs"/>
        </a:defRPr>
      </a:lvl5pPr>
      <a:lvl6pPr marL="3047924" algn="l" rtl="0" eaLnBrk="1" latinLnBrk="0" hangingPunct="1">
        <a:defRPr kumimoji="0" kern="1200">
          <a:solidFill>
            <a:schemeClr val="tx1"/>
          </a:solidFill>
          <a:latin typeface="+mn-lt"/>
          <a:ea typeface="+mn-ea"/>
          <a:cs typeface="+mn-cs"/>
        </a:defRPr>
      </a:lvl6pPr>
      <a:lvl7pPr marL="3657509" algn="l" rtl="0" eaLnBrk="1" latinLnBrk="0" hangingPunct="1">
        <a:defRPr kumimoji="0" kern="1200">
          <a:solidFill>
            <a:schemeClr val="tx1"/>
          </a:solidFill>
          <a:latin typeface="+mn-lt"/>
          <a:ea typeface="+mn-ea"/>
          <a:cs typeface="+mn-cs"/>
        </a:defRPr>
      </a:lvl7pPr>
      <a:lvl8pPr marL="4267093" algn="l" rtl="0" eaLnBrk="1" latinLnBrk="0" hangingPunct="1">
        <a:defRPr kumimoji="0" kern="1200">
          <a:solidFill>
            <a:schemeClr val="tx1"/>
          </a:solidFill>
          <a:latin typeface="+mn-lt"/>
          <a:ea typeface="+mn-ea"/>
          <a:cs typeface="+mn-cs"/>
        </a:defRPr>
      </a:lvl8pPr>
      <a:lvl9pPr marL="4876678"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muhammadhammad-mazhar@uiowa.edu" TargetMode="External"/><Relationship Id="rId2" Type="http://schemas.openxmlformats.org/officeDocument/2006/relationships/hyperlink" Target="https://twitter.com/HmdMazhar" TargetMode="External"/><Relationship Id="rId1" Type="http://schemas.openxmlformats.org/officeDocument/2006/relationships/slideLayout" Target="../slideLayouts/slideLayout2.xml"/><Relationship Id="rId4" Type="http://schemas.openxmlformats.org/officeDocument/2006/relationships/hyperlink" Target="https://cs.uiowa.edu/~mmazhar"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1.jpg"/><Relationship Id="rId7" Type="http://schemas.openxmlformats.org/officeDocument/2006/relationships/image" Target="../media/image19.jpg"/><Relationship Id="rId12" Type="http://schemas.openxmlformats.org/officeDocument/2006/relationships/image" Target="../media/image33.pn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2.svg"/><Relationship Id="rId5" Type="http://schemas.openxmlformats.org/officeDocument/2006/relationships/image" Target="../media/image27.sv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svg"/></Relationships>
</file>

<file path=ppt/slides/_rels/slide2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EE5EBF-118D-482E-883A-6F8E5F0B3DFD}"/>
              </a:ext>
            </a:extLst>
          </p:cNvPr>
          <p:cNvSpPr>
            <a:spLocks noGrp="1"/>
          </p:cNvSpPr>
          <p:nvPr>
            <p:ph type="subTitle" idx="1"/>
          </p:nvPr>
        </p:nvSpPr>
        <p:spPr>
          <a:xfrm>
            <a:off x="84183" y="3490928"/>
            <a:ext cx="6403703" cy="685800"/>
          </a:xfrm>
        </p:spPr>
        <p:txBody>
          <a:bodyPr/>
          <a:lstStyle/>
          <a:p>
            <a:pPr algn="ctr"/>
            <a:r>
              <a:rPr lang="en-US" dirty="0">
                <a:solidFill>
                  <a:schemeClr val="tx2">
                    <a:lumMod val="75000"/>
                  </a:schemeClr>
                </a:solidFill>
              </a:rPr>
              <a:t>M. Hammad Mazhar</a:t>
            </a:r>
          </a:p>
        </p:txBody>
      </p:sp>
      <p:sp>
        <p:nvSpPr>
          <p:cNvPr id="2" name="Title 1">
            <a:extLst>
              <a:ext uri="{FF2B5EF4-FFF2-40B4-BE49-F238E27FC236}">
                <a16:creationId xmlns:a16="http://schemas.microsoft.com/office/drawing/2014/main" id="{1F3E03B3-4574-4214-83DF-3C33C1D9255B}"/>
              </a:ext>
            </a:extLst>
          </p:cNvPr>
          <p:cNvSpPr>
            <a:spLocks noGrp="1"/>
          </p:cNvSpPr>
          <p:nvPr>
            <p:ph type="title"/>
          </p:nvPr>
        </p:nvSpPr>
        <p:spPr>
          <a:xfrm>
            <a:off x="1778000" y="1753644"/>
            <a:ext cx="8636000" cy="1737284"/>
          </a:xfrm>
        </p:spPr>
        <p:txBody>
          <a:bodyPr>
            <a:normAutofit/>
          </a:bodyPr>
          <a:lstStyle/>
          <a:p>
            <a:pPr algn="ctr"/>
            <a:r>
              <a:rPr lang="en-US" sz="4800" dirty="0"/>
              <a:t>Characterizing Smart home IoT Traffic in the wild</a:t>
            </a:r>
          </a:p>
        </p:txBody>
      </p:sp>
      <p:sp>
        <p:nvSpPr>
          <p:cNvPr id="4" name="Subtitle 2">
            <a:extLst>
              <a:ext uri="{FF2B5EF4-FFF2-40B4-BE49-F238E27FC236}">
                <a16:creationId xmlns:a16="http://schemas.microsoft.com/office/drawing/2014/main" id="{DCE6BCF6-379F-4BB0-A2F5-E3A8E2268AFD}"/>
              </a:ext>
            </a:extLst>
          </p:cNvPr>
          <p:cNvSpPr txBox="1">
            <a:spLocks/>
          </p:cNvSpPr>
          <p:nvPr/>
        </p:nvSpPr>
        <p:spPr>
          <a:xfrm>
            <a:off x="5704114" y="3490928"/>
            <a:ext cx="6403703" cy="685800"/>
          </a:xfrm>
          <a:prstGeom prst="rect">
            <a:avLst/>
          </a:prstGeom>
        </p:spPr>
        <p:txBody>
          <a:bodyPr vert="horz" anchor="ctr">
            <a:normAutofit/>
          </a:bodyPr>
          <a:lstStyle>
            <a:lvl1pPr marL="0" indent="0" algn="l" rtl="0" eaLnBrk="1" latinLnBrk="0" hangingPunct="1">
              <a:spcBef>
                <a:spcPts val="933"/>
              </a:spcBef>
              <a:buClr>
                <a:schemeClr val="accent2"/>
              </a:buClr>
              <a:buSzPct val="60000"/>
              <a:buFont typeface="Wingdings"/>
              <a:buNone/>
              <a:defRPr kumimoji="0" sz="3733" kern="1200">
                <a:solidFill>
                  <a:srgbClr val="FFFFFF"/>
                </a:solidFill>
                <a:latin typeface="+mn-lt"/>
                <a:ea typeface="+mn-ea"/>
                <a:cs typeface="+mn-cs"/>
              </a:defRPr>
            </a:lvl1pPr>
            <a:lvl2pPr marL="609585" indent="0" algn="ctr" rtl="0" eaLnBrk="1" latinLnBrk="0" hangingPunct="1">
              <a:spcBef>
                <a:spcPts val="733"/>
              </a:spcBef>
              <a:buClr>
                <a:schemeClr val="accent1"/>
              </a:buClr>
              <a:buSzPct val="70000"/>
              <a:buFont typeface="Wingdings 2"/>
              <a:buNone/>
              <a:defRPr kumimoji="0" sz="3467" kern="1200">
                <a:solidFill>
                  <a:schemeClr val="tx1"/>
                </a:solidFill>
                <a:latin typeface="+mn-lt"/>
                <a:ea typeface="+mn-ea"/>
                <a:cs typeface="+mn-cs"/>
              </a:defRPr>
            </a:lvl2pPr>
            <a:lvl3pPr marL="1219170" indent="0" algn="ctr" rtl="0" eaLnBrk="1" latinLnBrk="0" hangingPunct="1">
              <a:spcBef>
                <a:spcPts val="667"/>
              </a:spcBef>
              <a:buClr>
                <a:schemeClr val="accent2"/>
              </a:buClr>
              <a:buSzPct val="75000"/>
              <a:buFont typeface="Wingdings"/>
              <a:buNone/>
              <a:defRPr kumimoji="0" sz="3067" kern="1200">
                <a:solidFill>
                  <a:schemeClr val="tx1"/>
                </a:solidFill>
                <a:latin typeface="+mn-lt"/>
                <a:ea typeface="+mn-ea"/>
                <a:cs typeface="+mn-cs"/>
              </a:defRPr>
            </a:lvl3pPr>
            <a:lvl4pPr marL="1828754" indent="0" algn="ctr" rtl="0" eaLnBrk="1" latinLnBrk="0" hangingPunct="1">
              <a:spcBef>
                <a:spcPts val="533"/>
              </a:spcBef>
              <a:buClr>
                <a:schemeClr val="accent3"/>
              </a:buClr>
              <a:buSzPct val="75000"/>
              <a:buFont typeface="Wingdings"/>
              <a:buNone/>
              <a:defRPr kumimoji="0" sz="2667" kern="1200">
                <a:solidFill>
                  <a:schemeClr val="tx1"/>
                </a:solidFill>
                <a:latin typeface="+mn-lt"/>
                <a:ea typeface="+mn-ea"/>
                <a:cs typeface="+mn-cs"/>
              </a:defRPr>
            </a:lvl4pPr>
            <a:lvl5pPr marL="2438339" indent="0" algn="ctr" rtl="0" eaLnBrk="1" latinLnBrk="0" hangingPunct="1">
              <a:spcBef>
                <a:spcPts val="533"/>
              </a:spcBef>
              <a:buClr>
                <a:schemeClr val="accent4"/>
              </a:buClr>
              <a:buSzPct val="65000"/>
              <a:buFont typeface="Wingdings"/>
              <a:buNone/>
              <a:defRPr kumimoji="0" sz="2667" kern="1200">
                <a:solidFill>
                  <a:schemeClr val="tx1"/>
                </a:solidFill>
                <a:latin typeface="+mn-lt"/>
                <a:ea typeface="+mn-ea"/>
                <a:cs typeface="+mn-cs"/>
              </a:defRPr>
            </a:lvl5pPr>
            <a:lvl6pPr marL="3047924" indent="0" algn="ctr"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657509" indent="0" algn="ctr" rtl="0" eaLnBrk="1" latinLnBrk="0" hangingPunct="1">
              <a:spcBef>
                <a:spcPct val="20000"/>
              </a:spcBef>
              <a:buClr>
                <a:schemeClr val="accent2"/>
              </a:buClr>
              <a:buFont typeface="Wingdings"/>
              <a:buNone/>
              <a:defRPr kumimoji="0" sz="2400" kern="1200" baseline="0">
                <a:solidFill>
                  <a:schemeClr val="tx1"/>
                </a:solidFill>
                <a:latin typeface="+mn-lt"/>
                <a:ea typeface="+mn-ea"/>
                <a:cs typeface="+mn-cs"/>
              </a:defRPr>
            </a:lvl7pPr>
            <a:lvl8pPr marL="4267093" indent="0" algn="ctr" rtl="0" eaLnBrk="1" latinLnBrk="0" hangingPunct="1">
              <a:spcBef>
                <a:spcPct val="20000"/>
              </a:spcBef>
              <a:buClr>
                <a:schemeClr val="accent3"/>
              </a:buClr>
              <a:buFont typeface="Wingdings"/>
              <a:buNone/>
              <a:defRPr kumimoji="0" sz="2400" kern="1200" baseline="0">
                <a:solidFill>
                  <a:schemeClr val="tx1"/>
                </a:solidFill>
                <a:latin typeface="+mn-lt"/>
                <a:ea typeface="+mn-ea"/>
                <a:cs typeface="+mn-cs"/>
              </a:defRPr>
            </a:lvl8pPr>
            <a:lvl9pPr marL="4876678" indent="0" algn="ctr" rtl="0" eaLnBrk="1" latinLnBrk="0" hangingPunct="1">
              <a:spcBef>
                <a:spcPct val="20000"/>
              </a:spcBef>
              <a:buClr>
                <a:schemeClr val="accent4"/>
              </a:buClr>
              <a:buFont typeface="Wingdings"/>
              <a:buNone/>
              <a:defRPr kumimoji="0" sz="2400" kern="1200" baseline="0">
                <a:solidFill>
                  <a:schemeClr val="tx1"/>
                </a:solidFill>
                <a:latin typeface="+mn-lt"/>
                <a:ea typeface="+mn-ea"/>
                <a:cs typeface="+mn-cs"/>
              </a:defRPr>
            </a:lvl9pPr>
            <a:extLst/>
          </a:lstStyle>
          <a:p>
            <a:pPr algn="ctr"/>
            <a:r>
              <a:rPr lang="en-US" dirty="0"/>
              <a:t>Zubair Shafiq</a:t>
            </a:r>
          </a:p>
        </p:txBody>
      </p:sp>
      <p:pic>
        <p:nvPicPr>
          <p:cNvPr id="5" name="Picture 4">
            <a:extLst>
              <a:ext uri="{FF2B5EF4-FFF2-40B4-BE49-F238E27FC236}">
                <a16:creationId xmlns:a16="http://schemas.microsoft.com/office/drawing/2014/main" id="{79B1FA90-8B92-4F8B-8C9F-9CDACCECDC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2823" y="4176728"/>
            <a:ext cx="461962" cy="461962"/>
          </a:xfrm>
          <a:prstGeom prst="roundRect">
            <a:avLst>
              <a:gd name="adj" fmla="val 37038"/>
            </a:avLst>
          </a:prstGeom>
          <a:solidFill>
            <a:srgbClr val="FFFFFF">
              <a:shade val="85000"/>
            </a:srgbClr>
          </a:solidFill>
          <a:ln>
            <a:noFill/>
          </a:ln>
          <a:effectLst/>
        </p:spPr>
      </p:pic>
      <p:sp>
        <p:nvSpPr>
          <p:cNvPr id="6" name="Subtitle 2">
            <a:extLst>
              <a:ext uri="{FF2B5EF4-FFF2-40B4-BE49-F238E27FC236}">
                <a16:creationId xmlns:a16="http://schemas.microsoft.com/office/drawing/2014/main" id="{E291CC5B-0D82-4AF4-840D-FE4ABAD5B000}"/>
              </a:ext>
            </a:extLst>
          </p:cNvPr>
          <p:cNvSpPr txBox="1">
            <a:spLocks/>
          </p:cNvSpPr>
          <p:nvPr/>
        </p:nvSpPr>
        <p:spPr>
          <a:xfrm>
            <a:off x="801189" y="4208176"/>
            <a:ext cx="5551715" cy="481565"/>
          </a:xfrm>
          <a:prstGeom prst="rect">
            <a:avLst/>
          </a:prstGeom>
        </p:spPr>
        <p:txBody>
          <a:bodyPr vert="horz" anchor="ctr">
            <a:normAutofit fontScale="77500" lnSpcReduction="20000"/>
          </a:bodyPr>
          <a:lstStyle>
            <a:lvl1pPr marL="0" indent="0" algn="l" rtl="0" eaLnBrk="1" latinLnBrk="0" hangingPunct="1">
              <a:spcBef>
                <a:spcPts val="933"/>
              </a:spcBef>
              <a:buClr>
                <a:schemeClr val="accent2"/>
              </a:buClr>
              <a:buSzPct val="60000"/>
              <a:buFont typeface="Wingdings"/>
              <a:buNone/>
              <a:defRPr kumimoji="0" sz="3733" kern="1200">
                <a:solidFill>
                  <a:srgbClr val="FFFFFF"/>
                </a:solidFill>
                <a:latin typeface="+mn-lt"/>
                <a:ea typeface="+mn-ea"/>
                <a:cs typeface="+mn-cs"/>
              </a:defRPr>
            </a:lvl1pPr>
            <a:lvl2pPr marL="609585" indent="0" algn="ctr" rtl="0" eaLnBrk="1" latinLnBrk="0" hangingPunct="1">
              <a:spcBef>
                <a:spcPts val="733"/>
              </a:spcBef>
              <a:buClr>
                <a:schemeClr val="accent1"/>
              </a:buClr>
              <a:buSzPct val="70000"/>
              <a:buFont typeface="Wingdings 2"/>
              <a:buNone/>
              <a:defRPr kumimoji="0" sz="3467" kern="1200">
                <a:solidFill>
                  <a:schemeClr val="tx1"/>
                </a:solidFill>
                <a:latin typeface="+mn-lt"/>
                <a:ea typeface="+mn-ea"/>
                <a:cs typeface="+mn-cs"/>
              </a:defRPr>
            </a:lvl2pPr>
            <a:lvl3pPr marL="1219170" indent="0" algn="ctr" rtl="0" eaLnBrk="1" latinLnBrk="0" hangingPunct="1">
              <a:spcBef>
                <a:spcPts val="667"/>
              </a:spcBef>
              <a:buClr>
                <a:schemeClr val="accent2"/>
              </a:buClr>
              <a:buSzPct val="75000"/>
              <a:buFont typeface="Wingdings"/>
              <a:buNone/>
              <a:defRPr kumimoji="0" sz="3067" kern="1200">
                <a:solidFill>
                  <a:schemeClr val="tx1"/>
                </a:solidFill>
                <a:latin typeface="+mn-lt"/>
                <a:ea typeface="+mn-ea"/>
                <a:cs typeface="+mn-cs"/>
              </a:defRPr>
            </a:lvl3pPr>
            <a:lvl4pPr marL="1828754" indent="0" algn="ctr" rtl="0" eaLnBrk="1" latinLnBrk="0" hangingPunct="1">
              <a:spcBef>
                <a:spcPts val="533"/>
              </a:spcBef>
              <a:buClr>
                <a:schemeClr val="accent3"/>
              </a:buClr>
              <a:buSzPct val="75000"/>
              <a:buFont typeface="Wingdings"/>
              <a:buNone/>
              <a:defRPr kumimoji="0" sz="2667" kern="1200">
                <a:solidFill>
                  <a:schemeClr val="tx1"/>
                </a:solidFill>
                <a:latin typeface="+mn-lt"/>
                <a:ea typeface="+mn-ea"/>
                <a:cs typeface="+mn-cs"/>
              </a:defRPr>
            </a:lvl4pPr>
            <a:lvl5pPr marL="2438339" indent="0" algn="ctr" rtl="0" eaLnBrk="1" latinLnBrk="0" hangingPunct="1">
              <a:spcBef>
                <a:spcPts val="533"/>
              </a:spcBef>
              <a:buClr>
                <a:schemeClr val="accent4"/>
              </a:buClr>
              <a:buSzPct val="65000"/>
              <a:buFont typeface="Wingdings"/>
              <a:buNone/>
              <a:defRPr kumimoji="0" sz="2667" kern="1200">
                <a:solidFill>
                  <a:schemeClr val="tx1"/>
                </a:solidFill>
                <a:latin typeface="+mn-lt"/>
                <a:ea typeface="+mn-ea"/>
                <a:cs typeface="+mn-cs"/>
              </a:defRPr>
            </a:lvl5pPr>
            <a:lvl6pPr marL="3047924" indent="0" algn="ctr"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657509" indent="0" algn="ctr" rtl="0" eaLnBrk="1" latinLnBrk="0" hangingPunct="1">
              <a:spcBef>
                <a:spcPct val="20000"/>
              </a:spcBef>
              <a:buClr>
                <a:schemeClr val="accent2"/>
              </a:buClr>
              <a:buFont typeface="Wingdings"/>
              <a:buNone/>
              <a:defRPr kumimoji="0" sz="2400" kern="1200" baseline="0">
                <a:solidFill>
                  <a:schemeClr val="tx1"/>
                </a:solidFill>
                <a:latin typeface="+mn-lt"/>
                <a:ea typeface="+mn-ea"/>
                <a:cs typeface="+mn-cs"/>
              </a:defRPr>
            </a:lvl7pPr>
            <a:lvl8pPr marL="4267093" indent="0" algn="ctr" rtl="0" eaLnBrk="1" latinLnBrk="0" hangingPunct="1">
              <a:spcBef>
                <a:spcPct val="20000"/>
              </a:spcBef>
              <a:buClr>
                <a:schemeClr val="accent3"/>
              </a:buClr>
              <a:buFont typeface="Wingdings"/>
              <a:buNone/>
              <a:defRPr kumimoji="0" sz="2400" kern="1200" baseline="0">
                <a:solidFill>
                  <a:schemeClr val="tx1"/>
                </a:solidFill>
                <a:latin typeface="+mn-lt"/>
                <a:ea typeface="+mn-ea"/>
                <a:cs typeface="+mn-cs"/>
              </a:defRPr>
            </a:lvl8pPr>
            <a:lvl9pPr marL="4876678" indent="0" algn="ctr" rtl="0" eaLnBrk="1" latinLnBrk="0" hangingPunct="1">
              <a:spcBef>
                <a:spcPct val="20000"/>
              </a:spcBef>
              <a:buClr>
                <a:schemeClr val="accent4"/>
              </a:buClr>
              <a:buFont typeface="Wingdings"/>
              <a:buNone/>
              <a:defRPr kumimoji="0" sz="2400" kern="1200" baseline="0">
                <a:solidFill>
                  <a:schemeClr val="tx1"/>
                </a:solidFill>
                <a:latin typeface="+mn-lt"/>
                <a:ea typeface="+mn-ea"/>
                <a:cs typeface="+mn-cs"/>
              </a:defRPr>
            </a:lvl9pPr>
            <a:extLst/>
          </a:lstStyle>
          <a:p>
            <a:pPr algn="ctr"/>
            <a:r>
              <a:rPr lang="en-US" dirty="0">
                <a:solidFill>
                  <a:schemeClr val="tx2">
                    <a:lumMod val="75000"/>
                  </a:schemeClr>
                </a:solidFill>
              </a:rPr>
              <a:t>@</a:t>
            </a:r>
            <a:r>
              <a:rPr lang="en-US" dirty="0" err="1">
                <a:solidFill>
                  <a:schemeClr val="tx2">
                    <a:lumMod val="75000"/>
                  </a:schemeClr>
                </a:solidFill>
              </a:rPr>
              <a:t>HmdMazhar</a:t>
            </a:r>
            <a:endParaRPr lang="en-US" dirty="0">
              <a:solidFill>
                <a:schemeClr val="tx2">
                  <a:lumMod val="75000"/>
                </a:schemeClr>
              </a:solidFill>
            </a:endParaRPr>
          </a:p>
        </p:txBody>
      </p:sp>
      <p:pic>
        <p:nvPicPr>
          <p:cNvPr id="7" name="Picture 6">
            <a:extLst>
              <a:ext uri="{FF2B5EF4-FFF2-40B4-BE49-F238E27FC236}">
                <a16:creationId xmlns:a16="http://schemas.microsoft.com/office/drawing/2014/main" id="{0E12471F-9B94-4AB8-8390-A401D518AE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7634" y="4176728"/>
            <a:ext cx="461962" cy="461962"/>
          </a:xfrm>
          <a:prstGeom prst="roundRect">
            <a:avLst>
              <a:gd name="adj" fmla="val 37038"/>
            </a:avLst>
          </a:prstGeom>
          <a:solidFill>
            <a:srgbClr val="FFFFFF">
              <a:shade val="85000"/>
            </a:srgbClr>
          </a:solidFill>
          <a:ln>
            <a:noFill/>
          </a:ln>
          <a:effectLst/>
        </p:spPr>
      </p:pic>
      <p:sp>
        <p:nvSpPr>
          <p:cNvPr id="8" name="Subtitle 2">
            <a:extLst>
              <a:ext uri="{FF2B5EF4-FFF2-40B4-BE49-F238E27FC236}">
                <a16:creationId xmlns:a16="http://schemas.microsoft.com/office/drawing/2014/main" id="{A1FBFE30-0981-4943-A58B-E5ABD5D6E630}"/>
              </a:ext>
            </a:extLst>
          </p:cNvPr>
          <p:cNvSpPr txBox="1">
            <a:spLocks/>
          </p:cNvSpPr>
          <p:nvPr/>
        </p:nvSpPr>
        <p:spPr>
          <a:xfrm>
            <a:off x="6191794" y="4183986"/>
            <a:ext cx="5551715" cy="481565"/>
          </a:xfrm>
          <a:prstGeom prst="rect">
            <a:avLst/>
          </a:prstGeom>
        </p:spPr>
        <p:txBody>
          <a:bodyPr vert="horz" anchor="ctr">
            <a:normAutofit fontScale="77500" lnSpcReduction="20000"/>
          </a:bodyPr>
          <a:lstStyle>
            <a:lvl1pPr marL="0" indent="0" algn="l" rtl="0" eaLnBrk="1" latinLnBrk="0" hangingPunct="1">
              <a:spcBef>
                <a:spcPts val="933"/>
              </a:spcBef>
              <a:buClr>
                <a:schemeClr val="accent2"/>
              </a:buClr>
              <a:buSzPct val="60000"/>
              <a:buFont typeface="Wingdings"/>
              <a:buNone/>
              <a:defRPr kumimoji="0" sz="3733" kern="1200">
                <a:solidFill>
                  <a:srgbClr val="FFFFFF"/>
                </a:solidFill>
                <a:latin typeface="+mn-lt"/>
                <a:ea typeface="+mn-ea"/>
                <a:cs typeface="+mn-cs"/>
              </a:defRPr>
            </a:lvl1pPr>
            <a:lvl2pPr marL="609585" indent="0" algn="ctr" rtl="0" eaLnBrk="1" latinLnBrk="0" hangingPunct="1">
              <a:spcBef>
                <a:spcPts val="733"/>
              </a:spcBef>
              <a:buClr>
                <a:schemeClr val="accent1"/>
              </a:buClr>
              <a:buSzPct val="70000"/>
              <a:buFont typeface="Wingdings 2"/>
              <a:buNone/>
              <a:defRPr kumimoji="0" sz="3467" kern="1200">
                <a:solidFill>
                  <a:schemeClr val="tx1"/>
                </a:solidFill>
                <a:latin typeface="+mn-lt"/>
                <a:ea typeface="+mn-ea"/>
                <a:cs typeface="+mn-cs"/>
              </a:defRPr>
            </a:lvl2pPr>
            <a:lvl3pPr marL="1219170" indent="0" algn="ctr" rtl="0" eaLnBrk="1" latinLnBrk="0" hangingPunct="1">
              <a:spcBef>
                <a:spcPts val="667"/>
              </a:spcBef>
              <a:buClr>
                <a:schemeClr val="accent2"/>
              </a:buClr>
              <a:buSzPct val="75000"/>
              <a:buFont typeface="Wingdings"/>
              <a:buNone/>
              <a:defRPr kumimoji="0" sz="3067" kern="1200">
                <a:solidFill>
                  <a:schemeClr val="tx1"/>
                </a:solidFill>
                <a:latin typeface="+mn-lt"/>
                <a:ea typeface="+mn-ea"/>
                <a:cs typeface="+mn-cs"/>
              </a:defRPr>
            </a:lvl3pPr>
            <a:lvl4pPr marL="1828754" indent="0" algn="ctr" rtl="0" eaLnBrk="1" latinLnBrk="0" hangingPunct="1">
              <a:spcBef>
                <a:spcPts val="533"/>
              </a:spcBef>
              <a:buClr>
                <a:schemeClr val="accent3"/>
              </a:buClr>
              <a:buSzPct val="75000"/>
              <a:buFont typeface="Wingdings"/>
              <a:buNone/>
              <a:defRPr kumimoji="0" sz="2667" kern="1200">
                <a:solidFill>
                  <a:schemeClr val="tx1"/>
                </a:solidFill>
                <a:latin typeface="+mn-lt"/>
                <a:ea typeface="+mn-ea"/>
                <a:cs typeface="+mn-cs"/>
              </a:defRPr>
            </a:lvl4pPr>
            <a:lvl5pPr marL="2438339" indent="0" algn="ctr" rtl="0" eaLnBrk="1" latinLnBrk="0" hangingPunct="1">
              <a:spcBef>
                <a:spcPts val="533"/>
              </a:spcBef>
              <a:buClr>
                <a:schemeClr val="accent4"/>
              </a:buClr>
              <a:buSzPct val="65000"/>
              <a:buFont typeface="Wingdings"/>
              <a:buNone/>
              <a:defRPr kumimoji="0" sz="2667" kern="1200">
                <a:solidFill>
                  <a:schemeClr val="tx1"/>
                </a:solidFill>
                <a:latin typeface="+mn-lt"/>
                <a:ea typeface="+mn-ea"/>
                <a:cs typeface="+mn-cs"/>
              </a:defRPr>
            </a:lvl5pPr>
            <a:lvl6pPr marL="3047924" indent="0" algn="ctr"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657509" indent="0" algn="ctr" rtl="0" eaLnBrk="1" latinLnBrk="0" hangingPunct="1">
              <a:spcBef>
                <a:spcPct val="20000"/>
              </a:spcBef>
              <a:buClr>
                <a:schemeClr val="accent2"/>
              </a:buClr>
              <a:buFont typeface="Wingdings"/>
              <a:buNone/>
              <a:defRPr kumimoji="0" sz="2400" kern="1200" baseline="0">
                <a:solidFill>
                  <a:schemeClr val="tx1"/>
                </a:solidFill>
                <a:latin typeface="+mn-lt"/>
                <a:ea typeface="+mn-ea"/>
                <a:cs typeface="+mn-cs"/>
              </a:defRPr>
            </a:lvl7pPr>
            <a:lvl8pPr marL="4267093" indent="0" algn="ctr" rtl="0" eaLnBrk="1" latinLnBrk="0" hangingPunct="1">
              <a:spcBef>
                <a:spcPct val="20000"/>
              </a:spcBef>
              <a:buClr>
                <a:schemeClr val="accent3"/>
              </a:buClr>
              <a:buFont typeface="Wingdings"/>
              <a:buNone/>
              <a:defRPr kumimoji="0" sz="2400" kern="1200" baseline="0">
                <a:solidFill>
                  <a:schemeClr val="tx1"/>
                </a:solidFill>
                <a:latin typeface="+mn-lt"/>
                <a:ea typeface="+mn-ea"/>
                <a:cs typeface="+mn-cs"/>
              </a:defRPr>
            </a:lvl8pPr>
            <a:lvl9pPr marL="4876678" indent="0" algn="ctr" rtl="0" eaLnBrk="1" latinLnBrk="0" hangingPunct="1">
              <a:spcBef>
                <a:spcPct val="20000"/>
              </a:spcBef>
              <a:buClr>
                <a:schemeClr val="accent4"/>
              </a:buClr>
              <a:buFont typeface="Wingdings"/>
              <a:buNone/>
              <a:defRPr kumimoji="0" sz="2400" kern="1200" baseline="0">
                <a:solidFill>
                  <a:schemeClr val="tx1"/>
                </a:solidFill>
                <a:latin typeface="+mn-lt"/>
                <a:ea typeface="+mn-ea"/>
                <a:cs typeface="+mn-cs"/>
              </a:defRPr>
            </a:lvl9pPr>
            <a:extLst/>
          </a:lstStyle>
          <a:p>
            <a:pPr algn="ctr"/>
            <a:r>
              <a:rPr lang="en-US" dirty="0">
                <a:solidFill>
                  <a:schemeClr val="tx1"/>
                </a:solidFill>
              </a:rPr>
              <a:t>@</a:t>
            </a:r>
            <a:r>
              <a:rPr lang="en-US" dirty="0" err="1">
                <a:solidFill>
                  <a:schemeClr val="tx1"/>
                </a:solidFill>
              </a:rPr>
              <a:t>zubair_shafiq</a:t>
            </a:r>
            <a:endParaRPr lang="en-US" dirty="0">
              <a:solidFill>
                <a:schemeClr val="tx1"/>
              </a:solidFill>
            </a:endParaRPr>
          </a:p>
        </p:txBody>
      </p:sp>
      <p:sp>
        <p:nvSpPr>
          <p:cNvPr id="9" name="Subtitle 2">
            <a:extLst>
              <a:ext uri="{FF2B5EF4-FFF2-40B4-BE49-F238E27FC236}">
                <a16:creationId xmlns:a16="http://schemas.microsoft.com/office/drawing/2014/main" id="{038CCC8E-6C00-4479-AEF8-630DA4B33BAF}"/>
              </a:ext>
            </a:extLst>
          </p:cNvPr>
          <p:cNvSpPr txBox="1">
            <a:spLocks/>
          </p:cNvSpPr>
          <p:nvPr/>
        </p:nvSpPr>
        <p:spPr>
          <a:xfrm>
            <a:off x="2894148" y="5088951"/>
            <a:ext cx="6403703" cy="685800"/>
          </a:xfrm>
          <a:prstGeom prst="rect">
            <a:avLst/>
          </a:prstGeom>
        </p:spPr>
        <p:txBody>
          <a:bodyPr vert="horz" anchor="ctr">
            <a:normAutofit/>
          </a:bodyPr>
          <a:lstStyle>
            <a:lvl1pPr marL="0" indent="0" algn="l" rtl="0" eaLnBrk="1" latinLnBrk="0" hangingPunct="1">
              <a:spcBef>
                <a:spcPts val="933"/>
              </a:spcBef>
              <a:buClr>
                <a:schemeClr val="accent2"/>
              </a:buClr>
              <a:buSzPct val="60000"/>
              <a:buFont typeface="Wingdings"/>
              <a:buNone/>
              <a:defRPr kumimoji="0" sz="3733" kern="1200">
                <a:solidFill>
                  <a:srgbClr val="FFFFFF"/>
                </a:solidFill>
                <a:latin typeface="+mn-lt"/>
                <a:ea typeface="+mn-ea"/>
                <a:cs typeface="+mn-cs"/>
              </a:defRPr>
            </a:lvl1pPr>
            <a:lvl2pPr marL="609585" indent="0" algn="ctr" rtl="0" eaLnBrk="1" latinLnBrk="0" hangingPunct="1">
              <a:spcBef>
                <a:spcPts val="733"/>
              </a:spcBef>
              <a:buClr>
                <a:schemeClr val="accent1"/>
              </a:buClr>
              <a:buSzPct val="70000"/>
              <a:buFont typeface="Wingdings 2"/>
              <a:buNone/>
              <a:defRPr kumimoji="0" sz="3467" kern="1200">
                <a:solidFill>
                  <a:schemeClr val="tx1"/>
                </a:solidFill>
                <a:latin typeface="+mn-lt"/>
                <a:ea typeface="+mn-ea"/>
                <a:cs typeface="+mn-cs"/>
              </a:defRPr>
            </a:lvl2pPr>
            <a:lvl3pPr marL="1219170" indent="0" algn="ctr" rtl="0" eaLnBrk="1" latinLnBrk="0" hangingPunct="1">
              <a:spcBef>
                <a:spcPts val="667"/>
              </a:spcBef>
              <a:buClr>
                <a:schemeClr val="accent2"/>
              </a:buClr>
              <a:buSzPct val="75000"/>
              <a:buFont typeface="Wingdings"/>
              <a:buNone/>
              <a:defRPr kumimoji="0" sz="3067" kern="1200">
                <a:solidFill>
                  <a:schemeClr val="tx1"/>
                </a:solidFill>
                <a:latin typeface="+mn-lt"/>
                <a:ea typeface="+mn-ea"/>
                <a:cs typeface="+mn-cs"/>
              </a:defRPr>
            </a:lvl3pPr>
            <a:lvl4pPr marL="1828754" indent="0" algn="ctr" rtl="0" eaLnBrk="1" latinLnBrk="0" hangingPunct="1">
              <a:spcBef>
                <a:spcPts val="533"/>
              </a:spcBef>
              <a:buClr>
                <a:schemeClr val="accent3"/>
              </a:buClr>
              <a:buSzPct val="75000"/>
              <a:buFont typeface="Wingdings"/>
              <a:buNone/>
              <a:defRPr kumimoji="0" sz="2667" kern="1200">
                <a:solidFill>
                  <a:schemeClr val="tx1"/>
                </a:solidFill>
                <a:latin typeface="+mn-lt"/>
                <a:ea typeface="+mn-ea"/>
                <a:cs typeface="+mn-cs"/>
              </a:defRPr>
            </a:lvl4pPr>
            <a:lvl5pPr marL="2438339" indent="0" algn="ctr" rtl="0" eaLnBrk="1" latinLnBrk="0" hangingPunct="1">
              <a:spcBef>
                <a:spcPts val="533"/>
              </a:spcBef>
              <a:buClr>
                <a:schemeClr val="accent4"/>
              </a:buClr>
              <a:buSzPct val="65000"/>
              <a:buFont typeface="Wingdings"/>
              <a:buNone/>
              <a:defRPr kumimoji="0" sz="2667" kern="1200">
                <a:solidFill>
                  <a:schemeClr val="tx1"/>
                </a:solidFill>
                <a:latin typeface="+mn-lt"/>
                <a:ea typeface="+mn-ea"/>
                <a:cs typeface="+mn-cs"/>
              </a:defRPr>
            </a:lvl5pPr>
            <a:lvl6pPr marL="3047924" indent="0" algn="ctr"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657509" indent="0" algn="ctr" rtl="0" eaLnBrk="1" latinLnBrk="0" hangingPunct="1">
              <a:spcBef>
                <a:spcPct val="20000"/>
              </a:spcBef>
              <a:buClr>
                <a:schemeClr val="accent2"/>
              </a:buClr>
              <a:buFont typeface="Wingdings"/>
              <a:buNone/>
              <a:defRPr kumimoji="0" sz="2400" kern="1200" baseline="0">
                <a:solidFill>
                  <a:schemeClr val="tx1"/>
                </a:solidFill>
                <a:latin typeface="+mn-lt"/>
                <a:ea typeface="+mn-ea"/>
                <a:cs typeface="+mn-cs"/>
              </a:defRPr>
            </a:lvl7pPr>
            <a:lvl8pPr marL="4267093" indent="0" algn="ctr" rtl="0" eaLnBrk="1" latinLnBrk="0" hangingPunct="1">
              <a:spcBef>
                <a:spcPct val="20000"/>
              </a:spcBef>
              <a:buClr>
                <a:schemeClr val="accent3"/>
              </a:buClr>
              <a:buFont typeface="Wingdings"/>
              <a:buNone/>
              <a:defRPr kumimoji="0" sz="2400" kern="1200" baseline="0">
                <a:solidFill>
                  <a:schemeClr val="tx1"/>
                </a:solidFill>
                <a:latin typeface="+mn-lt"/>
                <a:ea typeface="+mn-ea"/>
                <a:cs typeface="+mn-cs"/>
              </a:defRPr>
            </a:lvl8pPr>
            <a:lvl9pPr marL="4876678" indent="0" algn="ctr" rtl="0" eaLnBrk="1" latinLnBrk="0" hangingPunct="1">
              <a:spcBef>
                <a:spcPct val="20000"/>
              </a:spcBef>
              <a:buClr>
                <a:schemeClr val="accent4"/>
              </a:buClr>
              <a:buFont typeface="Wingdings"/>
              <a:buNone/>
              <a:defRPr kumimoji="0" sz="2400" kern="1200" baseline="0">
                <a:solidFill>
                  <a:schemeClr val="tx1"/>
                </a:solidFill>
                <a:latin typeface="+mn-lt"/>
                <a:ea typeface="+mn-ea"/>
                <a:cs typeface="+mn-cs"/>
              </a:defRPr>
            </a:lvl9pPr>
            <a:extLst/>
          </a:lstStyle>
          <a:p>
            <a:pPr algn="ctr"/>
            <a:r>
              <a:rPr lang="en-US" dirty="0"/>
              <a:t>The University of Iowa</a:t>
            </a:r>
          </a:p>
        </p:txBody>
      </p:sp>
      <p:sp>
        <p:nvSpPr>
          <p:cNvPr id="10" name="TextBox 9">
            <a:extLst>
              <a:ext uri="{FF2B5EF4-FFF2-40B4-BE49-F238E27FC236}">
                <a16:creationId xmlns:a16="http://schemas.microsoft.com/office/drawing/2014/main" id="{255D320A-B5E2-4E5B-B30E-10D9976B9197}"/>
              </a:ext>
            </a:extLst>
          </p:cNvPr>
          <p:cNvSpPr txBox="1"/>
          <p:nvPr/>
        </p:nvSpPr>
        <p:spPr>
          <a:xfrm>
            <a:off x="463463" y="375781"/>
            <a:ext cx="3444658" cy="707886"/>
          </a:xfrm>
          <a:prstGeom prst="rect">
            <a:avLst/>
          </a:prstGeom>
          <a:noFill/>
        </p:spPr>
        <p:txBody>
          <a:bodyPr wrap="square" rtlCol="0">
            <a:spAutoFit/>
          </a:bodyPr>
          <a:lstStyle/>
          <a:p>
            <a:r>
              <a:rPr lang="en-US" sz="4000" dirty="0" err="1"/>
              <a:t>IoTDI</a:t>
            </a:r>
            <a:r>
              <a:rPr lang="en-US" sz="4000" dirty="0"/>
              <a:t> 2020</a:t>
            </a:r>
          </a:p>
        </p:txBody>
      </p:sp>
    </p:spTree>
    <p:extLst>
      <p:ext uri="{BB962C8B-B14F-4D97-AF65-F5344CB8AC3E}">
        <p14:creationId xmlns:p14="http://schemas.microsoft.com/office/powerpoint/2010/main" val="334261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4CFDC-611C-4D3E-A1E9-F5DE58D51BDE}"/>
              </a:ext>
            </a:extLst>
          </p:cNvPr>
          <p:cNvSpPr>
            <a:spLocks noGrp="1"/>
          </p:cNvSpPr>
          <p:nvPr>
            <p:ph type="title"/>
          </p:nvPr>
        </p:nvSpPr>
        <p:spPr/>
        <p:txBody>
          <a:bodyPr>
            <a:normAutofit/>
          </a:bodyPr>
          <a:lstStyle/>
          <a:p>
            <a:r>
              <a:rPr lang="en-US" sz="4800" dirty="0"/>
              <a:t>Smart Home IoT – A Target</a:t>
            </a:r>
          </a:p>
        </p:txBody>
      </p:sp>
      <p:sp>
        <p:nvSpPr>
          <p:cNvPr id="3" name="Footer Placeholder 2">
            <a:extLst>
              <a:ext uri="{FF2B5EF4-FFF2-40B4-BE49-F238E27FC236}">
                <a16:creationId xmlns:a16="http://schemas.microsoft.com/office/drawing/2014/main" id="{AD54AAF0-F555-426A-8F63-BB91BC983D6A}"/>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968AF8BC-96FC-418B-B353-C0F742A5B67E}"/>
              </a:ext>
            </a:extLst>
          </p:cNvPr>
          <p:cNvSpPr>
            <a:spLocks noGrp="1"/>
          </p:cNvSpPr>
          <p:nvPr>
            <p:ph type="sldNum" sz="quarter" idx="12"/>
          </p:nvPr>
        </p:nvSpPr>
        <p:spPr>
          <a:xfrm>
            <a:off x="64415" y="6308371"/>
            <a:ext cx="711200" cy="357938"/>
          </a:xfrm>
        </p:spPr>
        <p:txBody>
          <a:bodyPr>
            <a:normAutofit lnSpcReduction="10000"/>
          </a:bodyPr>
          <a:lstStyle/>
          <a:p>
            <a:fld id="{2ABC7612-2C91-4738-8FA0-3151D896C48D}" type="slidenum">
              <a:rPr lang="en-US" smtClean="0">
                <a:solidFill>
                  <a:schemeClr val="tx1"/>
                </a:solidFill>
              </a:rPr>
              <a:t>2</a:t>
            </a:fld>
            <a:endParaRPr lang="en-US" dirty="0">
              <a:solidFill>
                <a:schemeClr val="tx1"/>
              </a:solidFill>
            </a:endParaRPr>
          </a:p>
        </p:txBody>
      </p:sp>
      <p:pic>
        <p:nvPicPr>
          <p:cNvPr id="8" name="Picture 7">
            <a:extLst>
              <a:ext uri="{FF2B5EF4-FFF2-40B4-BE49-F238E27FC236}">
                <a16:creationId xmlns:a16="http://schemas.microsoft.com/office/drawing/2014/main" id="{D0912ADD-5B7C-4438-9FD0-C635464C6FA0}"/>
              </a:ext>
            </a:extLst>
          </p:cNvPr>
          <p:cNvPicPr>
            <a:picLocks noChangeAspect="1"/>
          </p:cNvPicPr>
          <p:nvPr/>
        </p:nvPicPr>
        <p:blipFill>
          <a:blip r:embed="rId3"/>
          <a:stretch>
            <a:fillRect/>
          </a:stretch>
        </p:blipFill>
        <p:spPr>
          <a:xfrm>
            <a:off x="730278" y="2167016"/>
            <a:ext cx="5967422" cy="1548262"/>
          </a:xfrm>
          <a:prstGeom prst="rect">
            <a:avLst/>
          </a:prstGeom>
        </p:spPr>
      </p:pic>
      <p:pic>
        <p:nvPicPr>
          <p:cNvPr id="9" name="Picture 8">
            <a:extLst>
              <a:ext uri="{FF2B5EF4-FFF2-40B4-BE49-F238E27FC236}">
                <a16:creationId xmlns:a16="http://schemas.microsoft.com/office/drawing/2014/main" id="{0A27E2D5-6E85-404A-A9E1-5FBA35614C5A}"/>
              </a:ext>
            </a:extLst>
          </p:cNvPr>
          <p:cNvPicPr>
            <a:picLocks noChangeAspect="1"/>
          </p:cNvPicPr>
          <p:nvPr/>
        </p:nvPicPr>
        <p:blipFill>
          <a:blip r:embed="rId4"/>
          <a:stretch>
            <a:fillRect/>
          </a:stretch>
        </p:blipFill>
        <p:spPr>
          <a:xfrm>
            <a:off x="926673" y="4084086"/>
            <a:ext cx="5574632" cy="1729930"/>
          </a:xfrm>
          <a:prstGeom prst="rect">
            <a:avLst/>
          </a:prstGeom>
        </p:spPr>
      </p:pic>
      <p:pic>
        <p:nvPicPr>
          <p:cNvPr id="11" name="Picture 10">
            <a:extLst>
              <a:ext uri="{FF2B5EF4-FFF2-40B4-BE49-F238E27FC236}">
                <a16:creationId xmlns:a16="http://schemas.microsoft.com/office/drawing/2014/main" id="{7D0A7703-DEB8-4D31-B340-51411AFBF209}"/>
              </a:ext>
            </a:extLst>
          </p:cNvPr>
          <p:cNvPicPr>
            <a:picLocks noChangeAspect="1"/>
          </p:cNvPicPr>
          <p:nvPr/>
        </p:nvPicPr>
        <p:blipFill>
          <a:blip r:embed="rId5"/>
          <a:stretch>
            <a:fillRect/>
          </a:stretch>
        </p:blipFill>
        <p:spPr>
          <a:xfrm>
            <a:off x="6595677" y="3099272"/>
            <a:ext cx="5596323" cy="1548262"/>
          </a:xfrm>
          <a:prstGeom prst="rect">
            <a:avLst/>
          </a:prstGeom>
        </p:spPr>
      </p:pic>
    </p:spTree>
    <p:extLst>
      <p:ext uri="{BB962C8B-B14F-4D97-AF65-F5344CB8AC3E}">
        <p14:creationId xmlns:p14="http://schemas.microsoft.com/office/powerpoint/2010/main" val="136879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51E67-E508-4B18-B9D0-D377B6FF8296}"/>
              </a:ext>
            </a:extLst>
          </p:cNvPr>
          <p:cNvSpPr>
            <a:spLocks noGrp="1"/>
          </p:cNvSpPr>
          <p:nvPr>
            <p:ph type="title"/>
          </p:nvPr>
        </p:nvSpPr>
        <p:spPr/>
        <p:txBody>
          <a:bodyPr>
            <a:normAutofit/>
          </a:bodyPr>
          <a:lstStyle/>
          <a:p>
            <a:r>
              <a:rPr lang="en-US" sz="4800" dirty="0"/>
              <a:t>Prior Work – Limitations and Challenges</a:t>
            </a:r>
          </a:p>
        </p:txBody>
      </p:sp>
      <p:sp>
        <p:nvSpPr>
          <p:cNvPr id="3" name="Footer Placeholder 2">
            <a:extLst>
              <a:ext uri="{FF2B5EF4-FFF2-40B4-BE49-F238E27FC236}">
                <a16:creationId xmlns:a16="http://schemas.microsoft.com/office/drawing/2014/main" id="{29A5EF53-4A1F-4BD4-83B0-5C8465B6B5A0}"/>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3078D39F-3E13-49E6-A869-B89F35B494B5}"/>
              </a:ext>
            </a:extLst>
          </p:cNvPr>
          <p:cNvSpPr>
            <a:spLocks noGrp="1"/>
          </p:cNvSpPr>
          <p:nvPr>
            <p:ph type="sldNum" sz="quarter" idx="12"/>
          </p:nvPr>
        </p:nvSpPr>
        <p:spPr>
          <a:xfrm>
            <a:off x="60160" y="6314075"/>
            <a:ext cx="711200" cy="357938"/>
          </a:xfrm>
        </p:spPr>
        <p:txBody>
          <a:bodyPr>
            <a:normAutofit lnSpcReduction="10000"/>
          </a:bodyPr>
          <a:lstStyle/>
          <a:p>
            <a:fld id="{2ABC7612-2C91-4738-8FA0-3151D896C48D}" type="slidenum">
              <a:rPr lang="en-US" smtClean="0">
                <a:solidFill>
                  <a:schemeClr val="tx1"/>
                </a:solidFill>
              </a:rPr>
              <a:t>3</a:t>
            </a:fld>
            <a:endParaRPr lang="en-US" dirty="0">
              <a:solidFill>
                <a:schemeClr val="tx1"/>
              </a:solidFill>
            </a:endParaRPr>
          </a:p>
        </p:txBody>
      </p:sp>
      <p:sp>
        <p:nvSpPr>
          <p:cNvPr id="5" name="Content Placeholder 4">
            <a:extLst>
              <a:ext uri="{FF2B5EF4-FFF2-40B4-BE49-F238E27FC236}">
                <a16:creationId xmlns:a16="http://schemas.microsoft.com/office/drawing/2014/main" id="{E77BB42B-131D-4910-AD6F-3D1D15E3CFCE}"/>
              </a:ext>
            </a:extLst>
          </p:cNvPr>
          <p:cNvSpPr>
            <a:spLocks noGrp="1"/>
          </p:cNvSpPr>
          <p:nvPr>
            <p:ph sz="quarter" idx="13"/>
          </p:nvPr>
        </p:nvSpPr>
        <p:spPr/>
        <p:txBody>
          <a:bodyPr>
            <a:normAutofit/>
          </a:bodyPr>
          <a:lstStyle/>
          <a:p>
            <a:r>
              <a:rPr lang="en-US" sz="3200" i="1" u="sng" dirty="0"/>
              <a:t>Fragmentation</a:t>
            </a:r>
          </a:p>
          <a:p>
            <a:pPr lvl="1"/>
            <a:r>
              <a:rPr lang="en-US" sz="2800" dirty="0"/>
              <a:t>Smart TVs [PETS ‘20], Alexa [</a:t>
            </a:r>
            <a:r>
              <a:rPr lang="en-US" sz="2800" dirty="0" err="1"/>
              <a:t>AsiaCCS</a:t>
            </a:r>
            <a:r>
              <a:rPr lang="en-US" sz="2800" dirty="0"/>
              <a:t> ‘19]</a:t>
            </a:r>
            <a:r>
              <a:rPr lang="en-US" sz="2800" i="1" dirty="0"/>
              <a:t>.</a:t>
            </a:r>
            <a:endParaRPr lang="en-US" sz="3200" dirty="0"/>
          </a:p>
          <a:p>
            <a:r>
              <a:rPr lang="en-US" sz="3200" i="1" u="sng" dirty="0"/>
              <a:t>Non-representative</a:t>
            </a:r>
            <a:endParaRPr lang="en-US" sz="3200" dirty="0"/>
          </a:p>
          <a:p>
            <a:pPr lvl="1"/>
            <a:r>
              <a:rPr lang="en-US" sz="2800" dirty="0"/>
              <a:t>Testbed environments [IMC ’19, S&amp;P ’19]</a:t>
            </a:r>
            <a:r>
              <a:rPr lang="en-US" sz="2800" i="1" dirty="0"/>
              <a:t>.</a:t>
            </a:r>
            <a:endParaRPr lang="en-US" sz="2800" dirty="0"/>
          </a:p>
          <a:p>
            <a:r>
              <a:rPr lang="en-US" sz="3200" i="1" u="sng" dirty="0"/>
              <a:t>Scale</a:t>
            </a:r>
            <a:endParaRPr lang="en-US" sz="3200" dirty="0"/>
          </a:p>
          <a:p>
            <a:pPr lvl="1"/>
            <a:r>
              <a:rPr lang="en-US" sz="2800" dirty="0"/>
              <a:t>Limited number of devices [PETS ’17, PETS ’19]</a:t>
            </a:r>
            <a:r>
              <a:rPr lang="en-US" sz="2800" i="1" u="sng" dirty="0"/>
              <a:t>.</a:t>
            </a:r>
            <a:endParaRPr lang="en-US" sz="2800" dirty="0"/>
          </a:p>
        </p:txBody>
      </p:sp>
    </p:spTree>
    <p:extLst>
      <p:ext uri="{BB962C8B-B14F-4D97-AF65-F5344CB8AC3E}">
        <p14:creationId xmlns:p14="http://schemas.microsoft.com/office/powerpoint/2010/main" val="147694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2B00-B910-4E89-A9FE-38ACE7C36B12}"/>
              </a:ext>
            </a:extLst>
          </p:cNvPr>
          <p:cNvSpPr>
            <a:spLocks noGrp="1"/>
          </p:cNvSpPr>
          <p:nvPr>
            <p:ph type="title"/>
          </p:nvPr>
        </p:nvSpPr>
        <p:spPr/>
        <p:txBody>
          <a:bodyPr>
            <a:normAutofit/>
          </a:bodyPr>
          <a:lstStyle/>
          <a:p>
            <a:r>
              <a:rPr lang="en-US" sz="4800" dirty="0"/>
              <a:t>Our Contributions</a:t>
            </a:r>
          </a:p>
        </p:txBody>
      </p:sp>
      <p:sp>
        <p:nvSpPr>
          <p:cNvPr id="3" name="Footer Placeholder 2">
            <a:extLst>
              <a:ext uri="{FF2B5EF4-FFF2-40B4-BE49-F238E27FC236}">
                <a16:creationId xmlns:a16="http://schemas.microsoft.com/office/drawing/2014/main" id="{0D546F73-D67C-4445-B512-B59093C39A9F}"/>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F5943BB5-7FF8-45AB-A275-E0D5D4450717}"/>
              </a:ext>
            </a:extLst>
          </p:cNvPr>
          <p:cNvSpPr>
            <a:spLocks noGrp="1"/>
          </p:cNvSpPr>
          <p:nvPr>
            <p:ph type="sldNum" sz="quarter" idx="12"/>
          </p:nvPr>
        </p:nvSpPr>
        <p:spPr>
          <a:xfrm>
            <a:off x="66600" y="6299614"/>
            <a:ext cx="711200" cy="357938"/>
          </a:xfrm>
        </p:spPr>
        <p:txBody>
          <a:bodyPr>
            <a:normAutofit lnSpcReduction="10000"/>
          </a:bodyPr>
          <a:lstStyle/>
          <a:p>
            <a:fld id="{2ABC7612-2C91-4738-8FA0-3151D896C48D}" type="slidenum">
              <a:rPr lang="en-US" smtClean="0">
                <a:solidFill>
                  <a:schemeClr val="tx1"/>
                </a:solidFill>
              </a:rPr>
              <a:t>4</a:t>
            </a:fld>
            <a:endParaRPr lang="en-US" dirty="0">
              <a:solidFill>
                <a:schemeClr val="tx1"/>
              </a:solidFill>
            </a:endParaRPr>
          </a:p>
        </p:txBody>
      </p:sp>
      <p:sp>
        <p:nvSpPr>
          <p:cNvPr id="5" name="Content Placeholder 4">
            <a:extLst>
              <a:ext uri="{FF2B5EF4-FFF2-40B4-BE49-F238E27FC236}">
                <a16:creationId xmlns:a16="http://schemas.microsoft.com/office/drawing/2014/main" id="{A00DD29B-296B-46D1-A491-58C80BA07C66}"/>
              </a:ext>
            </a:extLst>
          </p:cNvPr>
          <p:cNvSpPr>
            <a:spLocks noGrp="1"/>
          </p:cNvSpPr>
          <p:nvPr>
            <p:ph sz="quarter" idx="13"/>
          </p:nvPr>
        </p:nvSpPr>
        <p:spPr/>
        <p:txBody>
          <a:bodyPr>
            <a:normAutofit/>
          </a:bodyPr>
          <a:lstStyle/>
          <a:p>
            <a:r>
              <a:rPr lang="en-US" sz="3200" i="1" u="sng" dirty="0"/>
              <a:t>Fragmentation</a:t>
            </a:r>
          </a:p>
          <a:p>
            <a:pPr lvl="1"/>
            <a:r>
              <a:rPr lang="en-US" sz="2800" dirty="0"/>
              <a:t>Leverage the </a:t>
            </a:r>
            <a:r>
              <a:rPr lang="en-US" sz="2800" b="1" i="1" u="sng" dirty="0"/>
              <a:t>home gateway</a:t>
            </a:r>
            <a:r>
              <a:rPr lang="en-US" sz="2800" b="1" dirty="0"/>
              <a:t> </a:t>
            </a:r>
            <a:r>
              <a:rPr lang="en-US" sz="2800" dirty="0"/>
              <a:t>as the vantage point.</a:t>
            </a:r>
          </a:p>
          <a:p>
            <a:r>
              <a:rPr lang="en-US" sz="3200" i="1" u="sng" dirty="0"/>
              <a:t>Non-representative</a:t>
            </a:r>
          </a:p>
          <a:p>
            <a:pPr lvl="1"/>
            <a:r>
              <a:rPr lang="en-US" sz="2800" dirty="0"/>
              <a:t>Study smart home IoT behavior </a:t>
            </a:r>
            <a:r>
              <a:rPr lang="en-US" sz="2800" b="1" i="1" u="sng" dirty="0"/>
              <a:t>in the wild</a:t>
            </a:r>
            <a:r>
              <a:rPr lang="en-US" sz="2800" i="1" dirty="0"/>
              <a:t>.</a:t>
            </a:r>
            <a:endParaRPr lang="en-US" sz="2800" i="1" u="sng" dirty="0"/>
          </a:p>
          <a:p>
            <a:r>
              <a:rPr lang="en-US" sz="3200" i="1" u="sng" dirty="0"/>
              <a:t>Scale</a:t>
            </a:r>
          </a:p>
          <a:p>
            <a:pPr lvl="1"/>
            <a:r>
              <a:rPr lang="en-US" sz="2800" dirty="0"/>
              <a:t>Study </a:t>
            </a:r>
            <a:r>
              <a:rPr lang="en-US" sz="2800" b="1" i="1" u="sng" dirty="0"/>
              <a:t>over 200</a:t>
            </a:r>
            <a:r>
              <a:rPr lang="en-US" sz="2800" b="1" i="1" dirty="0"/>
              <a:t> </a:t>
            </a:r>
            <a:r>
              <a:rPr lang="en-US" sz="2800" dirty="0"/>
              <a:t>homes.</a:t>
            </a:r>
          </a:p>
        </p:txBody>
      </p:sp>
      <p:pic>
        <p:nvPicPr>
          <p:cNvPr id="6" name="Picture 5">
            <a:extLst>
              <a:ext uri="{FF2B5EF4-FFF2-40B4-BE49-F238E27FC236}">
                <a16:creationId xmlns:a16="http://schemas.microsoft.com/office/drawing/2014/main" id="{E91670AF-15A6-4AFB-8DBE-635092224E69}"/>
              </a:ext>
            </a:extLst>
          </p:cNvPr>
          <p:cNvPicPr>
            <a:picLocks noChangeAspect="1"/>
          </p:cNvPicPr>
          <p:nvPr/>
        </p:nvPicPr>
        <p:blipFill>
          <a:blip r:embed="rId3"/>
          <a:stretch>
            <a:fillRect/>
          </a:stretch>
        </p:blipFill>
        <p:spPr>
          <a:xfrm>
            <a:off x="8658255" y="2946400"/>
            <a:ext cx="3153215" cy="1314633"/>
          </a:xfrm>
          <a:prstGeom prst="rect">
            <a:avLst/>
          </a:prstGeom>
        </p:spPr>
      </p:pic>
    </p:spTree>
    <p:extLst>
      <p:ext uri="{BB962C8B-B14F-4D97-AF65-F5344CB8AC3E}">
        <p14:creationId xmlns:p14="http://schemas.microsoft.com/office/powerpoint/2010/main" val="3543887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6D54-2B5E-4161-BD36-2709F7B121A8}"/>
              </a:ext>
            </a:extLst>
          </p:cNvPr>
          <p:cNvSpPr>
            <a:spLocks noGrp="1"/>
          </p:cNvSpPr>
          <p:nvPr>
            <p:ph type="title"/>
          </p:nvPr>
        </p:nvSpPr>
        <p:spPr/>
        <p:txBody>
          <a:bodyPr>
            <a:normAutofit/>
          </a:bodyPr>
          <a:lstStyle/>
          <a:p>
            <a:r>
              <a:rPr lang="en-US" sz="4800" dirty="0"/>
              <a:t>Data Collection - Instrumentation</a:t>
            </a:r>
          </a:p>
        </p:txBody>
      </p:sp>
      <p:sp>
        <p:nvSpPr>
          <p:cNvPr id="3" name="Footer Placeholder 2">
            <a:extLst>
              <a:ext uri="{FF2B5EF4-FFF2-40B4-BE49-F238E27FC236}">
                <a16:creationId xmlns:a16="http://schemas.microsoft.com/office/drawing/2014/main" id="{F427B8EC-C2A7-4E31-B272-3A3848770FDC}"/>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3BC8987C-5B11-45DD-8539-D29525764940}"/>
              </a:ext>
            </a:extLst>
          </p:cNvPr>
          <p:cNvSpPr>
            <a:spLocks noGrp="1"/>
          </p:cNvSpPr>
          <p:nvPr>
            <p:ph type="sldNum" sz="quarter" idx="12"/>
          </p:nvPr>
        </p:nvSpPr>
        <p:spPr>
          <a:xfrm>
            <a:off x="72192" y="6310288"/>
            <a:ext cx="711200" cy="325398"/>
          </a:xfrm>
        </p:spPr>
        <p:txBody>
          <a:bodyPr>
            <a:normAutofit fontScale="92500" lnSpcReduction="10000"/>
          </a:bodyPr>
          <a:lstStyle/>
          <a:p>
            <a:fld id="{2ABC7612-2C91-4738-8FA0-3151D896C48D}" type="slidenum">
              <a:rPr lang="en-US" smtClean="0">
                <a:solidFill>
                  <a:schemeClr val="tx1"/>
                </a:solidFill>
              </a:rPr>
              <a:t>5</a:t>
            </a:fld>
            <a:endParaRPr lang="en-US" dirty="0">
              <a:solidFill>
                <a:schemeClr val="tx1"/>
              </a:solidFill>
            </a:endParaRPr>
          </a:p>
        </p:txBody>
      </p:sp>
      <p:sp>
        <p:nvSpPr>
          <p:cNvPr id="5" name="Content Placeholder 4">
            <a:extLst>
              <a:ext uri="{FF2B5EF4-FFF2-40B4-BE49-F238E27FC236}">
                <a16:creationId xmlns:a16="http://schemas.microsoft.com/office/drawing/2014/main" id="{0877A169-E0F2-4155-BDBD-44646073AB8F}"/>
              </a:ext>
            </a:extLst>
          </p:cNvPr>
          <p:cNvSpPr>
            <a:spLocks noGrp="1"/>
          </p:cNvSpPr>
          <p:nvPr>
            <p:ph sz="quarter" idx="13"/>
          </p:nvPr>
        </p:nvSpPr>
        <p:spPr/>
        <p:txBody>
          <a:bodyPr>
            <a:normAutofit/>
          </a:bodyPr>
          <a:lstStyle/>
          <a:p>
            <a:r>
              <a:rPr lang="en-US" sz="3200" dirty="0"/>
              <a:t>Collect </a:t>
            </a:r>
            <a:r>
              <a:rPr lang="en-US" sz="3200" dirty="0" err="1"/>
              <a:t>Netflow</a:t>
            </a:r>
            <a:r>
              <a:rPr lang="en-US" sz="3200" dirty="0"/>
              <a:t>-style flow records at WAN interface of home gateway.</a:t>
            </a:r>
          </a:p>
          <a:p>
            <a:endParaRPr lang="en-US" sz="3200" dirty="0"/>
          </a:p>
          <a:p>
            <a:r>
              <a:rPr lang="en-US" sz="3200" dirty="0"/>
              <a:t>Device identification using DHCP, SSDP and UPnP traffic.</a:t>
            </a:r>
          </a:p>
          <a:p>
            <a:endParaRPr lang="en-US" sz="3200" dirty="0"/>
          </a:p>
          <a:p>
            <a:r>
              <a:rPr lang="en-US" sz="3200" i="1" dirty="0"/>
              <a:t>Anonymized</a:t>
            </a:r>
            <a:r>
              <a:rPr lang="en-US" sz="3200" dirty="0"/>
              <a:t> data collection (no public IP addresses or device MAC addresses) with user consent.</a:t>
            </a:r>
            <a:endParaRPr lang="en-US" sz="3200" i="1" dirty="0"/>
          </a:p>
        </p:txBody>
      </p:sp>
    </p:spTree>
    <p:extLst>
      <p:ext uri="{BB962C8B-B14F-4D97-AF65-F5344CB8AC3E}">
        <p14:creationId xmlns:p14="http://schemas.microsoft.com/office/powerpoint/2010/main" val="201153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45817-2924-4E13-844C-8345375CE1D7}"/>
              </a:ext>
            </a:extLst>
          </p:cNvPr>
          <p:cNvSpPr>
            <a:spLocks noGrp="1"/>
          </p:cNvSpPr>
          <p:nvPr>
            <p:ph type="title"/>
          </p:nvPr>
        </p:nvSpPr>
        <p:spPr/>
        <p:txBody>
          <a:bodyPr>
            <a:normAutofit/>
          </a:bodyPr>
          <a:lstStyle/>
          <a:p>
            <a:r>
              <a:rPr lang="en-US" sz="4800" dirty="0"/>
              <a:t>Data Statistics</a:t>
            </a:r>
          </a:p>
        </p:txBody>
      </p:sp>
      <p:sp>
        <p:nvSpPr>
          <p:cNvPr id="3" name="Footer Placeholder 2">
            <a:extLst>
              <a:ext uri="{FF2B5EF4-FFF2-40B4-BE49-F238E27FC236}">
                <a16:creationId xmlns:a16="http://schemas.microsoft.com/office/drawing/2014/main" id="{A787473A-5769-4823-80B7-BD1E9A655B66}"/>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F0ACD5B0-642E-4EAA-8987-FEB4EFC28110}"/>
              </a:ext>
            </a:extLst>
          </p:cNvPr>
          <p:cNvSpPr>
            <a:spLocks noGrp="1"/>
          </p:cNvSpPr>
          <p:nvPr>
            <p:ph type="sldNum" sz="quarter" idx="12"/>
          </p:nvPr>
        </p:nvSpPr>
        <p:spPr>
          <a:xfrm>
            <a:off x="48128" y="6277985"/>
            <a:ext cx="711200" cy="357938"/>
          </a:xfrm>
        </p:spPr>
        <p:txBody>
          <a:bodyPr>
            <a:normAutofit lnSpcReduction="10000"/>
          </a:bodyPr>
          <a:lstStyle/>
          <a:p>
            <a:fld id="{2ABC7612-2C91-4738-8FA0-3151D896C48D}" type="slidenum">
              <a:rPr lang="en-US" smtClean="0">
                <a:solidFill>
                  <a:schemeClr val="tx1"/>
                </a:solidFill>
              </a:rPr>
              <a:t>6</a:t>
            </a:fld>
            <a:endParaRPr lang="en-US">
              <a:solidFill>
                <a:schemeClr val="tx1"/>
              </a:solidFill>
            </a:endParaRPr>
          </a:p>
        </p:txBody>
      </p:sp>
      <p:sp>
        <p:nvSpPr>
          <p:cNvPr id="5" name="Content Placeholder 4">
            <a:extLst>
              <a:ext uri="{FF2B5EF4-FFF2-40B4-BE49-F238E27FC236}">
                <a16:creationId xmlns:a16="http://schemas.microsoft.com/office/drawing/2014/main" id="{DFB298C1-D6BD-4E0A-BBD4-F886B738AB9F}"/>
              </a:ext>
            </a:extLst>
          </p:cNvPr>
          <p:cNvSpPr>
            <a:spLocks noGrp="1"/>
          </p:cNvSpPr>
          <p:nvPr>
            <p:ph sz="quarter" idx="13"/>
          </p:nvPr>
        </p:nvSpPr>
        <p:spPr/>
        <p:txBody>
          <a:bodyPr/>
          <a:lstStyle/>
          <a:p>
            <a:r>
              <a:rPr lang="en-US" sz="3200" dirty="0"/>
              <a:t>1230 devices observed across 220 homes over 19-day period in February 2018.</a:t>
            </a:r>
          </a:p>
          <a:p>
            <a:pPr lvl="1"/>
            <a:r>
              <a:rPr lang="en-US" sz="2800" dirty="0"/>
              <a:t>240 IoT, 958 non-IoT.</a:t>
            </a:r>
          </a:p>
          <a:p>
            <a:endParaRPr lang="en-US" sz="3200" dirty="0"/>
          </a:p>
          <a:p>
            <a:r>
              <a:rPr lang="en-US" sz="3200" dirty="0"/>
              <a:t>66 unique IoT device types (make and model) across 8 categories.</a:t>
            </a:r>
          </a:p>
          <a:p>
            <a:pPr lvl="1"/>
            <a:r>
              <a:rPr lang="en-US" sz="2800" dirty="0"/>
              <a:t>Smart TVs, Cameras, Speakers, Assistants, Game Consoles, Home Automation, Work Appliances and Health/Wearables.</a:t>
            </a:r>
          </a:p>
          <a:p>
            <a:pPr marL="0" indent="0">
              <a:buNone/>
            </a:pPr>
            <a:endParaRPr lang="en-US" dirty="0"/>
          </a:p>
        </p:txBody>
      </p:sp>
    </p:spTree>
    <p:extLst>
      <p:ext uri="{BB962C8B-B14F-4D97-AF65-F5344CB8AC3E}">
        <p14:creationId xmlns:p14="http://schemas.microsoft.com/office/powerpoint/2010/main" val="344309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C1A9B-8848-4F21-AE10-EBCB74E9F34D}"/>
              </a:ext>
            </a:extLst>
          </p:cNvPr>
          <p:cNvSpPr>
            <a:spLocks noGrp="1"/>
          </p:cNvSpPr>
          <p:nvPr>
            <p:ph type="title"/>
          </p:nvPr>
        </p:nvSpPr>
        <p:spPr/>
        <p:txBody>
          <a:bodyPr>
            <a:normAutofit/>
          </a:bodyPr>
          <a:lstStyle/>
          <a:p>
            <a:r>
              <a:rPr lang="en-US" sz="4800" dirty="0"/>
              <a:t>Characterizing Smart Home IoT traffic</a:t>
            </a:r>
          </a:p>
        </p:txBody>
      </p:sp>
      <p:sp>
        <p:nvSpPr>
          <p:cNvPr id="3" name="Footer Placeholder 2">
            <a:extLst>
              <a:ext uri="{FF2B5EF4-FFF2-40B4-BE49-F238E27FC236}">
                <a16:creationId xmlns:a16="http://schemas.microsoft.com/office/drawing/2014/main" id="{B2B34524-2A7B-4A34-8CAB-24F1DA391BEC}"/>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3FD049E4-CEC0-4A04-A94A-1964AD14CC9C}"/>
              </a:ext>
            </a:extLst>
          </p:cNvPr>
          <p:cNvSpPr>
            <a:spLocks noGrp="1"/>
          </p:cNvSpPr>
          <p:nvPr>
            <p:ph type="sldNum" sz="quarter" idx="12"/>
          </p:nvPr>
        </p:nvSpPr>
        <p:spPr>
          <a:xfrm>
            <a:off x="72191" y="6266187"/>
            <a:ext cx="711200" cy="325398"/>
          </a:xfrm>
        </p:spPr>
        <p:txBody>
          <a:bodyPr>
            <a:normAutofit fontScale="92500" lnSpcReduction="10000"/>
          </a:bodyPr>
          <a:lstStyle/>
          <a:p>
            <a:fld id="{2ABC7612-2C91-4738-8FA0-3151D896C48D}" type="slidenum">
              <a:rPr lang="en-US" smtClean="0">
                <a:solidFill>
                  <a:schemeClr val="tx1"/>
                </a:solidFill>
              </a:rPr>
              <a:t>7</a:t>
            </a:fld>
            <a:endParaRPr lang="en-US" dirty="0">
              <a:solidFill>
                <a:schemeClr val="tx1"/>
              </a:solidFill>
            </a:endParaRPr>
          </a:p>
        </p:txBody>
      </p:sp>
      <p:sp>
        <p:nvSpPr>
          <p:cNvPr id="5" name="Content Placeholder 4">
            <a:extLst>
              <a:ext uri="{FF2B5EF4-FFF2-40B4-BE49-F238E27FC236}">
                <a16:creationId xmlns:a16="http://schemas.microsoft.com/office/drawing/2014/main" id="{DBE66748-9628-4D13-A057-6CA5AF5E2353}"/>
              </a:ext>
            </a:extLst>
          </p:cNvPr>
          <p:cNvSpPr>
            <a:spLocks noGrp="1"/>
          </p:cNvSpPr>
          <p:nvPr>
            <p:ph sz="quarter" idx="13"/>
          </p:nvPr>
        </p:nvSpPr>
        <p:spPr>
          <a:xfrm>
            <a:off x="812800" y="1803400"/>
            <a:ext cx="10871200" cy="723232"/>
          </a:xfrm>
        </p:spPr>
        <p:txBody>
          <a:bodyPr>
            <a:normAutofit/>
          </a:bodyPr>
          <a:lstStyle/>
          <a:p>
            <a:r>
              <a:rPr lang="en-US" sz="3200" dirty="0"/>
              <a:t>Three dimensions:</a:t>
            </a:r>
          </a:p>
        </p:txBody>
      </p:sp>
      <p:pic>
        <p:nvPicPr>
          <p:cNvPr id="9" name="Graphic 8">
            <a:extLst>
              <a:ext uri="{FF2B5EF4-FFF2-40B4-BE49-F238E27FC236}">
                <a16:creationId xmlns:a16="http://schemas.microsoft.com/office/drawing/2014/main" id="{121298C2-ECDB-44A5-9DD9-702954135E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9905" y="3429000"/>
            <a:ext cx="3976990" cy="2686030"/>
          </a:xfrm>
          <a:prstGeom prst="rect">
            <a:avLst/>
          </a:prstGeom>
        </p:spPr>
      </p:pic>
      <p:pic>
        <p:nvPicPr>
          <p:cNvPr id="11" name="Graphic 10">
            <a:extLst>
              <a:ext uri="{FF2B5EF4-FFF2-40B4-BE49-F238E27FC236}">
                <a16:creationId xmlns:a16="http://schemas.microsoft.com/office/drawing/2014/main" id="{BF9CCF1F-7904-4D44-8459-3688F5CA3E2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0208" y="3295823"/>
            <a:ext cx="3757297" cy="2819207"/>
          </a:xfrm>
          <a:prstGeom prst="rect">
            <a:avLst/>
          </a:prstGeom>
        </p:spPr>
      </p:pic>
      <p:sp>
        <p:nvSpPr>
          <p:cNvPr id="12" name="TextBox 11">
            <a:extLst>
              <a:ext uri="{FF2B5EF4-FFF2-40B4-BE49-F238E27FC236}">
                <a16:creationId xmlns:a16="http://schemas.microsoft.com/office/drawing/2014/main" id="{D520D871-C7A2-4EF4-BCA8-44C1FAD339FC}"/>
              </a:ext>
            </a:extLst>
          </p:cNvPr>
          <p:cNvSpPr txBox="1"/>
          <p:nvPr/>
        </p:nvSpPr>
        <p:spPr>
          <a:xfrm>
            <a:off x="8494295" y="3449754"/>
            <a:ext cx="3347497" cy="2553891"/>
          </a:xfrm>
          <a:prstGeom prst="roundRect">
            <a:avLst/>
          </a:prstGeom>
          <a:solidFill>
            <a:schemeClr val="bg1">
              <a:lumMod val="95000"/>
            </a:schemeClr>
          </a:solidFill>
          <a:ln w="28575">
            <a:solidFill>
              <a:schemeClr val="tx1"/>
            </a:solidFill>
          </a:ln>
        </p:spPr>
        <p:txBody>
          <a:bodyPr wrap="square" rtlCol="0">
            <a:spAutoFit/>
          </a:bodyPr>
          <a:lstStyle/>
          <a:p>
            <a:r>
              <a:rPr lang="en-US" sz="2400" dirty="0"/>
              <a:t>70-90% of traffic to Amazon, Google owned AS (higher backend centralization compared to 31% of overall Web).</a:t>
            </a:r>
          </a:p>
        </p:txBody>
      </p:sp>
      <p:sp>
        <p:nvSpPr>
          <p:cNvPr id="13" name="TextBox 12">
            <a:extLst>
              <a:ext uri="{FF2B5EF4-FFF2-40B4-BE49-F238E27FC236}">
                <a16:creationId xmlns:a16="http://schemas.microsoft.com/office/drawing/2014/main" id="{48A688A0-9B0B-4E4E-851C-0DCFDBAF6A34}"/>
              </a:ext>
            </a:extLst>
          </p:cNvPr>
          <p:cNvSpPr txBox="1"/>
          <p:nvPr/>
        </p:nvSpPr>
        <p:spPr>
          <a:xfrm>
            <a:off x="710203" y="2706010"/>
            <a:ext cx="3037305" cy="510778"/>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Volumetric</a:t>
            </a:r>
          </a:p>
        </p:txBody>
      </p:sp>
      <p:sp>
        <p:nvSpPr>
          <p:cNvPr id="14" name="TextBox 13">
            <a:extLst>
              <a:ext uri="{FF2B5EF4-FFF2-40B4-BE49-F238E27FC236}">
                <a16:creationId xmlns:a16="http://schemas.microsoft.com/office/drawing/2014/main" id="{933AFA9A-EECC-4B32-8741-34D53840E2A9}"/>
              </a:ext>
            </a:extLst>
          </p:cNvPr>
          <p:cNvSpPr txBox="1"/>
          <p:nvPr/>
        </p:nvSpPr>
        <p:spPr>
          <a:xfrm>
            <a:off x="4922252" y="2706010"/>
            <a:ext cx="3037305" cy="510778"/>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Temporal</a:t>
            </a:r>
          </a:p>
        </p:txBody>
      </p:sp>
      <p:sp>
        <p:nvSpPr>
          <p:cNvPr id="15" name="TextBox 14">
            <a:extLst>
              <a:ext uri="{FF2B5EF4-FFF2-40B4-BE49-F238E27FC236}">
                <a16:creationId xmlns:a16="http://schemas.microsoft.com/office/drawing/2014/main" id="{43C8DA20-6AD6-4BD4-B213-2929DB0651F8}"/>
              </a:ext>
            </a:extLst>
          </p:cNvPr>
          <p:cNvSpPr txBox="1"/>
          <p:nvPr/>
        </p:nvSpPr>
        <p:spPr>
          <a:xfrm>
            <a:off x="8646695" y="2706010"/>
            <a:ext cx="3037305" cy="510778"/>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Destination</a:t>
            </a:r>
          </a:p>
        </p:txBody>
      </p:sp>
      <p:sp>
        <p:nvSpPr>
          <p:cNvPr id="16" name="Rectangle 15">
            <a:extLst>
              <a:ext uri="{FF2B5EF4-FFF2-40B4-BE49-F238E27FC236}">
                <a16:creationId xmlns:a16="http://schemas.microsoft.com/office/drawing/2014/main" id="{A8DCB068-FBD5-41AE-A74D-F09D96ABB356}"/>
              </a:ext>
            </a:extLst>
          </p:cNvPr>
          <p:cNvSpPr/>
          <p:nvPr/>
        </p:nvSpPr>
        <p:spPr>
          <a:xfrm>
            <a:off x="655320" y="3295823"/>
            <a:ext cx="692217" cy="2503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A70A088-B5E5-45EC-B81A-FEC60DCE7D6F}"/>
              </a:ext>
            </a:extLst>
          </p:cNvPr>
          <p:cNvSpPr txBox="1"/>
          <p:nvPr/>
        </p:nvSpPr>
        <p:spPr>
          <a:xfrm>
            <a:off x="1737360" y="3550920"/>
            <a:ext cx="2010148" cy="715089"/>
          </a:xfrm>
          <a:prstGeom prst="roundRect">
            <a:avLst/>
          </a:prstGeom>
          <a:solidFill>
            <a:schemeClr val="bg1">
              <a:lumMod val="95000"/>
            </a:schemeClr>
          </a:solidFill>
          <a:ln w="19050">
            <a:solidFill>
              <a:schemeClr val="tx1"/>
            </a:solidFill>
          </a:ln>
        </p:spPr>
        <p:txBody>
          <a:bodyPr wrap="square" rtlCol="0">
            <a:spAutoFit/>
          </a:bodyPr>
          <a:lstStyle/>
          <a:p>
            <a:r>
              <a:rPr lang="en-US" dirty="0"/>
              <a:t>Sub-KB control flows.</a:t>
            </a:r>
          </a:p>
        </p:txBody>
      </p:sp>
      <p:sp>
        <p:nvSpPr>
          <p:cNvPr id="18" name="Rectangle 17">
            <a:extLst>
              <a:ext uri="{FF2B5EF4-FFF2-40B4-BE49-F238E27FC236}">
                <a16:creationId xmlns:a16="http://schemas.microsoft.com/office/drawing/2014/main" id="{1EE80275-474F-4CC9-9879-FE4ACAFFCCF7}"/>
              </a:ext>
            </a:extLst>
          </p:cNvPr>
          <p:cNvSpPr/>
          <p:nvPr/>
        </p:nvSpPr>
        <p:spPr>
          <a:xfrm>
            <a:off x="5387341" y="3449754"/>
            <a:ext cx="198120" cy="7336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D312EC4-E3F5-445B-A7EE-8638709BEC7D}"/>
              </a:ext>
            </a:extLst>
          </p:cNvPr>
          <p:cNvSpPr/>
          <p:nvPr/>
        </p:nvSpPr>
        <p:spPr>
          <a:xfrm>
            <a:off x="6263641" y="3449754"/>
            <a:ext cx="198120" cy="7336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784128-A72B-4AAF-8FF4-CEAD474137C5}"/>
              </a:ext>
            </a:extLst>
          </p:cNvPr>
          <p:cNvSpPr/>
          <p:nvPr/>
        </p:nvSpPr>
        <p:spPr>
          <a:xfrm>
            <a:off x="7151208" y="3461730"/>
            <a:ext cx="198120" cy="7336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A0DC8A5-FE0A-4E5A-880E-BB8C16877440}"/>
              </a:ext>
            </a:extLst>
          </p:cNvPr>
          <p:cNvSpPr txBox="1"/>
          <p:nvPr/>
        </p:nvSpPr>
        <p:spPr>
          <a:xfrm>
            <a:off x="4922252" y="4363392"/>
            <a:ext cx="2888248" cy="408623"/>
          </a:xfrm>
          <a:prstGeom prst="roundRect">
            <a:avLst/>
          </a:prstGeom>
          <a:solidFill>
            <a:schemeClr val="bg1">
              <a:lumMod val="95000"/>
            </a:schemeClr>
          </a:solidFill>
          <a:ln w="19050">
            <a:solidFill>
              <a:schemeClr val="tx1"/>
            </a:solidFill>
          </a:ln>
        </p:spPr>
        <p:txBody>
          <a:bodyPr wrap="square" rtlCol="0">
            <a:spAutoFit/>
          </a:bodyPr>
          <a:lstStyle/>
          <a:p>
            <a:r>
              <a:rPr lang="en-US" dirty="0"/>
              <a:t>Sub-hour ‘heartbeat’ traffic.</a:t>
            </a:r>
          </a:p>
        </p:txBody>
      </p:sp>
      <p:sp>
        <p:nvSpPr>
          <p:cNvPr id="23" name="TextBox 22">
            <a:extLst>
              <a:ext uri="{FF2B5EF4-FFF2-40B4-BE49-F238E27FC236}">
                <a16:creationId xmlns:a16="http://schemas.microsoft.com/office/drawing/2014/main" id="{DCC8C21C-3819-4DD2-B227-9223E0494030}"/>
              </a:ext>
            </a:extLst>
          </p:cNvPr>
          <p:cNvSpPr txBox="1"/>
          <p:nvPr/>
        </p:nvSpPr>
        <p:spPr>
          <a:xfrm>
            <a:off x="828041" y="3150761"/>
            <a:ext cx="10340975" cy="1600438"/>
          </a:xfrm>
          <a:prstGeom prst="roundRect">
            <a:avLst/>
          </a:prstGeom>
          <a:solidFill>
            <a:schemeClr val="bg1">
              <a:lumMod val="95000"/>
            </a:schemeClr>
          </a:solidFill>
          <a:ln w="38100">
            <a:solidFill>
              <a:schemeClr val="accent1"/>
            </a:solidFill>
          </a:ln>
        </p:spPr>
        <p:txBody>
          <a:bodyPr wrap="square" rtlCol="0">
            <a:spAutoFit/>
          </a:bodyPr>
          <a:lstStyle/>
          <a:p>
            <a:pPr algn="ctr"/>
            <a:r>
              <a:rPr lang="en-US" sz="4400" dirty="0">
                <a:solidFill>
                  <a:srgbClr val="FF0000"/>
                </a:solidFill>
              </a:rPr>
              <a:t>Device functionality determines traffic characteristics in Smart Home IoT.</a:t>
            </a:r>
          </a:p>
        </p:txBody>
      </p:sp>
    </p:spTree>
    <p:extLst>
      <p:ext uri="{BB962C8B-B14F-4D97-AF65-F5344CB8AC3E}">
        <p14:creationId xmlns:p14="http://schemas.microsoft.com/office/powerpoint/2010/main" val="175222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9" presetClass="emph" presetSubtype="0" grpId="1" nodeType="clickEffect">
                                  <p:stCondLst>
                                    <p:cond delay="0"/>
                                  </p:stCondLst>
                                  <p:childTnLst>
                                    <p:set>
                                      <p:cBhvr>
                                        <p:cTn id="46" dur="indefinite"/>
                                        <p:tgtEl>
                                          <p:spTgt spid="5">
                                            <p:txEl>
                                              <p:pRg st="0" end="0"/>
                                            </p:txEl>
                                          </p:spTgt>
                                        </p:tgtEl>
                                        <p:attrNameLst>
                                          <p:attrName>style.opacity</p:attrName>
                                        </p:attrNameLst>
                                      </p:cBhvr>
                                      <p:to>
                                        <p:strVal val="0.25"/>
                                      </p:to>
                                    </p:set>
                                    <p:animEffect filter="image" prLst="opacity: 0.25">
                                      <p:cBhvr rctx="IE">
                                        <p:cTn id="47" dur="indefinite"/>
                                        <p:tgtEl>
                                          <p:spTgt spid="5">
                                            <p:txEl>
                                              <p:pRg st="0" end="0"/>
                                            </p:txEl>
                                          </p:spTgt>
                                        </p:tgtEl>
                                      </p:cBhvr>
                                    </p:animEffect>
                                  </p:childTnLst>
                                </p:cTn>
                              </p:par>
                              <p:par>
                                <p:cTn id="48" presetID="9" presetClass="emph" presetSubtype="0" grpId="1" nodeType="withEffect">
                                  <p:stCondLst>
                                    <p:cond delay="0"/>
                                  </p:stCondLst>
                                  <p:childTnLst>
                                    <p:set>
                                      <p:cBhvr>
                                        <p:cTn id="49" dur="indefinite"/>
                                        <p:tgtEl>
                                          <p:spTgt spid="13"/>
                                        </p:tgtEl>
                                        <p:attrNameLst>
                                          <p:attrName>style.opacity</p:attrName>
                                        </p:attrNameLst>
                                      </p:cBhvr>
                                      <p:to>
                                        <p:strVal val="0.25"/>
                                      </p:to>
                                    </p:set>
                                    <p:animEffect filter="image" prLst="opacity: 0.25">
                                      <p:cBhvr rctx="IE">
                                        <p:cTn id="50" dur="indefinite"/>
                                        <p:tgtEl>
                                          <p:spTgt spid="13"/>
                                        </p:tgtEl>
                                      </p:cBhvr>
                                    </p:animEffect>
                                  </p:childTnLst>
                                </p:cTn>
                              </p:par>
                              <p:par>
                                <p:cTn id="51" presetID="9" presetClass="emph" presetSubtype="0" grpId="1" nodeType="withEffect">
                                  <p:stCondLst>
                                    <p:cond delay="0"/>
                                  </p:stCondLst>
                                  <p:childTnLst>
                                    <p:set>
                                      <p:cBhvr>
                                        <p:cTn id="52" dur="indefinite"/>
                                        <p:tgtEl>
                                          <p:spTgt spid="14"/>
                                        </p:tgtEl>
                                        <p:attrNameLst>
                                          <p:attrName>style.opacity</p:attrName>
                                        </p:attrNameLst>
                                      </p:cBhvr>
                                      <p:to>
                                        <p:strVal val="0.25"/>
                                      </p:to>
                                    </p:set>
                                    <p:animEffect filter="image" prLst="opacity: 0.25">
                                      <p:cBhvr rctx="IE">
                                        <p:cTn id="53" dur="indefinite"/>
                                        <p:tgtEl>
                                          <p:spTgt spid="14"/>
                                        </p:tgtEl>
                                      </p:cBhvr>
                                    </p:animEffect>
                                  </p:childTnLst>
                                </p:cTn>
                              </p:par>
                              <p:par>
                                <p:cTn id="54" presetID="9" presetClass="emph" presetSubtype="0" grpId="1" nodeType="withEffect">
                                  <p:stCondLst>
                                    <p:cond delay="0"/>
                                  </p:stCondLst>
                                  <p:childTnLst>
                                    <p:set>
                                      <p:cBhvr>
                                        <p:cTn id="55" dur="indefinite"/>
                                        <p:tgtEl>
                                          <p:spTgt spid="15"/>
                                        </p:tgtEl>
                                        <p:attrNameLst>
                                          <p:attrName>style.opacity</p:attrName>
                                        </p:attrNameLst>
                                      </p:cBhvr>
                                      <p:to>
                                        <p:strVal val="0.25"/>
                                      </p:to>
                                    </p:set>
                                    <p:animEffect filter="image" prLst="opacity: 0.25">
                                      <p:cBhvr rctx="IE">
                                        <p:cTn id="56" dur="indefinite"/>
                                        <p:tgtEl>
                                          <p:spTgt spid="15"/>
                                        </p:tgtEl>
                                      </p:cBhvr>
                                    </p:animEffect>
                                  </p:childTnLst>
                                </p:cTn>
                              </p:par>
                              <p:par>
                                <p:cTn id="57" presetID="9" presetClass="emph" presetSubtype="0" nodeType="withEffect">
                                  <p:stCondLst>
                                    <p:cond delay="0"/>
                                  </p:stCondLst>
                                  <p:childTnLst>
                                    <p:set>
                                      <p:cBhvr>
                                        <p:cTn id="58" dur="indefinite"/>
                                        <p:tgtEl>
                                          <p:spTgt spid="11"/>
                                        </p:tgtEl>
                                        <p:attrNameLst>
                                          <p:attrName>style.opacity</p:attrName>
                                        </p:attrNameLst>
                                      </p:cBhvr>
                                      <p:to>
                                        <p:strVal val="0.25"/>
                                      </p:to>
                                    </p:set>
                                    <p:animEffect filter="image" prLst="opacity: 0.25">
                                      <p:cBhvr rctx="IE">
                                        <p:cTn id="59" dur="indefinite"/>
                                        <p:tgtEl>
                                          <p:spTgt spid="11"/>
                                        </p:tgtEl>
                                      </p:cBhvr>
                                    </p:animEffect>
                                  </p:childTnLst>
                                </p:cTn>
                              </p:par>
                              <p:par>
                                <p:cTn id="60" presetID="9" presetClass="emph" presetSubtype="0" grpId="1" nodeType="withEffect">
                                  <p:stCondLst>
                                    <p:cond delay="0"/>
                                  </p:stCondLst>
                                  <p:childTnLst>
                                    <p:set>
                                      <p:cBhvr>
                                        <p:cTn id="61" dur="indefinite"/>
                                        <p:tgtEl>
                                          <p:spTgt spid="16"/>
                                        </p:tgtEl>
                                        <p:attrNameLst>
                                          <p:attrName>style.opacity</p:attrName>
                                        </p:attrNameLst>
                                      </p:cBhvr>
                                      <p:to>
                                        <p:strVal val="0.25"/>
                                      </p:to>
                                    </p:set>
                                    <p:animEffect filter="image" prLst="opacity: 0.25">
                                      <p:cBhvr rctx="IE">
                                        <p:cTn id="62" dur="indefinite"/>
                                        <p:tgtEl>
                                          <p:spTgt spid="16"/>
                                        </p:tgtEl>
                                      </p:cBhvr>
                                    </p:animEffect>
                                  </p:childTnLst>
                                </p:cTn>
                              </p:par>
                              <p:par>
                                <p:cTn id="63" presetID="9" presetClass="emph" presetSubtype="0" grpId="1" nodeType="withEffect">
                                  <p:stCondLst>
                                    <p:cond delay="0"/>
                                  </p:stCondLst>
                                  <p:childTnLst>
                                    <p:set>
                                      <p:cBhvr>
                                        <p:cTn id="64" dur="indefinite"/>
                                        <p:tgtEl>
                                          <p:spTgt spid="17"/>
                                        </p:tgtEl>
                                        <p:attrNameLst>
                                          <p:attrName>style.opacity</p:attrName>
                                        </p:attrNameLst>
                                      </p:cBhvr>
                                      <p:to>
                                        <p:strVal val="0.25"/>
                                      </p:to>
                                    </p:set>
                                    <p:animEffect filter="image" prLst="opacity: 0.25">
                                      <p:cBhvr rctx="IE">
                                        <p:cTn id="65" dur="indefinite"/>
                                        <p:tgtEl>
                                          <p:spTgt spid="17"/>
                                        </p:tgtEl>
                                      </p:cBhvr>
                                    </p:animEffect>
                                  </p:childTnLst>
                                </p:cTn>
                              </p:par>
                              <p:par>
                                <p:cTn id="66" presetID="9" presetClass="emph" presetSubtype="0" nodeType="withEffect">
                                  <p:stCondLst>
                                    <p:cond delay="0"/>
                                  </p:stCondLst>
                                  <p:childTnLst>
                                    <p:set>
                                      <p:cBhvr>
                                        <p:cTn id="67" dur="indefinite"/>
                                        <p:tgtEl>
                                          <p:spTgt spid="9"/>
                                        </p:tgtEl>
                                        <p:attrNameLst>
                                          <p:attrName>style.opacity</p:attrName>
                                        </p:attrNameLst>
                                      </p:cBhvr>
                                      <p:to>
                                        <p:strVal val="0.25"/>
                                      </p:to>
                                    </p:set>
                                    <p:animEffect filter="image" prLst="opacity: 0.25">
                                      <p:cBhvr rctx="IE">
                                        <p:cTn id="68" dur="indefinite"/>
                                        <p:tgtEl>
                                          <p:spTgt spid="9"/>
                                        </p:tgtEl>
                                      </p:cBhvr>
                                    </p:animEffect>
                                  </p:childTnLst>
                                </p:cTn>
                              </p:par>
                              <p:par>
                                <p:cTn id="69" presetID="9" presetClass="emph" presetSubtype="0" grpId="1" nodeType="withEffect">
                                  <p:stCondLst>
                                    <p:cond delay="0"/>
                                  </p:stCondLst>
                                  <p:childTnLst>
                                    <p:set>
                                      <p:cBhvr>
                                        <p:cTn id="70" dur="indefinite"/>
                                        <p:tgtEl>
                                          <p:spTgt spid="21"/>
                                        </p:tgtEl>
                                        <p:attrNameLst>
                                          <p:attrName>style.opacity</p:attrName>
                                        </p:attrNameLst>
                                      </p:cBhvr>
                                      <p:to>
                                        <p:strVal val="0.25"/>
                                      </p:to>
                                    </p:set>
                                    <p:animEffect filter="image" prLst="opacity: 0.25">
                                      <p:cBhvr rctx="IE">
                                        <p:cTn id="71" dur="indefinite"/>
                                        <p:tgtEl>
                                          <p:spTgt spid="21"/>
                                        </p:tgtEl>
                                      </p:cBhvr>
                                    </p:animEffect>
                                  </p:childTnLst>
                                </p:cTn>
                              </p:par>
                              <p:par>
                                <p:cTn id="72" presetID="9" presetClass="emph" presetSubtype="0" grpId="1" nodeType="withEffect">
                                  <p:stCondLst>
                                    <p:cond delay="0"/>
                                  </p:stCondLst>
                                  <p:childTnLst>
                                    <p:set>
                                      <p:cBhvr>
                                        <p:cTn id="73" dur="indefinite"/>
                                        <p:tgtEl>
                                          <p:spTgt spid="18"/>
                                        </p:tgtEl>
                                        <p:attrNameLst>
                                          <p:attrName>style.opacity</p:attrName>
                                        </p:attrNameLst>
                                      </p:cBhvr>
                                      <p:to>
                                        <p:strVal val="0.25"/>
                                      </p:to>
                                    </p:set>
                                    <p:animEffect filter="image" prLst="opacity: 0.25">
                                      <p:cBhvr rctx="IE">
                                        <p:cTn id="74" dur="indefinite"/>
                                        <p:tgtEl>
                                          <p:spTgt spid="18"/>
                                        </p:tgtEl>
                                      </p:cBhvr>
                                    </p:animEffect>
                                  </p:childTnLst>
                                </p:cTn>
                              </p:par>
                              <p:par>
                                <p:cTn id="75" presetID="9" presetClass="emph" presetSubtype="0" grpId="1" nodeType="withEffect">
                                  <p:stCondLst>
                                    <p:cond delay="0"/>
                                  </p:stCondLst>
                                  <p:childTnLst>
                                    <p:set>
                                      <p:cBhvr>
                                        <p:cTn id="76" dur="indefinite"/>
                                        <p:tgtEl>
                                          <p:spTgt spid="20"/>
                                        </p:tgtEl>
                                        <p:attrNameLst>
                                          <p:attrName>style.opacity</p:attrName>
                                        </p:attrNameLst>
                                      </p:cBhvr>
                                      <p:to>
                                        <p:strVal val="0.25"/>
                                      </p:to>
                                    </p:set>
                                    <p:animEffect filter="image" prLst="opacity: 0.25">
                                      <p:cBhvr rctx="IE">
                                        <p:cTn id="77" dur="indefinite"/>
                                        <p:tgtEl>
                                          <p:spTgt spid="20"/>
                                        </p:tgtEl>
                                      </p:cBhvr>
                                    </p:animEffect>
                                  </p:childTnLst>
                                </p:cTn>
                              </p:par>
                              <p:par>
                                <p:cTn id="78" presetID="9" presetClass="emph" presetSubtype="0" grpId="1" nodeType="withEffect">
                                  <p:stCondLst>
                                    <p:cond delay="0"/>
                                  </p:stCondLst>
                                  <p:childTnLst>
                                    <p:set>
                                      <p:cBhvr>
                                        <p:cTn id="79" dur="indefinite"/>
                                        <p:tgtEl>
                                          <p:spTgt spid="19"/>
                                        </p:tgtEl>
                                        <p:attrNameLst>
                                          <p:attrName>style.opacity</p:attrName>
                                        </p:attrNameLst>
                                      </p:cBhvr>
                                      <p:to>
                                        <p:strVal val="0.25"/>
                                      </p:to>
                                    </p:set>
                                    <p:animEffect filter="image" prLst="opacity: 0.25">
                                      <p:cBhvr rctx="IE">
                                        <p:cTn id="80" dur="indefinite"/>
                                        <p:tgtEl>
                                          <p:spTgt spid="19"/>
                                        </p:tgtEl>
                                      </p:cBhvr>
                                    </p:animEffect>
                                  </p:childTnLst>
                                </p:cTn>
                              </p:par>
                              <p:par>
                                <p:cTn id="81" presetID="9" presetClass="emph" presetSubtype="0" grpId="1" nodeType="withEffect">
                                  <p:stCondLst>
                                    <p:cond delay="0"/>
                                  </p:stCondLst>
                                  <p:childTnLst>
                                    <p:set>
                                      <p:cBhvr>
                                        <p:cTn id="82" dur="indefinite"/>
                                        <p:tgtEl>
                                          <p:spTgt spid="12"/>
                                        </p:tgtEl>
                                        <p:attrNameLst>
                                          <p:attrName>style.opacity</p:attrName>
                                        </p:attrNameLst>
                                      </p:cBhvr>
                                      <p:to>
                                        <p:strVal val="0.25"/>
                                      </p:to>
                                    </p:set>
                                    <p:animEffect filter="image" prLst="opacity: 0.25">
                                      <p:cBhvr rctx="IE">
                                        <p:cTn id="83" dur="indefinite"/>
                                        <p:tgtEl>
                                          <p:spTgt spid="12"/>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8B556-82FB-4A9F-8D16-177B75E0DE5F}"/>
              </a:ext>
            </a:extLst>
          </p:cNvPr>
          <p:cNvSpPr>
            <a:spLocks noGrp="1"/>
          </p:cNvSpPr>
          <p:nvPr>
            <p:ph type="title"/>
          </p:nvPr>
        </p:nvSpPr>
        <p:spPr>
          <a:xfrm>
            <a:off x="711201" y="157480"/>
            <a:ext cx="11119852" cy="1341120"/>
          </a:xfrm>
        </p:spPr>
        <p:txBody>
          <a:bodyPr>
            <a:noAutofit/>
          </a:bodyPr>
          <a:lstStyle/>
          <a:p>
            <a:r>
              <a:rPr lang="en-US" sz="4800" dirty="0"/>
              <a:t>Security/Privacy Issues in Smart Home IoT</a:t>
            </a:r>
          </a:p>
        </p:txBody>
      </p:sp>
      <p:sp>
        <p:nvSpPr>
          <p:cNvPr id="3" name="Footer Placeholder 2">
            <a:extLst>
              <a:ext uri="{FF2B5EF4-FFF2-40B4-BE49-F238E27FC236}">
                <a16:creationId xmlns:a16="http://schemas.microsoft.com/office/drawing/2014/main" id="{7955ABD5-1E90-45B0-915F-B02008325543}"/>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0DEA49E9-3B8C-473F-8192-4D0CA86FDA44}"/>
              </a:ext>
            </a:extLst>
          </p:cNvPr>
          <p:cNvSpPr>
            <a:spLocks noGrp="1"/>
          </p:cNvSpPr>
          <p:nvPr>
            <p:ph type="sldNum" sz="quarter" idx="12"/>
          </p:nvPr>
        </p:nvSpPr>
        <p:spPr>
          <a:xfrm>
            <a:off x="0" y="6261933"/>
            <a:ext cx="711200" cy="357938"/>
          </a:xfrm>
        </p:spPr>
        <p:txBody>
          <a:bodyPr>
            <a:normAutofit lnSpcReduction="10000"/>
          </a:bodyPr>
          <a:lstStyle/>
          <a:p>
            <a:fld id="{2ABC7612-2C91-4738-8FA0-3151D896C48D}" type="slidenum">
              <a:rPr lang="en-US" smtClean="0">
                <a:solidFill>
                  <a:schemeClr val="tx1"/>
                </a:solidFill>
              </a:rPr>
              <a:t>8</a:t>
            </a:fld>
            <a:endParaRPr lang="en-US">
              <a:solidFill>
                <a:schemeClr val="tx1"/>
              </a:solidFill>
            </a:endParaRPr>
          </a:p>
        </p:txBody>
      </p:sp>
      <p:sp>
        <p:nvSpPr>
          <p:cNvPr id="5" name="Content Placeholder 4">
            <a:extLst>
              <a:ext uri="{FF2B5EF4-FFF2-40B4-BE49-F238E27FC236}">
                <a16:creationId xmlns:a16="http://schemas.microsoft.com/office/drawing/2014/main" id="{8FF9ABAA-5105-4257-86E9-2CD0258012E1}"/>
              </a:ext>
            </a:extLst>
          </p:cNvPr>
          <p:cNvSpPr>
            <a:spLocks noGrp="1"/>
          </p:cNvSpPr>
          <p:nvPr>
            <p:ph sz="quarter" idx="13"/>
          </p:nvPr>
        </p:nvSpPr>
        <p:spPr/>
        <p:txBody>
          <a:bodyPr>
            <a:normAutofit/>
          </a:bodyPr>
          <a:lstStyle/>
          <a:p>
            <a:r>
              <a:rPr lang="en-US" sz="3200" dirty="0"/>
              <a:t>Highlight current issues and their implications.</a:t>
            </a:r>
          </a:p>
          <a:p>
            <a:r>
              <a:rPr lang="en-US" sz="3200" dirty="0"/>
              <a:t>4 case studies:</a:t>
            </a:r>
          </a:p>
          <a:p>
            <a:pPr lvl="1"/>
            <a:r>
              <a:rPr lang="en-US" sz="3200" b="1" dirty="0"/>
              <a:t>Security via Access Control.</a:t>
            </a:r>
          </a:p>
          <a:p>
            <a:pPr lvl="1"/>
            <a:r>
              <a:rPr lang="en-US" sz="3200" b="1" dirty="0"/>
              <a:t>Advertising/Tracking.</a:t>
            </a:r>
          </a:p>
          <a:p>
            <a:pPr lvl="1"/>
            <a:r>
              <a:rPr lang="en-US" sz="3200" dirty="0"/>
              <a:t>Unencrypted Traffic – </a:t>
            </a:r>
            <a:r>
              <a:rPr lang="en-US" sz="2800" dirty="0">
                <a:solidFill>
                  <a:srgbClr val="FF0000"/>
                </a:solidFill>
              </a:rPr>
              <a:t>Devices vulnerable to HTTP snooping.</a:t>
            </a:r>
          </a:p>
          <a:p>
            <a:pPr lvl="1"/>
            <a:r>
              <a:rPr lang="en-US" sz="3200" dirty="0"/>
              <a:t>Use of public DNS services – </a:t>
            </a:r>
            <a:r>
              <a:rPr lang="en-US" sz="2800" dirty="0">
                <a:solidFill>
                  <a:srgbClr val="FF0000"/>
                </a:solidFill>
              </a:rPr>
              <a:t>use of Google DNS prevalent.</a:t>
            </a:r>
          </a:p>
        </p:txBody>
      </p:sp>
    </p:spTree>
    <p:extLst>
      <p:ext uri="{BB962C8B-B14F-4D97-AF65-F5344CB8AC3E}">
        <p14:creationId xmlns:p14="http://schemas.microsoft.com/office/powerpoint/2010/main" val="65129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mph" presetSubtype="0" grpId="1" nodeType="clickEffect">
                                  <p:stCondLst>
                                    <p:cond delay="0"/>
                                  </p:stCondLst>
                                  <p:childTnLst>
                                    <p:set>
                                      <p:cBhvr>
                                        <p:cTn id="22" dur="indefinite"/>
                                        <p:tgtEl>
                                          <p:spTgt spid="5">
                                            <p:txEl>
                                              <p:pRg st="0" end="0"/>
                                            </p:txEl>
                                          </p:spTgt>
                                        </p:tgtEl>
                                        <p:attrNameLst>
                                          <p:attrName>style.opacity</p:attrName>
                                        </p:attrNameLst>
                                      </p:cBhvr>
                                      <p:to>
                                        <p:strVal val="0.25"/>
                                      </p:to>
                                    </p:set>
                                    <p:animEffect filter="image" prLst="opacity: 0.25">
                                      <p:cBhvr rctx="IE">
                                        <p:cTn id="23" dur="indefinite"/>
                                        <p:tgtEl>
                                          <p:spTgt spid="5">
                                            <p:txEl>
                                              <p:pRg st="0" end="0"/>
                                            </p:txEl>
                                          </p:spTgt>
                                        </p:tgtEl>
                                      </p:cBhvr>
                                    </p:animEffect>
                                  </p:childTnLst>
                                </p:cTn>
                              </p:par>
                              <p:par>
                                <p:cTn id="24" presetID="9" presetClass="emph" presetSubtype="0" grpId="1" nodeType="withEffect">
                                  <p:stCondLst>
                                    <p:cond delay="0"/>
                                  </p:stCondLst>
                                  <p:childTnLst>
                                    <p:set>
                                      <p:cBhvr>
                                        <p:cTn id="25" dur="indefinite"/>
                                        <p:tgtEl>
                                          <p:spTgt spid="5">
                                            <p:txEl>
                                              <p:pRg st="1" end="1"/>
                                            </p:txEl>
                                          </p:spTgt>
                                        </p:tgtEl>
                                        <p:attrNameLst>
                                          <p:attrName>style.opacity</p:attrName>
                                        </p:attrNameLst>
                                      </p:cBhvr>
                                      <p:to>
                                        <p:strVal val="0.25"/>
                                      </p:to>
                                    </p:set>
                                    <p:animEffect filter="image" prLst="opacity: 0.25">
                                      <p:cBhvr rctx="IE">
                                        <p:cTn id="26" dur="indefinite"/>
                                        <p:tgtEl>
                                          <p:spTgt spid="5">
                                            <p:txEl>
                                              <p:pRg st="1" end="1"/>
                                            </p:txEl>
                                          </p:spTgt>
                                        </p:tgtEl>
                                      </p:cBhvr>
                                    </p:animEffect>
                                  </p:childTnLst>
                                </p:cTn>
                              </p:par>
                              <p:par>
                                <p:cTn id="27" presetID="9" presetClass="emph" presetSubtype="0" grpId="1" nodeType="withEffect">
                                  <p:stCondLst>
                                    <p:cond delay="0"/>
                                  </p:stCondLst>
                                  <p:childTnLst>
                                    <p:set>
                                      <p:cBhvr>
                                        <p:cTn id="28" dur="indefinite"/>
                                        <p:tgtEl>
                                          <p:spTgt spid="5">
                                            <p:txEl>
                                              <p:pRg st="3" end="3"/>
                                            </p:txEl>
                                          </p:spTgt>
                                        </p:tgtEl>
                                        <p:attrNameLst>
                                          <p:attrName>style.opacity</p:attrName>
                                        </p:attrNameLst>
                                      </p:cBhvr>
                                      <p:to>
                                        <p:strVal val="0.25"/>
                                      </p:to>
                                    </p:set>
                                    <p:animEffect filter="image" prLst="opacity: 0.25">
                                      <p:cBhvr rctx="IE">
                                        <p:cTn id="29" dur="indefinite"/>
                                        <p:tgtEl>
                                          <p:spTgt spid="5">
                                            <p:txEl>
                                              <p:pRg st="3" end="3"/>
                                            </p:txEl>
                                          </p:spTgt>
                                        </p:tgtEl>
                                      </p:cBhvr>
                                    </p:animEffect>
                                  </p:childTnLst>
                                </p:cTn>
                              </p:par>
                              <p:par>
                                <p:cTn id="30" presetID="9" presetClass="emph" presetSubtype="0" grpId="1" nodeType="withEffect">
                                  <p:stCondLst>
                                    <p:cond delay="0"/>
                                  </p:stCondLst>
                                  <p:childTnLst>
                                    <p:set>
                                      <p:cBhvr>
                                        <p:cTn id="31" dur="indefinite"/>
                                        <p:tgtEl>
                                          <p:spTgt spid="5">
                                            <p:txEl>
                                              <p:pRg st="4" end="4"/>
                                            </p:txEl>
                                          </p:spTgt>
                                        </p:tgtEl>
                                        <p:attrNameLst>
                                          <p:attrName>style.opacity</p:attrName>
                                        </p:attrNameLst>
                                      </p:cBhvr>
                                      <p:to>
                                        <p:strVal val="0.25"/>
                                      </p:to>
                                    </p:set>
                                    <p:animEffect filter="image" prLst="opacity: 0.25">
                                      <p:cBhvr rctx="IE">
                                        <p:cTn id="32" dur="indefinite"/>
                                        <p:tgtEl>
                                          <p:spTgt spid="5">
                                            <p:txEl>
                                              <p:pRg st="4" end="4"/>
                                            </p:txEl>
                                          </p:spTgt>
                                        </p:tgtEl>
                                      </p:cBhvr>
                                    </p:animEffect>
                                  </p:childTnLst>
                                </p:cTn>
                              </p:par>
                              <p:par>
                                <p:cTn id="33" presetID="9" presetClass="emph" presetSubtype="0" grpId="1" nodeType="withEffect">
                                  <p:stCondLst>
                                    <p:cond delay="0"/>
                                  </p:stCondLst>
                                  <p:childTnLst>
                                    <p:set>
                                      <p:cBhvr>
                                        <p:cTn id="34" dur="indefinite"/>
                                        <p:tgtEl>
                                          <p:spTgt spid="5">
                                            <p:txEl>
                                              <p:pRg st="5" end="5"/>
                                            </p:txEl>
                                          </p:spTgt>
                                        </p:tgtEl>
                                        <p:attrNameLst>
                                          <p:attrName>style.opacity</p:attrName>
                                        </p:attrNameLst>
                                      </p:cBhvr>
                                      <p:to>
                                        <p:strVal val="0.25"/>
                                      </p:to>
                                    </p:set>
                                    <p:animEffect filter="image" prLst="opacity: 0.25">
                                      <p:cBhvr rctx="IE">
                                        <p:cTn id="35" dur="indefinite"/>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CB56A-D97A-4C1C-A2FF-3AF57730301C}"/>
              </a:ext>
            </a:extLst>
          </p:cNvPr>
          <p:cNvSpPr>
            <a:spLocks noGrp="1"/>
          </p:cNvSpPr>
          <p:nvPr>
            <p:ph type="title"/>
          </p:nvPr>
        </p:nvSpPr>
        <p:spPr/>
        <p:txBody>
          <a:bodyPr>
            <a:normAutofit/>
          </a:bodyPr>
          <a:lstStyle/>
          <a:p>
            <a:r>
              <a:rPr lang="en-US" sz="4800" dirty="0"/>
              <a:t>Securing Smart Home IoT via Access Control</a:t>
            </a:r>
          </a:p>
        </p:txBody>
      </p:sp>
      <p:sp>
        <p:nvSpPr>
          <p:cNvPr id="3" name="Footer Placeholder 2">
            <a:extLst>
              <a:ext uri="{FF2B5EF4-FFF2-40B4-BE49-F238E27FC236}">
                <a16:creationId xmlns:a16="http://schemas.microsoft.com/office/drawing/2014/main" id="{C6D67A3E-A07B-467A-A54F-4FFDE1249FC1}"/>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2D3E0F71-7AD6-431E-9E8E-340317C3CE91}"/>
              </a:ext>
            </a:extLst>
          </p:cNvPr>
          <p:cNvSpPr>
            <a:spLocks noGrp="1"/>
          </p:cNvSpPr>
          <p:nvPr>
            <p:ph type="sldNum" sz="quarter" idx="12"/>
          </p:nvPr>
        </p:nvSpPr>
        <p:spPr>
          <a:xfrm>
            <a:off x="8021" y="6245903"/>
            <a:ext cx="711200" cy="357938"/>
          </a:xfrm>
        </p:spPr>
        <p:txBody>
          <a:bodyPr>
            <a:normAutofit lnSpcReduction="10000"/>
          </a:bodyPr>
          <a:lstStyle/>
          <a:p>
            <a:fld id="{2ABC7612-2C91-4738-8FA0-3151D896C48D}" type="slidenum">
              <a:rPr lang="en-US" smtClean="0">
                <a:solidFill>
                  <a:schemeClr val="tx1"/>
                </a:solidFill>
              </a:rPr>
              <a:t>9</a:t>
            </a:fld>
            <a:endParaRPr lang="en-US">
              <a:solidFill>
                <a:schemeClr val="tx1"/>
              </a:solidFill>
            </a:endParaRPr>
          </a:p>
        </p:txBody>
      </p:sp>
      <p:sp>
        <p:nvSpPr>
          <p:cNvPr id="5" name="Content Placeholder 4">
            <a:extLst>
              <a:ext uri="{FF2B5EF4-FFF2-40B4-BE49-F238E27FC236}">
                <a16:creationId xmlns:a16="http://schemas.microsoft.com/office/drawing/2014/main" id="{98E85CB2-EB74-4485-9D33-9236F7DC7CF0}"/>
              </a:ext>
            </a:extLst>
          </p:cNvPr>
          <p:cNvSpPr>
            <a:spLocks noGrp="1"/>
          </p:cNvSpPr>
          <p:nvPr>
            <p:ph sz="quarter" idx="13"/>
          </p:nvPr>
        </p:nvSpPr>
        <p:spPr/>
        <p:txBody>
          <a:bodyPr>
            <a:normAutofit/>
          </a:bodyPr>
          <a:lstStyle/>
          <a:p>
            <a:r>
              <a:rPr lang="en-US" sz="3200" dirty="0"/>
              <a:t>Prior work recommends some form of Internet Access Control for smart home IoT.</a:t>
            </a:r>
          </a:p>
          <a:p>
            <a:r>
              <a:rPr lang="en-US" sz="3200" dirty="0"/>
              <a:t>Manufacturer Usage Description (MUD – RFC 8520) by device manufacturers.</a:t>
            </a:r>
          </a:p>
          <a:p>
            <a:r>
              <a:rPr lang="en-US" sz="3200" dirty="0"/>
              <a:t>Research tools to build MUDs based on device traffic – </a:t>
            </a:r>
            <a:r>
              <a:rPr lang="en-US" sz="3200" dirty="0" err="1"/>
              <a:t>MUDgee</a:t>
            </a:r>
            <a:r>
              <a:rPr lang="en-US" sz="3200" dirty="0"/>
              <a:t> (</a:t>
            </a:r>
            <a:r>
              <a:rPr lang="en-US" sz="3200" dirty="0" err="1"/>
              <a:t>IoTS&amp;P</a:t>
            </a:r>
            <a:r>
              <a:rPr lang="en-US" sz="3200" dirty="0"/>
              <a:t> ‘18).</a:t>
            </a:r>
          </a:p>
        </p:txBody>
      </p:sp>
    </p:spTree>
    <p:extLst>
      <p:ext uri="{BB962C8B-B14F-4D97-AF65-F5344CB8AC3E}">
        <p14:creationId xmlns:p14="http://schemas.microsoft.com/office/powerpoint/2010/main" val="261262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CB56A-D97A-4C1C-A2FF-3AF57730301C}"/>
              </a:ext>
            </a:extLst>
          </p:cNvPr>
          <p:cNvSpPr>
            <a:spLocks noGrp="1"/>
          </p:cNvSpPr>
          <p:nvPr>
            <p:ph type="title"/>
          </p:nvPr>
        </p:nvSpPr>
        <p:spPr/>
        <p:txBody>
          <a:bodyPr>
            <a:normAutofit/>
          </a:bodyPr>
          <a:lstStyle/>
          <a:p>
            <a:r>
              <a:rPr lang="en-US" sz="4800" dirty="0"/>
              <a:t>Securing Smart Home IoT via Access Control</a:t>
            </a:r>
          </a:p>
        </p:txBody>
      </p:sp>
      <p:sp>
        <p:nvSpPr>
          <p:cNvPr id="3" name="Footer Placeholder 2">
            <a:extLst>
              <a:ext uri="{FF2B5EF4-FFF2-40B4-BE49-F238E27FC236}">
                <a16:creationId xmlns:a16="http://schemas.microsoft.com/office/drawing/2014/main" id="{C6D67A3E-A07B-467A-A54F-4FFDE1249FC1}"/>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2D3E0F71-7AD6-431E-9E8E-340317C3CE91}"/>
              </a:ext>
            </a:extLst>
          </p:cNvPr>
          <p:cNvSpPr>
            <a:spLocks noGrp="1"/>
          </p:cNvSpPr>
          <p:nvPr>
            <p:ph type="sldNum" sz="quarter" idx="12"/>
          </p:nvPr>
        </p:nvSpPr>
        <p:spPr>
          <a:xfrm>
            <a:off x="8021" y="6245903"/>
            <a:ext cx="711200" cy="357938"/>
          </a:xfrm>
        </p:spPr>
        <p:txBody>
          <a:bodyPr>
            <a:normAutofit lnSpcReduction="10000"/>
          </a:bodyPr>
          <a:lstStyle/>
          <a:p>
            <a:fld id="{2ABC7612-2C91-4738-8FA0-3151D896C48D}" type="slidenum">
              <a:rPr lang="en-US" smtClean="0">
                <a:solidFill>
                  <a:schemeClr val="tx1"/>
                </a:solidFill>
              </a:rPr>
              <a:t>10</a:t>
            </a:fld>
            <a:endParaRPr lang="en-US">
              <a:solidFill>
                <a:schemeClr val="tx1"/>
              </a:solidFill>
            </a:endParaRPr>
          </a:p>
        </p:txBody>
      </p:sp>
      <p:sp>
        <p:nvSpPr>
          <p:cNvPr id="5" name="Content Placeholder 4">
            <a:extLst>
              <a:ext uri="{FF2B5EF4-FFF2-40B4-BE49-F238E27FC236}">
                <a16:creationId xmlns:a16="http://schemas.microsoft.com/office/drawing/2014/main" id="{98E85CB2-EB74-4485-9D33-9236F7DC7CF0}"/>
              </a:ext>
            </a:extLst>
          </p:cNvPr>
          <p:cNvSpPr>
            <a:spLocks noGrp="1"/>
          </p:cNvSpPr>
          <p:nvPr>
            <p:ph sz="quarter" idx="13"/>
          </p:nvPr>
        </p:nvSpPr>
        <p:spPr/>
        <p:txBody>
          <a:bodyPr>
            <a:normAutofit/>
          </a:bodyPr>
          <a:lstStyle/>
          <a:p>
            <a:r>
              <a:rPr lang="en-US" sz="3200" dirty="0"/>
              <a:t>First 72 hours of traffic to build MUD, then test for acceptance.</a:t>
            </a:r>
          </a:p>
        </p:txBody>
      </p:sp>
      <p:pic>
        <p:nvPicPr>
          <p:cNvPr id="7" name="Graphic 6">
            <a:extLst>
              <a:ext uri="{FF2B5EF4-FFF2-40B4-BE49-F238E27FC236}">
                <a16:creationId xmlns:a16="http://schemas.microsoft.com/office/drawing/2014/main" id="{759BC51B-0F78-435F-A943-7146652F27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05186" y="2523068"/>
            <a:ext cx="4874014" cy="3649132"/>
          </a:xfrm>
          <a:prstGeom prst="rect">
            <a:avLst/>
          </a:prstGeom>
        </p:spPr>
      </p:pic>
      <p:sp>
        <p:nvSpPr>
          <p:cNvPr id="6" name="Rectangle 5">
            <a:extLst>
              <a:ext uri="{FF2B5EF4-FFF2-40B4-BE49-F238E27FC236}">
                <a16:creationId xmlns:a16="http://schemas.microsoft.com/office/drawing/2014/main" id="{E3D29CA4-A2B6-423F-B467-546ADAA5E5F1}"/>
              </a:ext>
            </a:extLst>
          </p:cNvPr>
          <p:cNvSpPr/>
          <p:nvPr/>
        </p:nvSpPr>
        <p:spPr>
          <a:xfrm>
            <a:off x="7062537" y="2543568"/>
            <a:ext cx="4174958" cy="58954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40FD2BC-6CA8-4507-9615-235202F8BF00}"/>
              </a:ext>
            </a:extLst>
          </p:cNvPr>
          <p:cNvSpPr txBox="1"/>
          <p:nvPr/>
        </p:nvSpPr>
        <p:spPr>
          <a:xfrm>
            <a:off x="2779295" y="2899611"/>
            <a:ext cx="3176337" cy="919401"/>
          </a:xfrm>
          <a:prstGeom prst="roundRect">
            <a:avLst/>
          </a:prstGeom>
          <a:solidFill>
            <a:schemeClr val="bg1">
              <a:lumMod val="95000"/>
            </a:schemeClr>
          </a:solidFill>
          <a:ln w="28575">
            <a:solidFill>
              <a:schemeClr val="tx1"/>
            </a:solidFill>
          </a:ln>
        </p:spPr>
        <p:txBody>
          <a:bodyPr wrap="square" rtlCol="0">
            <a:spAutoFit/>
          </a:bodyPr>
          <a:lstStyle/>
          <a:p>
            <a:r>
              <a:rPr lang="en-US" sz="2400" dirty="0">
                <a:solidFill>
                  <a:schemeClr val="accent1"/>
                </a:solidFill>
              </a:rPr>
              <a:t>High acceptance rates for MUD-based ACL</a:t>
            </a:r>
          </a:p>
        </p:txBody>
      </p:sp>
      <p:cxnSp>
        <p:nvCxnSpPr>
          <p:cNvPr id="10" name="Straight Arrow Connector 9">
            <a:extLst>
              <a:ext uri="{FF2B5EF4-FFF2-40B4-BE49-F238E27FC236}">
                <a16:creationId xmlns:a16="http://schemas.microsoft.com/office/drawing/2014/main" id="{A4B03BB4-F460-4DB6-8506-836DAFA5BC37}"/>
              </a:ext>
            </a:extLst>
          </p:cNvPr>
          <p:cNvCxnSpPr>
            <a:stCxn id="8" idx="3"/>
          </p:cNvCxnSpPr>
          <p:nvPr/>
        </p:nvCxnSpPr>
        <p:spPr>
          <a:xfrm flipV="1">
            <a:off x="5955632" y="2823604"/>
            <a:ext cx="1106905" cy="5357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D6F57EC-1762-4C4E-85DF-D85552F60A5C}"/>
              </a:ext>
            </a:extLst>
          </p:cNvPr>
          <p:cNvSpPr txBox="1"/>
          <p:nvPr/>
        </p:nvSpPr>
        <p:spPr>
          <a:xfrm>
            <a:off x="2779294" y="4123812"/>
            <a:ext cx="3176337" cy="919401"/>
          </a:xfrm>
          <a:prstGeom prst="roundRect">
            <a:avLst/>
          </a:prstGeom>
          <a:solidFill>
            <a:schemeClr val="bg1">
              <a:lumMod val="95000"/>
            </a:schemeClr>
          </a:solidFill>
          <a:ln w="28575">
            <a:solidFill>
              <a:schemeClr val="accent2"/>
            </a:solidFill>
          </a:ln>
        </p:spPr>
        <p:txBody>
          <a:bodyPr wrap="square" rtlCol="0">
            <a:spAutoFit/>
          </a:bodyPr>
          <a:lstStyle/>
          <a:p>
            <a:r>
              <a:rPr lang="en-US" sz="2400" dirty="0">
                <a:solidFill>
                  <a:schemeClr val="accent1"/>
                </a:solidFill>
              </a:rPr>
              <a:t>Drops due to unseen traffic</a:t>
            </a:r>
          </a:p>
        </p:txBody>
      </p:sp>
      <p:cxnSp>
        <p:nvCxnSpPr>
          <p:cNvPr id="13" name="Straight Arrow Connector 12">
            <a:extLst>
              <a:ext uri="{FF2B5EF4-FFF2-40B4-BE49-F238E27FC236}">
                <a16:creationId xmlns:a16="http://schemas.microsoft.com/office/drawing/2014/main" id="{05908A05-E22C-4ABC-81BA-2CE98262CA18}"/>
              </a:ext>
            </a:extLst>
          </p:cNvPr>
          <p:cNvCxnSpPr>
            <a:stCxn id="11" idx="3"/>
          </p:cNvCxnSpPr>
          <p:nvPr/>
        </p:nvCxnSpPr>
        <p:spPr>
          <a:xfrm flipV="1">
            <a:off x="5955631" y="4583512"/>
            <a:ext cx="1491916" cy="1"/>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D87EA2B-4478-48E9-A89A-99E82364B886}"/>
              </a:ext>
            </a:extLst>
          </p:cNvPr>
          <p:cNvCxnSpPr>
            <a:cxnSpLocks/>
            <a:stCxn id="11" idx="3"/>
          </p:cNvCxnSpPr>
          <p:nvPr/>
        </p:nvCxnSpPr>
        <p:spPr>
          <a:xfrm flipV="1">
            <a:off x="5955631" y="4047805"/>
            <a:ext cx="3681664" cy="535708"/>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C52371C9-7534-4A1A-9EF8-455F9A37E1DB}"/>
              </a:ext>
            </a:extLst>
          </p:cNvPr>
          <p:cNvSpPr txBox="1"/>
          <p:nvPr/>
        </p:nvSpPr>
        <p:spPr>
          <a:xfrm>
            <a:off x="812800" y="3293016"/>
            <a:ext cx="10871200" cy="1464231"/>
          </a:xfrm>
          <a:prstGeom prst="roundRect">
            <a:avLst/>
          </a:prstGeom>
          <a:solidFill>
            <a:schemeClr val="bg1">
              <a:lumMod val="85000"/>
            </a:schemeClr>
          </a:solidFill>
          <a:ln>
            <a:solidFill>
              <a:schemeClr val="accent1"/>
            </a:solidFill>
          </a:ln>
        </p:spPr>
        <p:txBody>
          <a:bodyPr wrap="square" rtlCol="0">
            <a:spAutoFit/>
          </a:bodyPr>
          <a:lstStyle/>
          <a:p>
            <a:pPr algn="ctr"/>
            <a:r>
              <a:rPr lang="en-US" sz="4000" dirty="0">
                <a:solidFill>
                  <a:srgbClr val="FF0000"/>
                </a:solidFill>
              </a:rPr>
              <a:t>MUDs can help in access control, but require more work to account for dynamic traffic.</a:t>
            </a:r>
          </a:p>
        </p:txBody>
      </p:sp>
    </p:spTree>
    <p:extLst>
      <p:ext uri="{BB962C8B-B14F-4D97-AF65-F5344CB8AC3E}">
        <p14:creationId xmlns:p14="http://schemas.microsoft.com/office/powerpoint/2010/main" val="264174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mph" presetSubtype="0" grpId="1" nodeType="clickEffect">
                                  <p:stCondLst>
                                    <p:cond delay="0"/>
                                  </p:stCondLst>
                                  <p:childTnLst>
                                    <p:set>
                                      <p:cBhvr>
                                        <p:cTn id="30" dur="indefinite"/>
                                        <p:tgtEl>
                                          <p:spTgt spid="5">
                                            <p:txEl>
                                              <p:pRg st="0" end="0"/>
                                            </p:txEl>
                                          </p:spTgt>
                                        </p:tgtEl>
                                        <p:attrNameLst>
                                          <p:attrName>style.opacity</p:attrName>
                                        </p:attrNameLst>
                                      </p:cBhvr>
                                      <p:to>
                                        <p:strVal val="0.25"/>
                                      </p:to>
                                    </p:set>
                                    <p:animEffect filter="image" prLst="opacity: 0.25">
                                      <p:cBhvr rctx="IE">
                                        <p:cTn id="31" dur="indefinite"/>
                                        <p:tgtEl>
                                          <p:spTgt spid="5">
                                            <p:txEl>
                                              <p:pRg st="0" end="0"/>
                                            </p:txEl>
                                          </p:spTgt>
                                        </p:tgtEl>
                                      </p:cBhvr>
                                    </p:animEffect>
                                  </p:childTnLst>
                                </p:cTn>
                              </p:par>
                              <p:par>
                                <p:cTn id="32" presetID="9" presetClass="emph" presetSubtype="0" nodeType="withEffect">
                                  <p:stCondLst>
                                    <p:cond delay="0"/>
                                  </p:stCondLst>
                                  <p:childTnLst>
                                    <p:set>
                                      <p:cBhvr>
                                        <p:cTn id="33" dur="indefinite"/>
                                        <p:tgtEl>
                                          <p:spTgt spid="7"/>
                                        </p:tgtEl>
                                        <p:attrNameLst>
                                          <p:attrName>style.opacity</p:attrName>
                                        </p:attrNameLst>
                                      </p:cBhvr>
                                      <p:to>
                                        <p:strVal val="0.25"/>
                                      </p:to>
                                    </p:set>
                                    <p:animEffect filter="image" prLst="opacity: 0.25">
                                      <p:cBhvr rctx="IE">
                                        <p:cTn id="34" dur="indefinite"/>
                                        <p:tgtEl>
                                          <p:spTgt spid="7"/>
                                        </p:tgtEl>
                                      </p:cBhvr>
                                    </p:animEffect>
                                  </p:childTnLst>
                                </p:cTn>
                              </p:par>
                              <p:par>
                                <p:cTn id="35" presetID="9" presetClass="emph" presetSubtype="0" nodeType="withEffect">
                                  <p:stCondLst>
                                    <p:cond delay="0"/>
                                  </p:stCondLst>
                                  <p:childTnLst>
                                    <p:set>
                                      <p:cBhvr>
                                        <p:cTn id="36" dur="indefinite"/>
                                        <p:tgtEl>
                                          <p:spTgt spid="10"/>
                                        </p:tgtEl>
                                        <p:attrNameLst>
                                          <p:attrName>style.opacity</p:attrName>
                                        </p:attrNameLst>
                                      </p:cBhvr>
                                      <p:to>
                                        <p:strVal val="0.25"/>
                                      </p:to>
                                    </p:set>
                                    <p:animEffect filter="image" prLst="opacity: 0.25">
                                      <p:cBhvr rctx="IE">
                                        <p:cTn id="37" dur="indefinite"/>
                                        <p:tgtEl>
                                          <p:spTgt spid="10"/>
                                        </p:tgtEl>
                                      </p:cBhvr>
                                    </p:animEffect>
                                  </p:childTnLst>
                                </p:cTn>
                              </p:par>
                              <p:par>
                                <p:cTn id="38" presetID="9" presetClass="emph" presetSubtype="0" grpId="1" nodeType="withEffect">
                                  <p:stCondLst>
                                    <p:cond delay="0"/>
                                  </p:stCondLst>
                                  <p:childTnLst>
                                    <p:set>
                                      <p:cBhvr>
                                        <p:cTn id="39" dur="indefinite"/>
                                        <p:tgtEl>
                                          <p:spTgt spid="6"/>
                                        </p:tgtEl>
                                        <p:attrNameLst>
                                          <p:attrName>style.opacity</p:attrName>
                                        </p:attrNameLst>
                                      </p:cBhvr>
                                      <p:to>
                                        <p:strVal val="0.25"/>
                                      </p:to>
                                    </p:set>
                                    <p:animEffect filter="image" prLst="opacity: 0.25">
                                      <p:cBhvr rctx="IE">
                                        <p:cTn id="40" dur="indefinite"/>
                                        <p:tgtEl>
                                          <p:spTgt spid="6"/>
                                        </p:tgtEl>
                                      </p:cBhvr>
                                    </p:animEffect>
                                  </p:childTnLst>
                                </p:cTn>
                              </p:par>
                              <p:par>
                                <p:cTn id="41" presetID="9" presetClass="emph" presetSubtype="0" grpId="1" nodeType="withEffect">
                                  <p:stCondLst>
                                    <p:cond delay="0"/>
                                  </p:stCondLst>
                                  <p:childTnLst>
                                    <p:set>
                                      <p:cBhvr>
                                        <p:cTn id="42" dur="indefinite"/>
                                        <p:tgtEl>
                                          <p:spTgt spid="8"/>
                                        </p:tgtEl>
                                        <p:attrNameLst>
                                          <p:attrName>style.opacity</p:attrName>
                                        </p:attrNameLst>
                                      </p:cBhvr>
                                      <p:to>
                                        <p:strVal val="0.25"/>
                                      </p:to>
                                    </p:set>
                                    <p:animEffect filter="image" prLst="opacity: 0.25">
                                      <p:cBhvr rctx="IE">
                                        <p:cTn id="43" dur="indefinite"/>
                                        <p:tgtEl>
                                          <p:spTgt spid="8"/>
                                        </p:tgtEl>
                                      </p:cBhvr>
                                    </p:animEffect>
                                  </p:childTnLst>
                                </p:cTn>
                              </p:par>
                              <p:par>
                                <p:cTn id="44" presetID="9" presetClass="emph" presetSubtype="0" nodeType="withEffect">
                                  <p:stCondLst>
                                    <p:cond delay="0"/>
                                  </p:stCondLst>
                                  <p:childTnLst>
                                    <p:set>
                                      <p:cBhvr>
                                        <p:cTn id="45" dur="indefinite"/>
                                        <p:tgtEl>
                                          <p:spTgt spid="13"/>
                                        </p:tgtEl>
                                        <p:attrNameLst>
                                          <p:attrName>style.opacity</p:attrName>
                                        </p:attrNameLst>
                                      </p:cBhvr>
                                      <p:to>
                                        <p:strVal val="0.25"/>
                                      </p:to>
                                    </p:set>
                                    <p:animEffect filter="image" prLst="opacity: 0.25">
                                      <p:cBhvr rctx="IE">
                                        <p:cTn id="46" dur="indefinite"/>
                                        <p:tgtEl>
                                          <p:spTgt spid="13"/>
                                        </p:tgtEl>
                                      </p:cBhvr>
                                    </p:animEffect>
                                  </p:childTnLst>
                                </p:cTn>
                              </p:par>
                              <p:par>
                                <p:cTn id="47" presetID="9" presetClass="emph" presetSubtype="0" nodeType="withEffect">
                                  <p:stCondLst>
                                    <p:cond delay="0"/>
                                  </p:stCondLst>
                                  <p:childTnLst>
                                    <p:set>
                                      <p:cBhvr>
                                        <p:cTn id="48" dur="indefinite"/>
                                        <p:tgtEl>
                                          <p:spTgt spid="14"/>
                                        </p:tgtEl>
                                        <p:attrNameLst>
                                          <p:attrName>style.opacity</p:attrName>
                                        </p:attrNameLst>
                                      </p:cBhvr>
                                      <p:to>
                                        <p:strVal val="0.25"/>
                                      </p:to>
                                    </p:set>
                                    <p:animEffect filter="image" prLst="opacity: 0.25">
                                      <p:cBhvr rctx="IE">
                                        <p:cTn id="49" dur="indefinite"/>
                                        <p:tgtEl>
                                          <p:spTgt spid="14"/>
                                        </p:tgtEl>
                                      </p:cBhvr>
                                    </p:animEffect>
                                  </p:childTnLst>
                                </p:cTn>
                              </p:par>
                              <p:par>
                                <p:cTn id="50" presetID="9" presetClass="emph" presetSubtype="0" grpId="0" nodeType="withEffect">
                                  <p:stCondLst>
                                    <p:cond delay="0"/>
                                  </p:stCondLst>
                                  <p:childTnLst>
                                    <p:set>
                                      <p:cBhvr>
                                        <p:cTn id="51" dur="indefinite"/>
                                        <p:tgtEl>
                                          <p:spTgt spid="11"/>
                                        </p:tgtEl>
                                        <p:attrNameLst>
                                          <p:attrName>style.opacity</p:attrName>
                                        </p:attrNameLst>
                                      </p:cBhvr>
                                      <p:to>
                                        <p:strVal val="0.25"/>
                                      </p:to>
                                    </p:set>
                                    <p:animEffect filter="image" prLst="opacity: 0.25">
                                      <p:cBhvr rctx="IE">
                                        <p:cTn id="52" dur="indefinite"/>
                                        <p:tgtEl>
                                          <p:spTgt spid="11"/>
                                        </p:tgtEl>
                                      </p:cBhvr>
                                    </p:animEffec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animBg="1"/>
      <p:bldP spid="6" grpId="1" animBg="1"/>
      <p:bldP spid="8" grpId="0" animBg="1"/>
      <p:bldP spid="8" grpId="1" animBg="1"/>
      <p:bldP spid="11" grpId="0" animBg="1"/>
      <p:bldP spid="11" grpId="1"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8B556-82FB-4A9F-8D16-177B75E0DE5F}"/>
              </a:ext>
            </a:extLst>
          </p:cNvPr>
          <p:cNvSpPr>
            <a:spLocks noGrp="1"/>
          </p:cNvSpPr>
          <p:nvPr>
            <p:ph type="title"/>
          </p:nvPr>
        </p:nvSpPr>
        <p:spPr>
          <a:xfrm>
            <a:off x="711201" y="157480"/>
            <a:ext cx="11119852" cy="1341120"/>
          </a:xfrm>
        </p:spPr>
        <p:txBody>
          <a:bodyPr>
            <a:noAutofit/>
          </a:bodyPr>
          <a:lstStyle/>
          <a:p>
            <a:r>
              <a:rPr lang="en-US" sz="4800" dirty="0"/>
              <a:t>Security/Privacy Issues in Smart Home IoT</a:t>
            </a:r>
          </a:p>
        </p:txBody>
      </p:sp>
      <p:sp>
        <p:nvSpPr>
          <p:cNvPr id="3" name="Footer Placeholder 2">
            <a:extLst>
              <a:ext uri="{FF2B5EF4-FFF2-40B4-BE49-F238E27FC236}">
                <a16:creationId xmlns:a16="http://schemas.microsoft.com/office/drawing/2014/main" id="{7955ABD5-1E90-45B0-915F-B02008325543}"/>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0DEA49E9-3B8C-473F-8192-4D0CA86FDA44}"/>
              </a:ext>
            </a:extLst>
          </p:cNvPr>
          <p:cNvSpPr>
            <a:spLocks noGrp="1"/>
          </p:cNvSpPr>
          <p:nvPr>
            <p:ph type="sldNum" sz="quarter" idx="12"/>
          </p:nvPr>
        </p:nvSpPr>
        <p:spPr>
          <a:xfrm>
            <a:off x="0" y="6261933"/>
            <a:ext cx="711200" cy="357938"/>
          </a:xfrm>
        </p:spPr>
        <p:txBody>
          <a:bodyPr>
            <a:normAutofit lnSpcReduction="10000"/>
          </a:bodyPr>
          <a:lstStyle/>
          <a:p>
            <a:fld id="{2ABC7612-2C91-4738-8FA0-3151D896C48D}" type="slidenum">
              <a:rPr lang="en-US" smtClean="0">
                <a:solidFill>
                  <a:schemeClr val="tx1"/>
                </a:solidFill>
              </a:rPr>
              <a:t>11</a:t>
            </a:fld>
            <a:endParaRPr lang="en-US">
              <a:solidFill>
                <a:schemeClr val="tx1"/>
              </a:solidFill>
            </a:endParaRPr>
          </a:p>
        </p:txBody>
      </p:sp>
      <p:sp>
        <p:nvSpPr>
          <p:cNvPr id="5" name="Content Placeholder 4">
            <a:extLst>
              <a:ext uri="{FF2B5EF4-FFF2-40B4-BE49-F238E27FC236}">
                <a16:creationId xmlns:a16="http://schemas.microsoft.com/office/drawing/2014/main" id="{8FF9ABAA-5105-4257-86E9-2CD0258012E1}"/>
              </a:ext>
            </a:extLst>
          </p:cNvPr>
          <p:cNvSpPr>
            <a:spLocks noGrp="1"/>
          </p:cNvSpPr>
          <p:nvPr>
            <p:ph sz="quarter" idx="13"/>
          </p:nvPr>
        </p:nvSpPr>
        <p:spPr/>
        <p:txBody>
          <a:bodyPr>
            <a:normAutofit/>
          </a:bodyPr>
          <a:lstStyle/>
          <a:p>
            <a:r>
              <a:rPr lang="en-US" sz="3200" dirty="0"/>
              <a:t>Highlight current issues and their implications.</a:t>
            </a:r>
          </a:p>
          <a:p>
            <a:r>
              <a:rPr lang="en-US" sz="3200" dirty="0"/>
              <a:t>4 case studies:</a:t>
            </a:r>
          </a:p>
          <a:p>
            <a:pPr lvl="1"/>
            <a:r>
              <a:rPr lang="en-US" sz="3200" b="1" dirty="0"/>
              <a:t>Security via Access Control </a:t>
            </a:r>
            <a:r>
              <a:rPr lang="en-US" sz="3200" dirty="0"/>
              <a:t>– </a:t>
            </a:r>
            <a:r>
              <a:rPr lang="en-US" sz="2400" dirty="0">
                <a:solidFill>
                  <a:srgbClr val="FF0000"/>
                </a:solidFill>
              </a:rPr>
              <a:t>Feasible, account for dynamic traffic</a:t>
            </a:r>
            <a:r>
              <a:rPr lang="en-US" sz="2400" b="1" dirty="0"/>
              <a:t> </a:t>
            </a:r>
          </a:p>
          <a:p>
            <a:pPr lvl="1"/>
            <a:r>
              <a:rPr lang="en-US" sz="3200" b="1" dirty="0"/>
              <a:t>Advertising/Tracking</a:t>
            </a:r>
          </a:p>
          <a:p>
            <a:pPr lvl="1"/>
            <a:r>
              <a:rPr lang="en-US" sz="3200" dirty="0"/>
              <a:t>Unencrypted Traffic – </a:t>
            </a:r>
            <a:r>
              <a:rPr lang="en-US" sz="2400" dirty="0">
                <a:solidFill>
                  <a:srgbClr val="FF0000"/>
                </a:solidFill>
              </a:rPr>
              <a:t>Devices vulnerable to HTTP snooping.</a:t>
            </a:r>
          </a:p>
          <a:p>
            <a:pPr lvl="1"/>
            <a:r>
              <a:rPr lang="en-US" sz="3200" dirty="0"/>
              <a:t>Use of public DNS services – </a:t>
            </a:r>
            <a:r>
              <a:rPr lang="en-US" sz="2400" dirty="0">
                <a:solidFill>
                  <a:srgbClr val="FF0000"/>
                </a:solidFill>
              </a:rPr>
              <a:t>use of Google DNS prevalent.</a:t>
            </a:r>
          </a:p>
        </p:txBody>
      </p:sp>
    </p:spTree>
    <p:extLst>
      <p:ext uri="{BB962C8B-B14F-4D97-AF65-F5344CB8AC3E}">
        <p14:creationId xmlns:p14="http://schemas.microsoft.com/office/powerpoint/2010/main" val="290835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5">
                                            <p:txEl>
                                              <p:pRg st="0" end="0"/>
                                            </p:txEl>
                                          </p:spTgt>
                                        </p:tgtEl>
                                        <p:attrNameLst>
                                          <p:attrName>style.opacity</p:attrName>
                                        </p:attrNameLst>
                                      </p:cBhvr>
                                      <p:to>
                                        <p:strVal val="0.25"/>
                                      </p:to>
                                    </p:set>
                                    <p:animEffect filter="image" prLst="opacity: 0.25">
                                      <p:cBhvr rctx="IE">
                                        <p:cTn id="7" dur="indefinite"/>
                                        <p:tgtEl>
                                          <p:spTgt spid="5">
                                            <p:txEl>
                                              <p:pRg st="0" end="0"/>
                                            </p:txEl>
                                          </p:spTgt>
                                        </p:tgtEl>
                                      </p:cBhvr>
                                    </p:animEffect>
                                  </p:childTnLst>
                                </p:cTn>
                              </p:par>
                              <p:par>
                                <p:cTn id="8" presetID="9" presetClass="emph" presetSubtype="0" grpId="0" nodeType="withEffect">
                                  <p:stCondLst>
                                    <p:cond delay="0"/>
                                  </p:stCondLst>
                                  <p:childTnLst>
                                    <p:set>
                                      <p:cBhvr>
                                        <p:cTn id="9" dur="indefinite"/>
                                        <p:tgtEl>
                                          <p:spTgt spid="5">
                                            <p:txEl>
                                              <p:pRg st="1" end="1"/>
                                            </p:txEl>
                                          </p:spTgt>
                                        </p:tgtEl>
                                        <p:attrNameLst>
                                          <p:attrName>style.opacity</p:attrName>
                                        </p:attrNameLst>
                                      </p:cBhvr>
                                      <p:to>
                                        <p:strVal val="0.25"/>
                                      </p:to>
                                    </p:set>
                                    <p:animEffect filter="image" prLst="opacity: 0.25">
                                      <p:cBhvr rctx="IE">
                                        <p:cTn id="10" dur="indefinite"/>
                                        <p:tgtEl>
                                          <p:spTgt spid="5">
                                            <p:txEl>
                                              <p:pRg st="1" end="1"/>
                                            </p:txEl>
                                          </p:spTgt>
                                        </p:tgtEl>
                                      </p:cBhvr>
                                    </p:animEffect>
                                  </p:childTnLst>
                                </p:cTn>
                              </p:par>
                              <p:par>
                                <p:cTn id="11" presetID="9" presetClass="emph" presetSubtype="0" grpId="0" nodeType="withEffect">
                                  <p:stCondLst>
                                    <p:cond delay="0"/>
                                  </p:stCondLst>
                                  <p:childTnLst>
                                    <p:set>
                                      <p:cBhvr>
                                        <p:cTn id="12" dur="indefinite"/>
                                        <p:tgtEl>
                                          <p:spTgt spid="5">
                                            <p:txEl>
                                              <p:pRg st="2" end="2"/>
                                            </p:txEl>
                                          </p:spTgt>
                                        </p:tgtEl>
                                        <p:attrNameLst>
                                          <p:attrName>style.opacity</p:attrName>
                                        </p:attrNameLst>
                                      </p:cBhvr>
                                      <p:to>
                                        <p:strVal val="0.25"/>
                                      </p:to>
                                    </p:set>
                                    <p:animEffect filter="image" prLst="opacity: 0.25">
                                      <p:cBhvr rctx="IE">
                                        <p:cTn id="13" dur="indefinite"/>
                                        <p:tgtEl>
                                          <p:spTgt spid="5">
                                            <p:txEl>
                                              <p:pRg st="2" end="2"/>
                                            </p:txEl>
                                          </p:spTgt>
                                        </p:tgtEl>
                                      </p:cBhvr>
                                    </p:animEffect>
                                  </p:childTnLst>
                                </p:cTn>
                              </p:par>
                              <p:par>
                                <p:cTn id="14" presetID="9" presetClass="emph" presetSubtype="0" grpId="0" nodeType="withEffect">
                                  <p:stCondLst>
                                    <p:cond delay="0"/>
                                  </p:stCondLst>
                                  <p:childTnLst>
                                    <p:set>
                                      <p:cBhvr>
                                        <p:cTn id="15" dur="indefinite"/>
                                        <p:tgtEl>
                                          <p:spTgt spid="5">
                                            <p:txEl>
                                              <p:pRg st="4" end="4"/>
                                            </p:txEl>
                                          </p:spTgt>
                                        </p:tgtEl>
                                        <p:attrNameLst>
                                          <p:attrName>style.opacity</p:attrName>
                                        </p:attrNameLst>
                                      </p:cBhvr>
                                      <p:to>
                                        <p:strVal val="0.25"/>
                                      </p:to>
                                    </p:set>
                                    <p:animEffect filter="image" prLst="opacity: 0.25">
                                      <p:cBhvr rctx="IE">
                                        <p:cTn id="16" dur="indefinite"/>
                                        <p:tgtEl>
                                          <p:spTgt spid="5">
                                            <p:txEl>
                                              <p:pRg st="4" end="4"/>
                                            </p:txEl>
                                          </p:spTgt>
                                        </p:tgtEl>
                                      </p:cBhvr>
                                    </p:animEffect>
                                  </p:childTnLst>
                                </p:cTn>
                              </p:par>
                              <p:par>
                                <p:cTn id="17" presetID="9" presetClass="emph" presetSubtype="0" grpId="0" nodeType="withEffect">
                                  <p:stCondLst>
                                    <p:cond delay="0"/>
                                  </p:stCondLst>
                                  <p:childTnLst>
                                    <p:set>
                                      <p:cBhvr>
                                        <p:cTn id="18" dur="indefinite"/>
                                        <p:tgtEl>
                                          <p:spTgt spid="5">
                                            <p:txEl>
                                              <p:pRg st="5" end="5"/>
                                            </p:txEl>
                                          </p:spTgt>
                                        </p:tgtEl>
                                        <p:attrNameLst>
                                          <p:attrName>style.opacity</p:attrName>
                                        </p:attrNameLst>
                                      </p:cBhvr>
                                      <p:to>
                                        <p:strVal val="0.25"/>
                                      </p:to>
                                    </p:set>
                                    <p:animEffect filter="image" prLst="opacity: 0.25">
                                      <p:cBhvr rctx="IE">
                                        <p:cTn id="19" dur="indefinite"/>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CF15-FD7F-4690-AC20-85FEF6FE2442}"/>
              </a:ext>
            </a:extLst>
          </p:cNvPr>
          <p:cNvSpPr>
            <a:spLocks noGrp="1"/>
          </p:cNvSpPr>
          <p:nvPr>
            <p:ph type="title"/>
          </p:nvPr>
        </p:nvSpPr>
        <p:spPr/>
        <p:txBody>
          <a:bodyPr>
            <a:normAutofit/>
          </a:bodyPr>
          <a:lstStyle/>
          <a:p>
            <a:r>
              <a:rPr lang="en-US" sz="4800" dirty="0"/>
              <a:t>Advertising/Tracking in Smart Home IoT</a:t>
            </a:r>
          </a:p>
        </p:txBody>
      </p:sp>
      <p:sp>
        <p:nvSpPr>
          <p:cNvPr id="3" name="Footer Placeholder 2">
            <a:extLst>
              <a:ext uri="{FF2B5EF4-FFF2-40B4-BE49-F238E27FC236}">
                <a16:creationId xmlns:a16="http://schemas.microsoft.com/office/drawing/2014/main" id="{F5C56D7B-DFED-4B54-AD7E-76B1C70EA48E}"/>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32BC923E-9F37-4FEA-8603-511104AD2C2D}"/>
              </a:ext>
            </a:extLst>
          </p:cNvPr>
          <p:cNvSpPr>
            <a:spLocks noGrp="1"/>
          </p:cNvSpPr>
          <p:nvPr>
            <p:ph type="sldNum" sz="quarter" idx="12"/>
          </p:nvPr>
        </p:nvSpPr>
        <p:spPr>
          <a:xfrm>
            <a:off x="0" y="6253925"/>
            <a:ext cx="711200" cy="357938"/>
          </a:xfrm>
        </p:spPr>
        <p:txBody>
          <a:bodyPr>
            <a:normAutofit lnSpcReduction="10000"/>
          </a:bodyPr>
          <a:lstStyle/>
          <a:p>
            <a:fld id="{2ABC7612-2C91-4738-8FA0-3151D896C48D}" type="slidenum">
              <a:rPr lang="en-US" smtClean="0">
                <a:solidFill>
                  <a:schemeClr val="tx1"/>
                </a:solidFill>
              </a:rPr>
              <a:t>12</a:t>
            </a:fld>
            <a:endParaRPr lang="en-US">
              <a:solidFill>
                <a:schemeClr val="tx1"/>
              </a:solidFill>
            </a:endParaRPr>
          </a:p>
        </p:txBody>
      </p:sp>
      <p:sp>
        <p:nvSpPr>
          <p:cNvPr id="5" name="Content Placeholder 4">
            <a:extLst>
              <a:ext uri="{FF2B5EF4-FFF2-40B4-BE49-F238E27FC236}">
                <a16:creationId xmlns:a16="http://schemas.microsoft.com/office/drawing/2014/main" id="{C8A2BDB7-E636-491E-A864-A465DD0C3B5C}"/>
              </a:ext>
            </a:extLst>
          </p:cNvPr>
          <p:cNvSpPr>
            <a:spLocks noGrp="1"/>
          </p:cNvSpPr>
          <p:nvPr>
            <p:ph sz="quarter" idx="13"/>
          </p:nvPr>
        </p:nvSpPr>
        <p:spPr/>
        <p:txBody>
          <a:bodyPr>
            <a:normAutofit/>
          </a:bodyPr>
          <a:lstStyle/>
          <a:p>
            <a:r>
              <a:rPr lang="en-US" sz="3200" dirty="0"/>
              <a:t>Detect ad/tracking hosts using Pi-Hole’s block lists.</a:t>
            </a:r>
          </a:p>
          <a:p>
            <a:endParaRPr lang="en-US" sz="3200" dirty="0"/>
          </a:p>
          <a:p>
            <a:r>
              <a:rPr lang="en-US" sz="3200" dirty="0"/>
              <a:t>5.9% of Smart TVs unique hosts were ads/tracking, followed by 3.1% of Game Consoles and 2.9% Smart Assistants.</a:t>
            </a:r>
          </a:p>
          <a:p>
            <a:endParaRPr lang="en-US" sz="3200" dirty="0"/>
          </a:p>
          <a:p>
            <a:r>
              <a:rPr lang="en-US" sz="3200" dirty="0"/>
              <a:t>DoubleClick and Google Syndication domains prominent. </a:t>
            </a:r>
          </a:p>
        </p:txBody>
      </p:sp>
      <p:sp>
        <p:nvSpPr>
          <p:cNvPr id="6" name="TextBox 5">
            <a:extLst>
              <a:ext uri="{FF2B5EF4-FFF2-40B4-BE49-F238E27FC236}">
                <a16:creationId xmlns:a16="http://schemas.microsoft.com/office/drawing/2014/main" id="{F2035539-6D84-4560-B8C7-EAE5E09EA6F2}"/>
              </a:ext>
            </a:extLst>
          </p:cNvPr>
          <p:cNvSpPr txBox="1"/>
          <p:nvPr/>
        </p:nvSpPr>
        <p:spPr>
          <a:xfrm>
            <a:off x="812800" y="3136605"/>
            <a:ext cx="10871200" cy="1464231"/>
          </a:xfrm>
          <a:prstGeom prst="roundRect">
            <a:avLst/>
          </a:prstGeom>
          <a:solidFill>
            <a:schemeClr val="bg1">
              <a:lumMod val="85000"/>
            </a:schemeClr>
          </a:solidFill>
          <a:ln>
            <a:solidFill>
              <a:schemeClr val="accent1"/>
            </a:solidFill>
          </a:ln>
        </p:spPr>
        <p:txBody>
          <a:bodyPr wrap="square" rtlCol="0">
            <a:spAutoFit/>
          </a:bodyPr>
          <a:lstStyle/>
          <a:p>
            <a:pPr algn="ctr"/>
            <a:r>
              <a:rPr lang="en-US" sz="4000" dirty="0">
                <a:solidFill>
                  <a:srgbClr val="FF0000"/>
                </a:solidFill>
              </a:rPr>
              <a:t>Online Tracking has reached smart home IoT and requires more study into its effects.</a:t>
            </a:r>
          </a:p>
        </p:txBody>
      </p:sp>
    </p:spTree>
    <p:extLst>
      <p:ext uri="{BB962C8B-B14F-4D97-AF65-F5344CB8AC3E}">
        <p14:creationId xmlns:p14="http://schemas.microsoft.com/office/powerpoint/2010/main" val="355356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mph" presetSubtype="0" grpId="1" nodeType="clickEffect">
                                  <p:stCondLst>
                                    <p:cond delay="0"/>
                                  </p:stCondLst>
                                  <p:childTnLst>
                                    <p:set>
                                      <p:cBhvr>
                                        <p:cTn id="18" dur="indefinite"/>
                                        <p:tgtEl>
                                          <p:spTgt spid="5">
                                            <p:txEl>
                                              <p:pRg st="0" end="0"/>
                                            </p:txEl>
                                          </p:spTgt>
                                        </p:tgtEl>
                                        <p:attrNameLst>
                                          <p:attrName>style.opacity</p:attrName>
                                        </p:attrNameLst>
                                      </p:cBhvr>
                                      <p:to>
                                        <p:strVal val="0.25"/>
                                      </p:to>
                                    </p:set>
                                    <p:animEffect filter="image" prLst="opacity: 0.25">
                                      <p:cBhvr rctx="IE">
                                        <p:cTn id="19" dur="indefinite"/>
                                        <p:tgtEl>
                                          <p:spTgt spid="5">
                                            <p:txEl>
                                              <p:pRg st="0" end="0"/>
                                            </p:txEl>
                                          </p:spTgt>
                                        </p:tgtEl>
                                      </p:cBhvr>
                                    </p:animEffect>
                                  </p:childTnLst>
                                </p:cTn>
                              </p:par>
                              <p:par>
                                <p:cTn id="20" presetID="9" presetClass="emph" presetSubtype="0" grpId="1" nodeType="withEffect">
                                  <p:stCondLst>
                                    <p:cond delay="0"/>
                                  </p:stCondLst>
                                  <p:childTnLst>
                                    <p:set>
                                      <p:cBhvr>
                                        <p:cTn id="21" dur="indefinite"/>
                                        <p:tgtEl>
                                          <p:spTgt spid="5">
                                            <p:txEl>
                                              <p:pRg st="2" end="2"/>
                                            </p:txEl>
                                          </p:spTgt>
                                        </p:tgtEl>
                                        <p:attrNameLst>
                                          <p:attrName>style.opacity</p:attrName>
                                        </p:attrNameLst>
                                      </p:cBhvr>
                                      <p:to>
                                        <p:strVal val="0.25"/>
                                      </p:to>
                                    </p:set>
                                    <p:animEffect filter="image" prLst="opacity: 0.25">
                                      <p:cBhvr rctx="IE">
                                        <p:cTn id="22" dur="indefinite"/>
                                        <p:tgtEl>
                                          <p:spTgt spid="5">
                                            <p:txEl>
                                              <p:pRg st="2" end="2"/>
                                            </p:txEl>
                                          </p:spTgt>
                                        </p:tgtEl>
                                      </p:cBhvr>
                                    </p:animEffect>
                                  </p:childTnLst>
                                </p:cTn>
                              </p:par>
                              <p:par>
                                <p:cTn id="23" presetID="9" presetClass="emph" presetSubtype="0" grpId="1" nodeType="withEffect">
                                  <p:stCondLst>
                                    <p:cond delay="0"/>
                                  </p:stCondLst>
                                  <p:childTnLst>
                                    <p:set>
                                      <p:cBhvr>
                                        <p:cTn id="24" dur="indefinite"/>
                                        <p:tgtEl>
                                          <p:spTgt spid="5">
                                            <p:txEl>
                                              <p:pRg st="4" end="4"/>
                                            </p:txEl>
                                          </p:spTgt>
                                        </p:tgtEl>
                                        <p:attrNameLst>
                                          <p:attrName>style.opacity</p:attrName>
                                        </p:attrNameLst>
                                      </p:cBhvr>
                                      <p:to>
                                        <p:strVal val="0.25"/>
                                      </p:to>
                                    </p:set>
                                    <p:animEffect filter="image" prLst="opacity: 0.25">
                                      <p:cBhvr rctx="IE">
                                        <p:cTn id="25" dur="indefinite"/>
                                        <p:tgtEl>
                                          <p:spTgt spid="5">
                                            <p:txEl>
                                              <p:pRg st="4" end="4"/>
                                            </p:txEl>
                                          </p:spTgt>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uiExpand="1" build="p"/>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8B556-82FB-4A9F-8D16-177B75E0DE5F}"/>
              </a:ext>
            </a:extLst>
          </p:cNvPr>
          <p:cNvSpPr>
            <a:spLocks noGrp="1"/>
          </p:cNvSpPr>
          <p:nvPr>
            <p:ph type="title"/>
          </p:nvPr>
        </p:nvSpPr>
        <p:spPr>
          <a:xfrm>
            <a:off x="711201" y="157480"/>
            <a:ext cx="11119852" cy="1341120"/>
          </a:xfrm>
        </p:spPr>
        <p:txBody>
          <a:bodyPr>
            <a:noAutofit/>
          </a:bodyPr>
          <a:lstStyle/>
          <a:p>
            <a:r>
              <a:rPr lang="en-US" sz="4800" dirty="0"/>
              <a:t>Security/Privacy Issues in Smart Home IoT</a:t>
            </a:r>
          </a:p>
        </p:txBody>
      </p:sp>
      <p:sp>
        <p:nvSpPr>
          <p:cNvPr id="3" name="Footer Placeholder 2">
            <a:extLst>
              <a:ext uri="{FF2B5EF4-FFF2-40B4-BE49-F238E27FC236}">
                <a16:creationId xmlns:a16="http://schemas.microsoft.com/office/drawing/2014/main" id="{7955ABD5-1E90-45B0-915F-B02008325543}"/>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0DEA49E9-3B8C-473F-8192-4D0CA86FDA44}"/>
              </a:ext>
            </a:extLst>
          </p:cNvPr>
          <p:cNvSpPr>
            <a:spLocks noGrp="1"/>
          </p:cNvSpPr>
          <p:nvPr>
            <p:ph type="sldNum" sz="quarter" idx="12"/>
          </p:nvPr>
        </p:nvSpPr>
        <p:spPr>
          <a:xfrm>
            <a:off x="0" y="6261933"/>
            <a:ext cx="711200" cy="357938"/>
          </a:xfrm>
        </p:spPr>
        <p:txBody>
          <a:bodyPr>
            <a:normAutofit lnSpcReduction="10000"/>
          </a:bodyPr>
          <a:lstStyle/>
          <a:p>
            <a:fld id="{2ABC7612-2C91-4738-8FA0-3151D896C48D}" type="slidenum">
              <a:rPr lang="en-US" smtClean="0">
                <a:solidFill>
                  <a:schemeClr val="tx1"/>
                </a:solidFill>
              </a:rPr>
              <a:t>13</a:t>
            </a:fld>
            <a:endParaRPr lang="en-US">
              <a:solidFill>
                <a:schemeClr val="tx1"/>
              </a:solidFill>
            </a:endParaRPr>
          </a:p>
        </p:txBody>
      </p:sp>
      <p:sp>
        <p:nvSpPr>
          <p:cNvPr id="5" name="Content Placeholder 4">
            <a:extLst>
              <a:ext uri="{FF2B5EF4-FFF2-40B4-BE49-F238E27FC236}">
                <a16:creationId xmlns:a16="http://schemas.microsoft.com/office/drawing/2014/main" id="{8FF9ABAA-5105-4257-86E9-2CD0258012E1}"/>
              </a:ext>
            </a:extLst>
          </p:cNvPr>
          <p:cNvSpPr>
            <a:spLocks noGrp="1"/>
          </p:cNvSpPr>
          <p:nvPr>
            <p:ph sz="quarter" idx="13"/>
          </p:nvPr>
        </p:nvSpPr>
        <p:spPr/>
        <p:txBody>
          <a:bodyPr>
            <a:normAutofit/>
          </a:bodyPr>
          <a:lstStyle/>
          <a:p>
            <a:r>
              <a:rPr lang="en-US" sz="3200" dirty="0"/>
              <a:t>Highlight current issues and their implications.</a:t>
            </a:r>
          </a:p>
          <a:p>
            <a:r>
              <a:rPr lang="en-US" sz="3200" dirty="0"/>
              <a:t>4 case studies:</a:t>
            </a:r>
          </a:p>
          <a:p>
            <a:pPr lvl="1"/>
            <a:r>
              <a:rPr lang="en-US" sz="3200" b="1" dirty="0"/>
              <a:t>Security via Access Control </a:t>
            </a:r>
            <a:r>
              <a:rPr lang="en-US" sz="3200" dirty="0"/>
              <a:t>– </a:t>
            </a:r>
            <a:r>
              <a:rPr lang="en-US" sz="2400" dirty="0">
                <a:solidFill>
                  <a:srgbClr val="FF0000"/>
                </a:solidFill>
              </a:rPr>
              <a:t>Feasible, account for dynamic traffic</a:t>
            </a:r>
            <a:r>
              <a:rPr lang="en-US" sz="2400" b="1" dirty="0"/>
              <a:t> </a:t>
            </a:r>
          </a:p>
          <a:p>
            <a:pPr lvl="1"/>
            <a:r>
              <a:rPr lang="en-US" sz="3200" b="1" dirty="0"/>
              <a:t>Advertising/Tracking </a:t>
            </a:r>
            <a:r>
              <a:rPr lang="en-US" sz="4000" dirty="0"/>
              <a:t>– </a:t>
            </a:r>
            <a:r>
              <a:rPr lang="en-US" sz="2400" dirty="0">
                <a:solidFill>
                  <a:srgbClr val="FF0000"/>
                </a:solidFill>
              </a:rPr>
              <a:t>Present in certain devices, major players.</a:t>
            </a:r>
            <a:endParaRPr lang="en-US" sz="2400" dirty="0"/>
          </a:p>
          <a:p>
            <a:pPr lvl="1"/>
            <a:r>
              <a:rPr lang="en-US" sz="3200" dirty="0"/>
              <a:t>Unencrypted Traffic – </a:t>
            </a:r>
            <a:r>
              <a:rPr lang="en-US" sz="2400" dirty="0">
                <a:solidFill>
                  <a:srgbClr val="FF0000"/>
                </a:solidFill>
              </a:rPr>
              <a:t>Devices vulnerable to HTTP snooping.</a:t>
            </a:r>
          </a:p>
          <a:p>
            <a:pPr lvl="1"/>
            <a:r>
              <a:rPr lang="en-US" sz="3200" dirty="0"/>
              <a:t>Use of public DNS services – </a:t>
            </a:r>
            <a:r>
              <a:rPr lang="en-US" sz="2400" dirty="0">
                <a:solidFill>
                  <a:srgbClr val="FF0000"/>
                </a:solidFill>
              </a:rPr>
              <a:t>use of Google DNS prevalent.</a:t>
            </a:r>
          </a:p>
        </p:txBody>
      </p:sp>
    </p:spTree>
    <p:extLst>
      <p:ext uri="{BB962C8B-B14F-4D97-AF65-F5344CB8AC3E}">
        <p14:creationId xmlns:p14="http://schemas.microsoft.com/office/powerpoint/2010/main" val="1078506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56636-846E-405E-882E-2658D313A4C7}"/>
              </a:ext>
            </a:extLst>
          </p:cNvPr>
          <p:cNvSpPr>
            <a:spLocks noGrp="1"/>
          </p:cNvSpPr>
          <p:nvPr>
            <p:ph type="title"/>
          </p:nvPr>
        </p:nvSpPr>
        <p:spPr/>
        <p:txBody>
          <a:bodyPr/>
          <a:lstStyle/>
          <a:p>
            <a:r>
              <a:rPr lang="en-US" dirty="0"/>
              <a:t>Conclusions and Implications</a:t>
            </a:r>
          </a:p>
        </p:txBody>
      </p:sp>
      <p:sp>
        <p:nvSpPr>
          <p:cNvPr id="3" name="Footer Placeholder 2">
            <a:extLst>
              <a:ext uri="{FF2B5EF4-FFF2-40B4-BE49-F238E27FC236}">
                <a16:creationId xmlns:a16="http://schemas.microsoft.com/office/drawing/2014/main" id="{ADF74931-3F12-4913-B78D-97C71155F6D0}"/>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4314CA46-9B4A-4905-AFA4-177FD48C3127}"/>
              </a:ext>
            </a:extLst>
          </p:cNvPr>
          <p:cNvSpPr>
            <a:spLocks noGrp="1"/>
          </p:cNvSpPr>
          <p:nvPr>
            <p:ph type="sldNum" sz="quarter" idx="12"/>
          </p:nvPr>
        </p:nvSpPr>
        <p:spPr>
          <a:xfrm>
            <a:off x="0" y="6253925"/>
            <a:ext cx="711200" cy="357938"/>
          </a:xfrm>
        </p:spPr>
        <p:txBody>
          <a:bodyPr>
            <a:normAutofit lnSpcReduction="10000"/>
          </a:bodyPr>
          <a:lstStyle/>
          <a:p>
            <a:fld id="{2ABC7612-2C91-4738-8FA0-3151D896C48D}" type="slidenum">
              <a:rPr lang="en-US" smtClean="0">
                <a:solidFill>
                  <a:schemeClr val="tx1"/>
                </a:solidFill>
              </a:rPr>
              <a:t>14</a:t>
            </a:fld>
            <a:endParaRPr lang="en-US" dirty="0">
              <a:solidFill>
                <a:schemeClr val="tx1"/>
              </a:solidFill>
            </a:endParaRPr>
          </a:p>
        </p:txBody>
      </p:sp>
      <p:sp>
        <p:nvSpPr>
          <p:cNvPr id="5" name="Content Placeholder 4">
            <a:extLst>
              <a:ext uri="{FF2B5EF4-FFF2-40B4-BE49-F238E27FC236}">
                <a16:creationId xmlns:a16="http://schemas.microsoft.com/office/drawing/2014/main" id="{785C63A8-C75A-4F4C-9FA1-E7004D8820E3}"/>
              </a:ext>
            </a:extLst>
          </p:cNvPr>
          <p:cNvSpPr>
            <a:spLocks noGrp="1"/>
          </p:cNvSpPr>
          <p:nvPr>
            <p:ph sz="quarter" idx="13"/>
          </p:nvPr>
        </p:nvSpPr>
        <p:spPr/>
        <p:txBody>
          <a:bodyPr>
            <a:normAutofit/>
          </a:bodyPr>
          <a:lstStyle/>
          <a:p>
            <a:r>
              <a:rPr lang="en-US" sz="3200" dirty="0"/>
              <a:t>Device functionality influences traffic behavior.</a:t>
            </a:r>
          </a:p>
          <a:p>
            <a:pPr lvl="1"/>
            <a:r>
              <a:rPr lang="en-US" sz="2800" dirty="0"/>
              <a:t>Device identification, activity identification, MUD generation.</a:t>
            </a:r>
          </a:p>
          <a:p>
            <a:r>
              <a:rPr lang="en-US" sz="3200" dirty="0"/>
              <a:t>Smart Home IoT backend centralization.</a:t>
            </a:r>
          </a:p>
          <a:p>
            <a:pPr lvl="1"/>
            <a:r>
              <a:rPr lang="en-US" sz="2800" dirty="0"/>
              <a:t>Market monopolization, surveillance, single point of failure.</a:t>
            </a:r>
          </a:p>
          <a:p>
            <a:r>
              <a:rPr lang="en-US" sz="3200" dirty="0"/>
              <a:t>Advertising and Tracking in Smart Home IoT.</a:t>
            </a:r>
          </a:p>
          <a:p>
            <a:pPr lvl="1"/>
            <a:r>
              <a:rPr lang="en-US" sz="2800" dirty="0"/>
              <a:t>Requires more study, solutions catered to smart home IoT.</a:t>
            </a:r>
          </a:p>
          <a:p>
            <a:endParaRPr lang="en-US" sz="3200" dirty="0"/>
          </a:p>
          <a:p>
            <a:pPr marL="0" indent="0">
              <a:buNone/>
            </a:pPr>
            <a:endParaRPr lang="en-US" sz="3200" dirty="0"/>
          </a:p>
        </p:txBody>
      </p:sp>
    </p:spTree>
    <p:extLst>
      <p:ext uri="{BB962C8B-B14F-4D97-AF65-F5344CB8AC3E}">
        <p14:creationId xmlns:p14="http://schemas.microsoft.com/office/powerpoint/2010/main" val="712361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549BC-452D-472C-91AC-0C36FB5E0AF0}"/>
              </a:ext>
            </a:extLst>
          </p:cNvPr>
          <p:cNvSpPr>
            <a:spLocks noGrp="1"/>
          </p:cNvSpPr>
          <p:nvPr>
            <p:ph type="title"/>
          </p:nvPr>
        </p:nvSpPr>
        <p:spPr/>
        <p:txBody>
          <a:bodyPr/>
          <a:lstStyle/>
          <a:p>
            <a:r>
              <a:rPr lang="en-US" dirty="0"/>
              <a:t>Questions</a:t>
            </a:r>
          </a:p>
        </p:txBody>
      </p:sp>
      <p:sp>
        <p:nvSpPr>
          <p:cNvPr id="3" name="Footer Placeholder 2">
            <a:extLst>
              <a:ext uri="{FF2B5EF4-FFF2-40B4-BE49-F238E27FC236}">
                <a16:creationId xmlns:a16="http://schemas.microsoft.com/office/drawing/2014/main" id="{A8B4CC8E-5567-4E47-BBED-17BB0157DE24}"/>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C023989E-0ECC-49C5-BA32-5815A835C3EF}"/>
              </a:ext>
            </a:extLst>
          </p:cNvPr>
          <p:cNvSpPr>
            <a:spLocks noGrp="1"/>
          </p:cNvSpPr>
          <p:nvPr>
            <p:ph type="sldNum" sz="quarter" idx="12"/>
          </p:nvPr>
        </p:nvSpPr>
        <p:spPr>
          <a:xfrm>
            <a:off x="0" y="6253925"/>
            <a:ext cx="711200" cy="357938"/>
          </a:xfrm>
        </p:spPr>
        <p:txBody>
          <a:bodyPr>
            <a:normAutofit lnSpcReduction="10000"/>
          </a:bodyPr>
          <a:lstStyle/>
          <a:p>
            <a:fld id="{2ABC7612-2C91-4738-8FA0-3151D896C48D}" type="slidenum">
              <a:rPr lang="en-US" smtClean="0">
                <a:solidFill>
                  <a:schemeClr val="tx1"/>
                </a:solidFill>
              </a:rPr>
              <a:t>15</a:t>
            </a:fld>
            <a:endParaRPr lang="en-US" dirty="0">
              <a:solidFill>
                <a:schemeClr val="tx1"/>
              </a:solidFill>
            </a:endParaRPr>
          </a:p>
        </p:txBody>
      </p:sp>
      <p:sp>
        <p:nvSpPr>
          <p:cNvPr id="5" name="Content Placeholder 4">
            <a:extLst>
              <a:ext uri="{FF2B5EF4-FFF2-40B4-BE49-F238E27FC236}">
                <a16:creationId xmlns:a16="http://schemas.microsoft.com/office/drawing/2014/main" id="{6A85E0AB-7DBA-4A75-9F57-1D8F3682B709}"/>
              </a:ext>
            </a:extLst>
          </p:cNvPr>
          <p:cNvSpPr>
            <a:spLocks noGrp="1"/>
          </p:cNvSpPr>
          <p:nvPr>
            <p:ph sz="quarter" idx="13"/>
          </p:nvPr>
        </p:nvSpPr>
        <p:spPr/>
        <p:txBody>
          <a:bodyPr/>
          <a:lstStyle/>
          <a:p>
            <a:r>
              <a:rPr lang="en-US" dirty="0"/>
              <a:t>Twitter: </a:t>
            </a:r>
            <a:r>
              <a:rPr lang="en-US" dirty="0">
                <a:hlinkClick r:id="rId2"/>
              </a:rPr>
              <a:t>@</a:t>
            </a:r>
            <a:r>
              <a:rPr lang="en-US" dirty="0" err="1">
                <a:hlinkClick r:id="rId2"/>
              </a:rPr>
              <a:t>HmdMazhar</a:t>
            </a:r>
            <a:endParaRPr lang="en-US" dirty="0"/>
          </a:p>
          <a:p>
            <a:r>
              <a:rPr lang="en-US" dirty="0"/>
              <a:t>Email: </a:t>
            </a:r>
            <a:r>
              <a:rPr lang="en-US" dirty="0">
                <a:hlinkClick r:id="rId3"/>
              </a:rPr>
              <a:t>muhammadhammad-mazhar@uiowa.edu</a:t>
            </a:r>
            <a:endParaRPr lang="en-US" dirty="0"/>
          </a:p>
          <a:p>
            <a:r>
              <a:rPr lang="en-US" dirty="0"/>
              <a:t>Website: </a:t>
            </a:r>
            <a:r>
              <a:rPr lang="en-US" dirty="0">
                <a:hlinkClick r:id="rId4"/>
              </a:rPr>
              <a:t>cs.uiowa.edu/~</a:t>
            </a:r>
            <a:r>
              <a:rPr lang="en-US" dirty="0" err="1">
                <a:hlinkClick r:id="rId4"/>
              </a:rPr>
              <a:t>mmazhar</a:t>
            </a:r>
            <a:endParaRPr lang="en-US" dirty="0"/>
          </a:p>
        </p:txBody>
      </p:sp>
      <p:sp>
        <p:nvSpPr>
          <p:cNvPr id="6" name="TextBox 5">
            <a:extLst>
              <a:ext uri="{FF2B5EF4-FFF2-40B4-BE49-F238E27FC236}">
                <a16:creationId xmlns:a16="http://schemas.microsoft.com/office/drawing/2014/main" id="{FCF3472A-8E3F-4847-A70D-460C770E8D4B}"/>
              </a:ext>
            </a:extLst>
          </p:cNvPr>
          <p:cNvSpPr txBox="1"/>
          <p:nvPr/>
        </p:nvSpPr>
        <p:spPr>
          <a:xfrm>
            <a:off x="4791205" y="6076826"/>
            <a:ext cx="2609589" cy="707886"/>
          </a:xfrm>
          <a:prstGeom prst="rect">
            <a:avLst/>
          </a:prstGeom>
          <a:noFill/>
        </p:spPr>
        <p:txBody>
          <a:bodyPr wrap="square" rtlCol="0">
            <a:spAutoFit/>
          </a:bodyPr>
          <a:lstStyle/>
          <a:p>
            <a:r>
              <a:rPr lang="en-US" sz="4000" dirty="0" err="1"/>
              <a:t>IoTDI</a:t>
            </a:r>
            <a:r>
              <a:rPr lang="en-US" sz="4000" dirty="0"/>
              <a:t> 2020</a:t>
            </a:r>
          </a:p>
        </p:txBody>
      </p:sp>
    </p:spTree>
    <p:extLst>
      <p:ext uri="{BB962C8B-B14F-4D97-AF65-F5344CB8AC3E}">
        <p14:creationId xmlns:p14="http://schemas.microsoft.com/office/powerpoint/2010/main" val="3964602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D9A5-4410-42E8-AB69-E534B96BA251}"/>
              </a:ext>
            </a:extLst>
          </p:cNvPr>
          <p:cNvSpPr>
            <a:spLocks noGrp="1"/>
          </p:cNvSpPr>
          <p:nvPr>
            <p:ph type="title"/>
          </p:nvPr>
        </p:nvSpPr>
        <p:spPr/>
        <p:txBody>
          <a:bodyPr/>
          <a:lstStyle/>
          <a:p>
            <a:r>
              <a:rPr lang="en-US" sz="4800" dirty="0"/>
              <a:t>Overview – Smart Home IoT</a:t>
            </a:r>
            <a:r>
              <a:rPr lang="en-US" dirty="0"/>
              <a:t>	</a:t>
            </a:r>
          </a:p>
        </p:txBody>
      </p:sp>
      <p:sp>
        <p:nvSpPr>
          <p:cNvPr id="3" name="Content Placeholder 2">
            <a:extLst>
              <a:ext uri="{FF2B5EF4-FFF2-40B4-BE49-F238E27FC236}">
                <a16:creationId xmlns:a16="http://schemas.microsoft.com/office/drawing/2014/main" id="{A9F78E5C-51E8-48CA-8719-13A97590C8EE}"/>
              </a:ext>
            </a:extLst>
          </p:cNvPr>
          <p:cNvSpPr>
            <a:spLocks noGrp="1"/>
          </p:cNvSpPr>
          <p:nvPr>
            <p:ph sz="quarter" idx="13"/>
          </p:nvPr>
        </p:nvSpPr>
        <p:spPr/>
        <p:txBody>
          <a:bodyPr/>
          <a:lstStyle/>
          <a:p>
            <a:r>
              <a:rPr lang="en-US" sz="3200" dirty="0"/>
              <a:t>1396 million devices expected to ship worldwide in 2023 (from 840 million in 2019). [IDC]</a:t>
            </a:r>
          </a:p>
          <a:p>
            <a:r>
              <a:rPr lang="en-US" sz="3200" dirty="0"/>
              <a:t>Smart home IoT expected to contribute 48% of all IoT traffic by 2022. [Cisco]</a:t>
            </a:r>
          </a:p>
          <a:p>
            <a:endParaRPr lang="en-US" sz="3200" dirty="0"/>
          </a:p>
          <a:p>
            <a:pPr marL="0" indent="0" algn="ctr">
              <a:buNone/>
            </a:pPr>
            <a:r>
              <a:rPr lang="en-US" sz="3600" dirty="0">
                <a:solidFill>
                  <a:schemeClr val="accent2"/>
                </a:solidFill>
              </a:rPr>
              <a:t>Smart home IoT devices have become ubiquitous in everyday life.</a:t>
            </a:r>
          </a:p>
          <a:p>
            <a:endParaRPr lang="en-US" dirty="0"/>
          </a:p>
        </p:txBody>
      </p:sp>
      <p:sp>
        <p:nvSpPr>
          <p:cNvPr id="4" name="Footer Placeholder 3">
            <a:extLst>
              <a:ext uri="{FF2B5EF4-FFF2-40B4-BE49-F238E27FC236}">
                <a16:creationId xmlns:a16="http://schemas.microsoft.com/office/drawing/2014/main" id="{B48D11C8-49E6-468C-B1C2-F4905FD0F350}"/>
              </a:ext>
            </a:extLst>
          </p:cNvPr>
          <p:cNvSpPr>
            <a:spLocks noGrp="1"/>
          </p:cNvSpPr>
          <p:nvPr>
            <p:ph type="ftr" sz="quarter" idx="11"/>
          </p:nvPr>
        </p:nvSpPr>
        <p:spPr>
          <a:xfrm>
            <a:off x="812801" y="6409423"/>
            <a:ext cx="10871200" cy="365125"/>
          </a:xfrm>
        </p:spPr>
        <p:txBody>
          <a:bodyPr/>
          <a:lstStyle/>
          <a:p>
            <a:r>
              <a:rPr lang="en-US" dirty="0"/>
              <a:t>M. Hammad Mazhar</a:t>
            </a:r>
          </a:p>
        </p:txBody>
      </p:sp>
      <p:sp>
        <p:nvSpPr>
          <p:cNvPr id="5" name="Slide Number Placeholder 4">
            <a:extLst>
              <a:ext uri="{FF2B5EF4-FFF2-40B4-BE49-F238E27FC236}">
                <a16:creationId xmlns:a16="http://schemas.microsoft.com/office/drawing/2014/main" id="{D49304E7-AFB9-49CC-9FAA-60A6B6CE10CD}"/>
              </a:ext>
            </a:extLst>
          </p:cNvPr>
          <p:cNvSpPr>
            <a:spLocks noGrp="1"/>
          </p:cNvSpPr>
          <p:nvPr>
            <p:ph type="sldNum" sz="quarter" idx="12"/>
          </p:nvPr>
        </p:nvSpPr>
        <p:spPr>
          <a:xfrm>
            <a:off x="136357" y="6322025"/>
            <a:ext cx="577516" cy="334618"/>
          </a:xfrm>
        </p:spPr>
        <p:txBody>
          <a:bodyPr>
            <a:normAutofit fontScale="92500" lnSpcReduction="10000"/>
          </a:bodyPr>
          <a:lstStyle/>
          <a:p>
            <a:fld id="{2ABC7612-2C91-4738-8FA0-3151D896C48D}" type="slidenum">
              <a:rPr lang="en-US" smtClean="0">
                <a:solidFill>
                  <a:schemeClr val="tx1"/>
                </a:solidFill>
              </a:rPr>
              <a:t>16</a:t>
            </a:fld>
            <a:endParaRPr lang="en-US" dirty="0">
              <a:solidFill>
                <a:schemeClr val="tx1"/>
              </a:solidFill>
            </a:endParaRPr>
          </a:p>
        </p:txBody>
      </p:sp>
    </p:spTree>
    <p:extLst>
      <p:ext uri="{BB962C8B-B14F-4D97-AF65-F5344CB8AC3E}">
        <p14:creationId xmlns:p14="http://schemas.microsoft.com/office/powerpoint/2010/main" val="216400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6D76-2EB5-4CD4-AF89-1BA8B53AD7CB}"/>
              </a:ext>
            </a:extLst>
          </p:cNvPr>
          <p:cNvSpPr>
            <a:spLocks noGrp="1"/>
          </p:cNvSpPr>
          <p:nvPr>
            <p:ph type="title"/>
          </p:nvPr>
        </p:nvSpPr>
        <p:spPr>
          <a:xfrm>
            <a:off x="711201" y="157480"/>
            <a:ext cx="11416632" cy="1341120"/>
          </a:xfrm>
        </p:spPr>
        <p:txBody>
          <a:bodyPr>
            <a:noAutofit/>
          </a:bodyPr>
          <a:lstStyle/>
          <a:p>
            <a:r>
              <a:rPr lang="en-US" sz="4800" dirty="0"/>
              <a:t>Volumetric Characteristics of Smart Home IoT</a:t>
            </a:r>
          </a:p>
        </p:txBody>
      </p:sp>
      <p:sp>
        <p:nvSpPr>
          <p:cNvPr id="3" name="Footer Placeholder 2">
            <a:extLst>
              <a:ext uri="{FF2B5EF4-FFF2-40B4-BE49-F238E27FC236}">
                <a16:creationId xmlns:a16="http://schemas.microsoft.com/office/drawing/2014/main" id="{57784480-5C50-44B2-AC8B-D534FD5AB2C0}"/>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AB8FF2D2-38AF-4909-8B53-52ED58CCD294}"/>
              </a:ext>
            </a:extLst>
          </p:cNvPr>
          <p:cNvSpPr>
            <a:spLocks noGrp="1"/>
          </p:cNvSpPr>
          <p:nvPr>
            <p:ph type="sldNum" sz="quarter" idx="12"/>
          </p:nvPr>
        </p:nvSpPr>
        <p:spPr>
          <a:xfrm>
            <a:off x="36096" y="6249916"/>
            <a:ext cx="711200" cy="357938"/>
          </a:xfrm>
        </p:spPr>
        <p:txBody>
          <a:bodyPr>
            <a:normAutofit lnSpcReduction="10000"/>
          </a:bodyPr>
          <a:lstStyle/>
          <a:p>
            <a:fld id="{2ABC7612-2C91-4738-8FA0-3151D896C48D}" type="slidenum">
              <a:rPr lang="en-US" smtClean="0">
                <a:solidFill>
                  <a:schemeClr val="tx1"/>
                </a:solidFill>
              </a:rPr>
              <a:t>17</a:t>
            </a:fld>
            <a:endParaRPr lang="en-US" dirty="0">
              <a:solidFill>
                <a:schemeClr val="tx1"/>
              </a:solidFill>
            </a:endParaRPr>
          </a:p>
        </p:txBody>
      </p:sp>
      <p:sp>
        <p:nvSpPr>
          <p:cNvPr id="5" name="Content Placeholder 4">
            <a:extLst>
              <a:ext uri="{FF2B5EF4-FFF2-40B4-BE49-F238E27FC236}">
                <a16:creationId xmlns:a16="http://schemas.microsoft.com/office/drawing/2014/main" id="{99136B12-18EF-4699-9493-16B3B6CD7B89}"/>
              </a:ext>
            </a:extLst>
          </p:cNvPr>
          <p:cNvSpPr>
            <a:spLocks noGrp="1"/>
          </p:cNvSpPr>
          <p:nvPr>
            <p:ph sz="quarter" idx="13"/>
          </p:nvPr>
        </p:nvSpPr>
        <p:spPr>
          <a:xfrm>
            <a:off x="812800" y="1803400"/>
            <a:ext cx="10871198" cy="4368800"/>
          </a:xfrm>
        </p:spPr>
        <p:txBody>
          <a:bodyPr>
            <a:normAutofit/>
          </a:bodyPr>
          <a:lstStyle/>
          <a:p>
            <a:r>
              <a:rPr lang="en-US" sz="3200" dirty="0"/>
              <a:t>Flow distributions across device categories</a:t>
            </a:r>
          </a:p>
        </p:txBody>
      </p:sp>
      <p:pic>
        <p:nvPicPr>
          <p:cNvPr id="7" name="Graphic 6">
            <a:extLst>
              <a:ext uri="{FF2B5EF4-FFF2-40B4-BE49-F238E27FC236}">
                <a16:creationId xmlns:a16="http://schemas.microsoft.com/office/drawing/2014/main" id="{895C6B68-1FE3-4AC4-ACD4-1A03A74F1E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85938" y="2454623"/>
            <a:ext cx="5055898" cy="3793584"/>
          </a:xfrm>
          <a:prstGeom prst="rect">
            <a:avLst/>
          </a:prstGeom>
        </p:spPr>
      </p:pic>
      <p:sp>
        <p:nvSpPr>
          <p:cNvPr id="6" name="Rectangle 5">
            <a:extLst>
              <a:ext uri="{FF2B5EF4-FFF2-40B4-BE49-F238E27FC236}">
                <a16:creationId xmlns:a16="http://schemas.microsoft.com/office/drawing/2014/main" id="{C74CCE19-0020-4623-B349-9CADA117AD7A}"/>
              </a:ext>
            </a:extLst>
          </p:cNvPr>
          <p:cNvSpPr/>
          <p:nvPr/>
        </p:nvSpPr>
        <p:spPr>
          <a:xfrm>
            <a:off x="4219075" y="2454623"/>
            <a:ext cx="922421" cy="34284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159FB5E-5B20-4AA8-9112-3F84C36B6B7E}"/>
              </a:ext>
            </a:extLst>
          </p:cNvPr>
          <p:cNvSpPr txBox="1"/>
          <p:nvPr/>
        </p:nvSpPr>
        <p:spPr>
          <a:xfrm>
            <a:off x="355600" y="2595363"/>
            <a:ext cx="3168316" cy="919401"/>
          </a:xfrm>
          <a:prstGeom prst="roundRect">
            <a:avLst/>
          </a:prstGeom>
          <a:solidFill>
            <a:schemeClr val="bg1">
              <a:lumMod val="95000"/>
            </a:schemeClr>
          </a:solidFill>
          <a:ln w="28575">
            <a:solidFill>
              <a:schemeClr val="tx1"/>
            </a:solidFill>
          </a:ln>
        </p:spPr>
        <p:txBody>
          <a:bodyPr wrap="square" rtlCol="0">
            <a:spAutoFit/>
          </a:bodyPr>
          <a:lstStyle/>
          <a:p>
            <a:r>
              <a:rPr lang="en-US" sz="2400" dirty="0">
                <a:solidFill>
                  <a:schemeClr val="accent1"/>
                </a:solidFill>
              </a:rPr>
              <a:t>Low-volume control traffic.</a:t>
            </a:r>
          </a:p>
        </p:txBody>
      </p:sp>
      <p:sp>
        <p:nvSpPr>
          <p:cNvPr id="11" name="Rectangle 10">
            <a:extLst>
              <a:ext uri="{FF2B5EF4-FFF2-40B4-BE49-F238E27FC236}">
                <a16:creationId xmlns:a16="http://schemas.microsoft.com/office/drawing/2014/main" id="{E02E2E7C-7E91-42BB-80DC-06297B028A81}"/>
              </a:ext>
            </a:extLst>
          </p:cNvPr>
          <p:cNvSpPr/>
          <p:nvPr/>
        </p:nvSpPr>
        <p:spPr>
          <a:xfrm>
            <a:off x="7082592" y="5601197"/>
            <a:ext cx="1564104" cy="16906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9A210C-7C7D-4E17-9BC6-B8D0EDD6E2B7}"/>
              </a:ext>
            </a:extLst>
          </p:cNvPr>
          <p:cNvSpPr/>
          <p:nvPr/>
        </p:nvSpPr>
        <p:spPr>
          <a:xfrm>
            <a:off x="7074572" y="4628506"/>
            <a:ext cx="1572124" cy="28788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2DC052-08F2-49E6-9FD1-5C928D431DEA}"/>
              </a:ext>
            </a:extLst>
          </p:cNvPr>
          <p:cNvSpPr/>
          <p:nvPr/>
        </p:nvSpPr>
        <p:spPr>
          <a:xfrm>
            <a:off x="7074571" y="5095875"/>
            <a:ext cx="1572123" cy="14019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D257656-1E09-433F-A632-9CEF2AD9B753}"/>
              </a:ext>
            </a:extLst>
          </p:cNvPr>
          <p:cNvCxnSpPr>
            <a:cxnSpLocks/>
            <a:endCxn id="10" idx="3"/>
          </p:cNvCxnSpPr>
          <p:nvPr/>
        </p:nvCxnSpPr>
        <p:spPr>
          <a:xfrm flipH="1">
            <a:off x="3523916" y="3055064"/>
            <a:ext cx="6951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0544E70-1A41-4C7E-B0DC-610084C47894}"/>
              </a:ext>
            </a:extLst>
          </p:cNvPr>
          <p:cNvSpPr/>
          <p:nvPr/>
        </p:nvSpPr>
        <p:spPr>
          <a:xfrm>
            <a:off x="7074572" y="4919414"/>
            <a:ext cx="1572126" cy="17646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6BC1E5-0FB3-4569-8DAE-F75B6C25E0A4}"/>
              </a:ext>
            </a:extLst>
          </p:cNvPr>
          <p:cNvSpPr/>
          <p:nvPr/>
        </p:nvSpPr>
        <p:spPr>
          <a:xfrm>
            <a:off x="7074573" y="5248276"/>
            <a:ext cx="1572126" cy="17646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784D46F-B474-48B5-87D8-A945EBC9661A}"/>
              </a:ext>
            </a:extLst>
          </p:cNvPr>
          <p:cNvSpPr/>
          <p:nvPr/>
        </p:nvSpPr>
        <p:spPr>
          <a:xfrm>
            <a:off x="7074573" y="4269714"/>
            <a:ext cx="1572126" cy="176461"/>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40FBDD-BF42-4F2C-9371-B2715FBD5AA9}"/>
              </a:ext>
            </a:extLst>
          </p:cNvPr>
          <p:cNvSpPr/>
          <p:nvPr/>
        </p:nvSpPr>
        <p:spPr>
          <a:xfrm>
            <a:off x="6598654" y="2454623"/>
            <a:ext cx="2048040" cy="152866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E6F9A52-7544-4BB2-BBC1-509B92489C32}"/>
              </a:ext>
            </a:extLst>
          </p:cNvPr>
          <p:cNvSpPr txBox="1"/>
          <p:nvPr/>
        </p:nvSpPr>
        <p:spPr>
          <a:xfrm>
            <a:off x="9274973" y="2554942"/>
            <a:ext cx="2614936" cy="1736646"/>
          </a:xfrm>
          <a:prstGeom prst="roundRect">
            <a:avLst/>
          </a:prstGeom>
          <a:solidFill>
            <a:schemeClr val="bg1">
              <a:lumMod val="95000"/>
            </a:schemeClr>
          </a:solidFill>
          <a:ln w="28575">
            <a:solidFill>
              <a:schemeClr val="accent2"/>
            </a:solidFill>
          </a:ln>
        </p:spPr>
        <p:txBody>
          <a:bodyPr wrap="square" rtlCol="0">
            <a:spAutoFit/>
          </a:bodyPr>
          <a:lstStyle/>
          <a:p>
            <a:r>
              <a:rPr lang="en-US" sz="2400" dirty="0">
                <a:solidFill>
                  <a:schemeClr val="accent1"/>
                </a:solidFill>
              </a:rPr>
              <a:t>High volume flows from accessing Web content or video data</a:t>
            </a:r>
          </a:p>
        </p:txBody>
      </p:sp>
      <p:cxnSp>
        <p:nvCxnSpPr>
          <p:cNvPr id="22" name="Straight Arrow Connector 21">
            <a:extLst>
              <a:ext uri="{FF2B5EF4-FFF2-40B4-BE49-F238E27FC236}">
                <a16:creationId xmlns:a16="http://schemas.microsoft.com/office/drawing/2014/main" id="{05B3ED23-125B-4550-8F06-2B1315F01772}"/>
              </a:ext>
            </a:extLst>
          </p:cNvPr>
          <p:cNvCxnSpPr>
            <a:cxnSpLocks/>
            <a:endCxn id="9" idx="1"/>
          </p:cNvCxnSpPr>
          <p:nvPr/>
        </p:nvCxnSpPr>
        <p:spPr>
          <a:xfrm>
            <a:off x="8646694" y="3423265"/>
            <a:ext cx="628279"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864207-EA27-46E7-9ED5-59DDFF11FF77}"/>
              </a:ext>
            </a:extLst>
          </p:cNvPr>
          <p:cNvSpPr txBox="1"/>
          <p:nvPr/>
        </p:nvSpPr>
        <p:spPr>
          <a:xfrm>
            <a:off x="812800" y="3510612"/>
            <a:ext cx="10871198" cy="1464231"/>
          </a:xfrm>
          <a:prstGeom prst="roundRect">
            <a:avLst/>
          </a:prstGeom>
          <a:solidFill>
            <a:schemeClr val="bg1">
              <a:lumMod val="85000"/>
            </a:schemeClr>
          </a:solidFill>
          <a:ln>
            <a:solidFill>
              <a:schemeClr val="accent1"/>
            </a:solidFill>
          </a:ln>
        </p:spPr>
        <p:txBody>
          <a:bodyPr wrap="square" rtlCol="0">
            <a:spAutoFit/>
          </a:bodyPr>
          <a:lstStyle/>
          <a:p>
            <a:pPr algn="ctr"/>
            <a:r>
              <a:rPr lang="en-US" sz="4000" dirty="0">
                <a:solidFill>
                  <a:srgbClr val="FF0000"/>
                </a:solidFill>
              </a:rPr>
              <a:t>Device functionality determines volumetric characteristics. </a:t>
            </a:r>
          </a:p>
        </p:txBody>
      </p:sp>
    </p:spTree>
    <p:extLst>
      <p:ext uri="{BB962C8B-B14F-4D97-AF65-F5344CB8AC3E}">
        <p14:creationId xmlns:p14="http://schemas.microsoft.com/office/powerpoint/2010/main" val="289587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p:cTn id="42" dur="indefinite"/>
                                        <p:tgtEl>
                                          <p:spTgt spid="5">
                                            <p:txEl>
                                              <p:pRg st="0" end="0"/>
                                            </p:txEl>
                                          </p:spTgt>
                                        </p:tgtEl>
                                        <p:attrNameLst>
                                          <p:attrName>style.opacity</p:attrName>
                                        </p:attrNameLst>
                                      </p:cBhvr>
                                      <p:to>
                                        <p:strVal val="0.25"/>
                                      </p:to>
                                    </p:set>
                                    <p:animEffect filter="image" prLst="opacity: 0.25">
                                      <p:cBhvr rctx="IE">
                                        <p:cTn id="43" dur="indefinite"/>
                                        <p:tgtEl>
                                          <p:spTgt spid="5">
                                            <p:txEl>
                                              <p:pRg st="0" end="0"/>
                                            </p:txEl>
                                          </p:spTgt>
                                        </p:tgtEl>
                                      </p:cBhvr>
                                    </p:animEffect>
                                  </p:childTnLst>
                                </p:cTn>
                              </p:par>
                              <p:par>
                                <p:cTn id="44" presetID="9" presetClass="emph" presetSubtype="0" nodeType="withEffect">
                                  <p:stCondLst>
                                    <p:cond delay="0"/>
                                  </p:stCondLst>
                                  <p:childTnLst>
                                    <p:set>
                                      <p:cBhvr>
                                        <p:cTn id="45" dur="indefinite"/>
                                        <p:tgtEl>
                                          <p:spTgt spid="7"/>
                                        </p:tgtEl>
                                        <p:attrNameLst>
                                          <p:attrName>style.opacity</p:attrName>
                                        </p:attrNameLst>
                                      </p:cBhvr>
                                      <p:to>
                                        <p:strVal val="0.25"/>
                                      </p:to>
                                    </p:set>
                                    <p:animEffect filter="image" prLst="opacity: 0.25">
                                      <p:cBhvr rctx="IE">
                                        <p:cTn id="46" dur="indefinite"/>
                                        <p:tgtEl>
                                          <p:spTgt spid="7"/>
                                        </p:tgtEl>
                                      </p:cBhvr>
                                    </p:animEffect>
                                  </p:childTnLst>
                                </p:cTn>
                              </p:par>
                              <p:par>
                                <p:cTn id="47" presetID="9" presetClass="emph" presetSubtype="0" grpId="1" nodeType="withEffect">
                                  <p:stCondLst>
                                    <p:cond delay="0"/>
                                  </p:stCondLst>
                                  <p:childTnLst>
                                    <p:set>
                                      <p:cBhvr>
                                        <p:cTn id="48" dur="indefinite"/>
                                        <p:tgtEl>
                                          <p:spTgt spid="11"/>
                                        </p:tgtEl>
                                        <p:attrNameLst>
                                          <p:attrName>style.opacity</p:attrName>
                                        </p:attrNameLst>
                                      </p:cBhvr>
                                      <p:to>
                                        <p:strVal val="0.25"/>
                                      </p:to>
                                    </p:set>
                                    <p:animEffect filter="image" prLst="opacity: 0.25">
                                      <p:cBhvr rctx="IE">
                                        <p:cTn id="49" dur="indefinite"/>
                                        <p:tgtEl>
                                          <p:spTgt spid="11"/>
                                        </p:tgtEl>
                                      </p:cBhvr>
                                    </p:animEffect>
                                  </p:childTnLst>
                                </p:cTn>
                              </p:par>
                              <p:par>
                                <p:cTn id="50" presetID="9" presetClass="emph" presetSubtype="0" grpId="1" nodeType="withEffect">
                                  <p:stCondLst>
                                    <p:cond delay="0"/>
                                  </p:stCondLst>
                                  <p:childTnLst>
                                    <p:set>
                                      <p:cBhvr>
                                        <p:cTn id="51" dur="indefinite"/>
                                        <p:tgtEl>
                                          <p:spTgt spid="14"/>
                                        </p:tgtEl>
                                        <p:attrNameLst>
                                          <p:attrName>style.opacity</p:attrName>
                                        </p:attrNameLst>
                                      </p:cBhvr>
                                      <p:to>
                                        <p:strVal val="0.25"/>
                                      </p:to>
                                    </p:set>
                                    <p:animEffect filter="image" prLst="opacity: 0.25">
                                      <p:cBhvr rctx="IE">
                                        <p:cTn id="52" dur="indefinite"/>
                                        <p:tgtEl>
                                          <p:spTgt spid="14"/>
                                        </p:tgtEl>
                                      </p:cBhvr>
                                    </p:animEffect>
                                  </p:childTnLst>
                                </p:cTn>
                              </p:par>
                              <p:par>
                                <p:cTn id="53" presetID="9" presetClass="emph" presetSubtype="0" grpId="1" nodeType="withEffect">
                                  <p:stCondLst>
                                    <p:cond delay="0"/>
                                  </p:stCondLst>
                                  <p:childTnLst>
                                    <p:set>
                                      <p:cBhvr>
                                        <p:cTn id="54" dur="indefinite"/>
                                        <p:tgtEl>
                                          <p:spTgt spid="12"/>
                                        </p:tgtEl>
                                        <p:attrNameLst>
                                          <p:attrName>style.opacity</p:attrName>
                                        </p:attrNameLst>
                                      </p:cBhvr>
                                      <p:to>
                                        <p:strVal val="0.25"/>
                                      </p:to>
                                    </p:set>
                                    <p:animEffect filter="image" prLst="opacity: 0.25">
                                      <p:cBhvr rctx="IE">
                                        <p:cTn id="55" dur="indefinite"/>
                                        <p:tgtEl>
                                          <p:spTgt spid="12"/>
                                        </p:tgtEl>
                                      </p:cBhvr>
                                    </p:animEffect>
                                  </p:childTnLst>
                                </p:cTn>
                              </p:par>
                              <p:par>
                                <p:cTn id="56" presetID="9" presetClass="emph" presetSubtype="0" grpId="1" nodeType="withEffect">
                                  <p:stCondLst>
                                    <p:cond delay="0"/>
                                  </p:stCondLst>
                                  <p:childTnLst>
                                    <p:set>
                                      <p:cBhvr>
                                        <p:cTn id="57" dur="indefinite"/>
                                        <p:tgtEl>
                                          <p:spTgt spid="10"/>
                                        </p:tgtEl>
                                        <p:attrNameLst>
                                          <p:attrName>style.opacity</p:attrName>
                                        </p:attrNameLst>
                                      </p:cBhvr>
                                      <p:to>
                                        <p:strVal val="0.25"/>
                                      </p:to>
                                    </p:set>
                                    <p:animEffect filter="image" prLst="opacity: 0.25">
                                      <p:cBhvr rctx="IE">
                                        <p:cTn id="58" dur="indefinite"/>
                                        <p:tgtEl>
                                          <p:spTgt spid="10"/>
                                        </p:tgtEl>
                                      </p:cBhvr>
                                    </p:animEffect>
                                  </p:childTnLst>
                                </p:cTn>
                              </p:par>
                              <p:par>
                                <p:cTn id="59" presetID="9" presetClass="emph" presetSubtype="0" nodeType="withEffect">
                                  <p:stCondLst>
                                    <p:cond delay="0"/>
                                  </p:stCondLst>
                                  <p:childTnLst>
                                    <p:set>
                                      <p:cBhvr>
                                        <p:cTn id="60" dur="indefinite"/>
                                        <p:tgtEl>
                                          <p:spTgt spid="16"/>
                                        </p:tgtEl>
                                        <p:attrNameLst>
                                          <p:attrName>style.opacity</p:attrName>
                                        </p:attrNameLst>
                                      </p:cBhvr>
                                      <p:to>
                                        <p:strVal val="0.25"/>
                                      </p:to>
                                    </p:set>
                                    <p:animEffect filter="image" prLst="opacity: 0.25">
                                      <p:cBhvr rctx="IE">
                                        <p:cTn id="61" dur="indefinite"/>
                                        <p:tgtEl>
                                          <p:spTgt spid="16"/>
                                        </p:tgtEl>
                                      </p:cBhvr>
                                    </p:animEffect>
                                  </p:childTnLst>
                                </p:cTn>
                              </p:par>
                              <p:par>
                                <p:cTn id="62" presetID="9" presetClass="emph" presetSubtype="0" grpId="1" nodeType="withEffect">
                                  <p:stCondLst>
                                    <p:cond delay="0"/>
                                  </p:stCondLst>
                                  <p:childTnLst>
                                    <p:set>
                                      <p:cBhvr>
                                        <p:cTn id="63" dur="indefinite"/>
                                        <p:tgtEl>
                                          <p:spTgt spid="6"/>
                                        </p:tgtEl>
                                        <p:attrNameLst>
                                          <p:attrName>style.opacity</p:attrName>
                                        </p:attrNameLst>
                                      </p:cBhvr>
                                      <p:to>
                                        <p:strVal val="0.25"/>
                                      </p:to>
                                    </p:set>
                                    <p:animEffect filter="image" prLst="opacity: 0.25">
                                      <p:cBhvr rctx="IE">
                                        <p:cTn id="64" dur="indefinite"/>
                                        <p:tgtEl>
                                          <p:spTgt spid="6"/>
                                        </p:tgtEl>
                                      </p:cBhvr>
                                    </p:animEffect>
                                  </p:childTnLst>
                                </p:cTn>
                              </p:par>
                              <p:par>
                                <p:cTn id="65" presetID="9" presetClass="emph" presetSubtype="0" grpId="1" nodeType="withEffect">
                                  <p:stCondLst>
                                    <p:cond delay="0"/>
                                  </p:stCondLst>
                                  <p:childTnLst>
                                    <p:set>
                                      <p:cBhvr>
                                        <p:cTn id="66" dur="indefinite"/>
                                        <p:tgtEl>
                                          <p:spTgt spid="20"/>
                                        </p:tgtEl>
                                        <p:attrNameLst>
                                          <p:attrName>style.opacity</p:attrName>
                                        </p:attrNameLst>
                                      </p:cBhvr>
                                      <p:to>
                                        <p:strVal val="0.25"/>
                                      </p:to>
                                    </p:set>
                                    <p:animEffect filter="image" prLst="opacity: 0.25">
                                      <p:cBhvr rctx="IE">
                                        <p:cTn id="67" dur="indefinite"/>
                                        <p:tgtEl>
                                          <p:spTgt spid="20"/>
                                        </p:tgtEl>
                                      </p:cBhvr>
                                    </p:animEffect>
                                  </p:childTnLst>
                                </p:cTn>
                              </p:par>
                              <p:par>
                                <p:cTn id="68" presetID="9" presetClass="emph" presetSubtype="0" grpId="1" nodeType="withEffect">
                                  <p:stCondLst>
                                    <p:cond delay="0"/>
                                  </p:stCondLst>
                                  <p:childTnLst>
                                    <p:set>
                                      <p:cBhvr>
                                        <p:cTn id="69" dur="indefinite"/>
                                        <p:tgtEl>
                                          <p:spTgt spid="9"/>
                                        </p:tgtEl>
                                        <p:attrNameLst>
                                          <p:attrName>style.opacity</p:attrName>
                                        </p:attrNameLst>
                                      </p:cBhvr>
                                      <p:to>
                                        <p:strVal val="0.25"/>
                                      </p:to>
                                    </p:set>
                                    <p:animEffect filter="image" prLst="opacity: 0.25">
                                      <p:cBhvr rctx="IE">
                                        <p:cTn id="70" dur="indefinite"/>
                                        <p:tgtEl>
                                          <p:spTgt spid="9"/>
                                        </p:tgtEl>
                                      </p:cBhvr>
                                    </p:animEffect>
                                  </p:childTnLst>
                                </p:cTn>
                              </p:par>
                              <p:par>
                                <p:cTn id="71" presetID="9" presetClass="emph" presetSubtype="0" nodeType="withEffect">
                                  <p:stCondLst>
                                    <p:cond delay="0"/>
                                  </p:stCondLst>
                                  <p:childTnLst>
                                    <p:set>
                                      <p:cBhvr>
                                        <p:cTn id="72" dur="indefinite"/>
                                        <p:tgtEl>
                                          <p:spTgt spid="22"/>
                                        </p:tgtEl>
                                        <p:attrNameLst>
                                          <p:attrName>style.opacity</p:attrName>
                                        </p:attrNameLst>
                                      </p:cBhvr>
                                      <p:to>
                                        <p:strVal val="0.25"/>
                                      </p:to>
                                    </p:set>
                                    <p:animEffect filter="image" prLst="opacity: 0.25">
                                      <p:cBhvr rctx="IE">
                                        <p:cTn id="73" dur="indefinite"/>
                                        <p:tgtEl>
                                          <p:spTgt spid="22"/>
                                        </p:tgtEl>
                                      </p:cBhvr>
                                    </p:animEffect>
                                  </p:childTnLst>
                                </p:cTn>
                              </p:par>
                              <p:par>
                                <p:cTn id="74" presetID="9" presetClass="emph" presetSubtype="0" grpId="1" nodeType="withEffect">
                                  <p:stCondLst>
                                    <p:cond delay="0"/>
                                  </p:stCondLst>
                                  <p:childTnLst>
                                    <p:set>
                                      <p:cBhvr>
                                        <p:cTn id="75" dur="indefinite"/>
                                        <p:tgtEl>
                                          <p:spTgt spid="17"/>
                                        </p:tgtEl>
                                        <p:attrNameLst>
                                          <p:attrName>style.opacity</p:attrName>
                                        </p:attrNameLst>
                                      </p:cBhvr>
                                      <p:to>
                                        <p:strVal val="0.25"/>
                                      </p:to>
                                    </p:set>
                                    <p:animEffect filter="image" prLst="opacity: 0.25">
                                      <p:cBhvr rctx="IE">
                                        <p:cTn id="76" dur="indefinite"/>
                                        <p:tgtEl>
                                          <p:spTgt spid="17"/>
                                        </p:tgtEl>
                                      </p:cBhvr>
                                    </p:animEffect>
                                  </p:childTnLst>
                                </p:cTn>
                              </p:par>
                              <p:par>
                                <p:cTn id="77" presetID="9" presetClass="emph" presetSubtype="0" grpId="1" nodeType="withEffect">
                                  <p:stCondLst>
                                    <p:cond delay="0"/>
                                  </p:stCondLst>
                                  <p:childTnLst>
                                    <p:set>
                                      <p:cBhvr>
                                        <p:cTn id="78" dur="indefinite"/>
                                        <p:tgtEl>
                                          <p:spTgt spid="13"/>
                                        </p:tgtEl>
                                        <p:attrNameLst>
                                          <p:attrName>style.opacity</p:attrName>
                                        </p:attrNameLst>
                                      </p:cBhvr>
                                      <p:to>
                                        <p:strVal val="0.25"/>
                                      </p:to>
                                    </p:set>
                                    <p:animEffect filter="image" prLst="opacity: 0.25">
                                      <p:cBhvr rctx="IE">
                                        <p:cTn id="79" dur="indefinite"/>
                                        <p:tgtEl>
                                          <p:spTgt spid="13"/>
                                        </p:tgtEl>
                                      </p:cBhvr>
                                    </p:animEffect>
                                  </p:childTnLst>
                                </p:cTn>
                              </p:par>
                              <p:par>
                                <p:cTn id="80" presetID="9" presetClass="emph" presetSubtype="0" grpId="1" nodeType="withEffect">
                                  <p:stCondLst>
                                    <p:cond delay="0"/>
                                  </p:stCondLst>
                                  <p:childTnLst>
                                    <p:set>
                                      <p:cBhvr>
                                        <p:cTn id="81" dur="indefinite"/>
                                        <p:tgtEl>
                                          <p:spTgt spid="15"/>
                                        </p:tgtEl>
                                        <p:attrNameLst>
                                          <p:attrName>style.opacity</p:attrName>
                                        </p:attrNameLst>
                                      </p:cBhvr>
                                      <p:to>
                                        <p:strVal val="0.25"/>
                                      </p:to>
                                    </p:set>
                                    <p:animEffect filter="image" prLst="opacity: 0.25">
                                      <p:cBhvr rctx="IE">
                                        <p:cTn id="82" dur="indefinite"/>
                                        <p:tgtEl>
                                          <p:spTgt spid="15"/>
                                        </p:tgtEl>
                                      </p:cBhvr>
                                    </p:animEffect>
                                  </p:childTnLst>
                                </p:cTn>
                              </p:par>
                              <p:par>
                                <p:cTn id="83" presetID="1" presetClass="entr" presetSubtype="0" fill="hold" grpId="0" nodeType="withEffect">
                                  <p:stCondLst>
                                    <p:cond delay="0"/>
                                  </p:stCondLst>
                                  <p:childTnLst>
                                    <p:set>
                                      <p:cBhvr>
                                        <p:cTn id="8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animBg="1"/>
      <p:bldP spid="6" grpId="1" animBg="1"/>
      <p:bldP spid="10" grpId="0" animBg="1"/>
      <p:bldP spid="10" grpId="1" animBg="1"/>
      <p:bldP spid="11" grpId="0" animBg="1"/>
      <p:bldP spid="11" grpId="1" animBg="1"/>
      <p:bldP spid="12" grpId="0" animBg="1"/>
      <p:bldP spid="12" grpId="1" animBg="1"/>
      <p:bldP spid="14" grpId="0" animBg="1"/>
      <p:bldP spid="14" grpId="1" animBg="1"/>
      <p:bldP spid="13" grpId="0" animBg="1"/>
      <p:bldP spid="13" grpId="1" animBg="1"/>
      <p:bldP spid="15" grpId="0" animBg="1"/>
      <p:bldP spid="15" grpId="1" animBg="1"/>
      <p:bldP spid="17" grpId="0" animBg="1"/>
      <p:bldP spid="17" grpId="1" animBg="1"/>
      <p:bldP spid="20" grpId="0" animBg="1"/>
      <p:bldP spid="20" grpId="1" animBg="1"/>
      <p:bldP spid="9" grpId="0" animBg="1"/>
      <p:bldP spid="9" grpId="1"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DE0B0-1A0A-4847-BC34-588B435BD954}"/>
              </a:ext>
            </a:extLst>
          </p:cNvPr>
          <p:cNvSpPr>
            <a:spLocks noGrp="1"/>
          </p:cNvSpPr>
          <p:nvPr>
            <p:ph type="title"/>
          </p:nvPr>
        </p:nvSpPr>
        <p:spPr>
          <a:xfrm>
            <a:off x="681789" y="157480"/>
            <a:ext cx="11309686" cy="1341120"/>
          </a:xfrm>
        </p:spPr>
        <p:txBody>
          <a:bodyPr>
            <a:noAutofit/>
          </a:bodyPr>
          <a:lstStyle/>
          <a:p>
            <a:r>
              <a:rPr lang="en-US" sz="4800" dirty="0"/>
              <a:t>Temporal Characteristics of Smart Home IoT</a:t>
            </a:r>
          </a:p>
        </p:txBody>
      </p:sp>
      <p:sp>
        <p:nvSpPr>
          <p:cNvPr id="3" name="Footer Placeholder 2">
            <a:extLst>
              <a:ext uri="{FF2B5EF4-FFF2-40B4-BE49-F238E27FC236}">
                <a16:creationId xmlns:a16="http://schemas.microsoft.com/office/drawing/2014/main" id="{BB0C5567-29E9-4AED-BE8C-D54B67162154}"/>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BCB689D7-48AE-42D9-8D75-28718DBF0CE1}"/>
              </a:ext>
            </a:extLst>
          </p:cNvPr>
          <p:cNvSpPr>
            <a:spLocks noGrp="1"/>
          </p:cNvSpPr>
          <p:nvPr>
            <p:ph type="sldNum" sz="quarter" idx="12"/>
          </p:nvPr>
        </p:nvSpPr>
        <p:spPr>
          <a:xfrm>
            <a:off x="0" y="6229860"/>
            <a:ext cx="711200" cy="357938"/>
          </a:xfrm>
        </p:spPr>
        <p:txBody>
          <a:bodyPr>
            <a:normAutofit lnSpcReduction="10000"/>
          </a:bodyPr>
          <a:lstStyle/>
          <a:p>
            <a:fld id="{2ABC7612-2C91-4738-8FA0-3151D896C48D}" type="slidenum">
              <a:rPr lang="en-US" smtClean="0">
                <a:solidFill>
                  <a:schemeClr val="tx1"/>
                </a:solidFill>
              </a:rPr>
              <a:t>18</a:t>
            </a:fld>
            <a:endParaRPr lang="en-US" dirty="0">
              <a:solidFill>
                <a:schemeClr val="tx1"/>
              </a:solidFill>
            </a:endParaRPr>
          </a:p>
        </p:txBody>
      </p:sp>
      <p:sp>
        <p:nvSpPr>
          <p:cNvPr id="5" name="Content Placeholder 4">
            <a:extLst>
              <a:ext uri="{FF2B5EF4-FFF2-40B4-BE49-F238E27FC236}">
                <a16:creationId xmlns:a16="http://schemas.microsoft.com/office/drawing/2014/main" id="{FBF59389-77BA-42CA-A82D-80B04C47948B}"/>
              </a:ext>
            </a:extLst>
          </p:cNvPr>
          <p:cNvSpPr>
            <a:spLocks noGrp="1"/>
          </p:cNvSpPr>
          <p:nvPr>
            <p:ph sz="quarter" idx="13"/>
          </p:nvPr>
        </p:nvSpPr>
        <p:spPr/>
        <p:txBody>
          <a:bodyPr>
            <a:normAutofit/>
          </a:bodyPr>
          <a:lstStyle/>
          <a:p>
            <a:r>
              <a:rPr lang="en-US" sz="3200" dirty="0"/>
              <a:t>Time series distributions. </a:t>
            </a:r>
          </a:p>
        </p:txBody>
      </p:sp>
      <p:pic>
        <p:nvPicPr>
          <p:cNvPr id="7" name="Graphic 6">
            <a:extLst>
              <a:ext uri="{FF2B5EF4-FFF2-40B4-BE49-F238E27FC236}">
                <a16:creationId xmlns:a16="http://schemas.microsoft.com/office/drawing/2014/main" id="{27DAE492-DB3B-4B4E-BA3D-D7E5C4A37A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2045" y="2466109"/>
            <a:ext cx="5369173" cy="3706091"/>
          </a:xfrm>
          <a:prstGeom prst="rect">
            <a:avLst/>
          </a:prstGeom>
        </p:spPr>
      </p:pic>
      <p:sp>
        <p:nvSpPr>
          <p:cNvPr id="9" name="TextBox 8">
            <a:extLst>
              <a:ext uri="{FF2B5EF4-FFF2-40B4-BE49-F238E27FC236}">
                <a16:creationId xmlns:a16="http://schemas.microsoft.com/office/drawing/2014/main" id="{C51648CB-65A7-487A-826F-908C19285666}"/>
              </a:ext>
            </a:extLst>
          </p:cNvPr>
          <p:cNvSpPr txBox="1"/>
          <p:nvPr/>
        </p:nvSpPr>
        <p:spPr>
          <a:xfrm>
            <a:off x="299347" y="2577562"/>
            <a:ext cx="2970256" cy="1328023"/>
          </a:xfrm>
          <a:prstGeom prst="roundRect">
            <a:avLst/>
          </a:prstGeom>
          <a:solidFill>
            <a:schemeClr val="bg1">
              <a:lumMod val="95000"/>
            </a:schemeClr>
          </a:solidFill>
          <a:ln w="28575">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solidFill>
                  <a:schemeClr val="accent1"/>
                </a:solidFill>
              </a:rPr>
              <a:t>Diurnal Traffic Patterns for explicit user interactions</a:t>
            </a:r>
          </a:p>
        </p:txBody>
      </p:sp>
      <p:cxnSp>
        <p:nvCxnSpPr>
          <p:cNvPr id="11" name="Connector: Elbow 10">
            <a:extLst>
              <a:ext uri="{FF2B5EF4-FFF2-40B4-BE49-F238E27FC236}">
                <a16:creationId xmlns:a16="http://schemas.microsoft.com/office/drawing/2014/main" id="{4B5611D5-1B83-4CDB-9960-538FEDFCB616}"/>
              </a:ext>
            </a:extLst>
          </p:cNvPr>
          <p:cNvCxnSpPr>
            <a:cxnSpLocks/>
            <a:stCxn id="9" idx="3"/>
          </p:cNvCxnSpPr>
          <p:nvPr/>
        </p:nvCxnSpPr>
        <p:spPr>
          <a:xfrm>
            <a:off x="3269603" y="3241574"/>
            <a:ext cx="2393260" cy="620927"/>
          </a:xfrm>
          <a:prstGeom prst="bentConnector3">
            <a:avLst>
              <a:gd name="adj1" fmla="val 100273"/>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Connector: Elbow 12">
            <a:extLst>
              <a:ext uri="{FF2B5EF4-FFF2-40B4-BE49-F238E27FC236}">
                <a16:creationId xmlns:a16="http://schemas.microsoft.com/office/drawing/2014/main" id="{4DF55BB7-FA48-4D28-9D2A-18E1BE4A2661}"/>
              </a:ext>
            </a:extLst>
          </p:cNvPr>
          <p:cNvCxnSpPr>
            <a:cxnSpLocks/>
            <a:stCxn id="9" idx="3"/>
          </p:cNvCxnSpPr>
          <p:nvPr/>
        </p:nvCxnSpPr>
        <p:spPr>
          <a:xfrm>
            <a:off x="3269603" y="3241574"/>
            <a:ext cx="2978797" cy="865205"/>
          </a:xfrm>
          <a:prstGeom prst="bentConnector3">
            <a:avLst>
              <a:gd name="adj1" fmla="val 100085"/>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Connector: Elbow 17">
            <a:extLst>
              <a:ext uri="{FF2B5EF4-FFF2-40B4-BE49-F238E27FC236}">
                <a16:creationId xmlns:a16="http://schemas.microsoft.com/office/drawing/2014/main" id="{24CBD882-C68F-4DC1-B04A-387739CE61E1}"/>
              </a:ext>
            </a:extLst>
          </p:cNvPr>
          <p:cNvCxnSpPr>
            <a:cxnSpLocks/>
            <a:stCxn id="9" idx="3"/>
          </p:cNvCxnSpPr>
          <p:nvPr/>
        </p:nvCxnSpPr>
        <p:spPr>
          <a:xfrm>
            <a:off x="3269603" y="3241574"/>
            <a:ext cx="3636522" cy="865205"/>
          </a:xfrm>
          <a:prstGeom prst="bentConnector3">
            <a:avLst>
              <a:gd name="adj1" fmla="val 100621"/>
            </a:avLst>
          </a:prstGeom>
          <a:ln w="28575">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A775589C-4870-4C7F-9BFB-48A8128A018C}"/>
              </a:ext>
            </a:extLst>
          </p:cNvPr>
          <p:cNvSpPr/>
          <p:nvPr/>
        </p:nvSpPr>
        <p:spPr>
          <a:xfrm>
            <a:off x="4098758" y="4145426"/>
            <a:ext cx="4922460" cy="66270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0740871-05F7-4488-88E4-1B2D82EA1EF5}"/>
              </a:ext>
            </a:extLst>
          </p:cNvPr>
          <p:cNvSpPr txBox="1"/>
          <p:nvPr/>
        </p:nvSpPr>
        <p:spPr>
          <a:xfrm>
            <a:off x="9745370" y="3815712"/>
            <a:ext cx="2274890" cy="1328023"/>
          </a:xfrm>
          <a:prstGeom prst="roundRect">
            <a:avLst/>
          </a:prstGeom>
          <a:solidFill>
            <a:schemeClr val="bg1">
              <a:lumMod val="95000"/>
            </a:schemeClr>
          </a:solidFill>
          <a:ln w="28575">
            <a:solidFill>
              <a:schemeClr val="tx1"/>
            </a:solidFill>
          </a:ln>
        </p:spPr>
        <p:txBody>
          <a:bodyPr wrap="square" rtlCol="0">
            <a:spAutoFit/>
          </a:bodyPr>
          <a:lstStyle/>
          <a:p>
            <a:r>
              <a:rPr lang="en-US" sz="2400" dirty="0">
                <a:solidFill>
                  <a:schemeClr val="accent1"/>
                </a:solidFill>
              </a:rPr>
              <a:t>Non-Diurnal Traffic with sub-hour periodicity</a:t>
            </a:r>
          </a:p>
        </p:txBody>
      </p:sp>
      <p:cxnSp>
        <p:nvCxnSpPr>
          <p:cNvPr id="31" name="Straight Arrow Connector 30">
            <a:extLst>
              <a:ext uri="{FF2B5EF4-FFF2-40B4-BE49-F238E27FC236}">
                <a16:creationId xmlns:a16="http://schemas.microsoft.com/office/drawing/2014/main" id="{BD8D1418-6EBA-4F0C-AA40-4DEF42DA0FB5}"/>
              </a:ext>
            </a:extLst>
          </p:cNvPr>
          <p:cNvCxnSpPr>
            <a:cxnSpLocks/>
            <a:stCxn id="22" idx="1"/>
            <a:endCxn id="21" idx="3"/>
          </p:cNvCxnSpPr>
          <p:nvPr/>
        </p:nvCxnSpPr>
        <p:spPr>
          <a:xfrm flipH="1" flipV="1">
            <a:off x="9021218" y="4476781"/>
            <a:ext cx="724152" cy="29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7342F13C-9B7B-4627-A7CC-2ACCA010CC6E}"/>
              </a:ext>
            </a:extLst>
          </p:cNvPr>
          <p:cNvSpPr txBox="1"/>
          <p:nvPr/>
        </p:nvSpPr>
        <p:spPr>
          <a:xfrm>
            <a:off x="980930" y="3162932"/>
            <a:ext cx="10871200" cy="1464231"/>
          </a:xfrm>
          <a:prstGeom prst="roundRect">
            <a:avLst/>
          </a:prstGeom>
          <a:solidFill>
            <a:schemeClr val="bg1">
              <a:lumMod val="85000"/>
            </a:schemeClr>
          </a:solidFill>
          <a:ln>
            <a:solidFill>
              <a:schemeClr val="accent1"/>
            </a:solidFill>
          </a:ln>
        </p:spPr>
        <p:txBody>
          <a:bodyPr wrap="square" rtlCol="0">
            <a:spAutoFit/>
          </a:bodyPr>
          <a:lstStyle/>
          <a:p>
            <a:pPr algn="ctr"/>
            <a:r>
              <a:rPr lang="en-US" sz="4000" dirty="0">
                <a:solidFill>
                  <a:srgbClr val="FF0000"/>
                </a:solidFill>
              </a:rPr>
              <a:t>Device functionality determines temporal characteristics.</a:t>
            </a:r>
          </a:p>
        </p:txBody>
      </p:sp>
    </p:spTree>
    <p:extLst>
      <p:ext uri="{BB962C8B-B14F-4D97-AF65-F5344CB8AC3E}">
        <p14:creationId xmlns:p14="http://schemas.microsoft.com/office/powerpoint/2010/main" val="301080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5">
                                            <p:txEl>
                                              <p:pRg st="0" end="0"/>
                                            </p:txEl>
                                          </p:spTgt>
                                        </p:tgtEl>
                                        <p:attrNameLst>
                                          <p:attrName>style.opacity</p:attrName>
                                        </p:attrNameLst>
                                      </p:cBhvr>
                                      <p:to>
                                        <p:strVal val="0.25"/>
                                      </p:to>
                                    </p:set>
                                    <p:animEffect filter="image" prLst="opacity: 0.25">
                                      <p:cBhvr rctx="IE">
                                        <p:cTn id="33" dur="indefinite"/>
                                        <p:tgtEl>
                                          <p:spTgt spid="5">
                                            <p:txEl>
                                              <p:pRg st="0" end="0"/>
                                            </p:txEl>
                                          </p:spTgt>
                                        </p:tgtEl>
                                      </p:cBhvr>
                                    </p:animEffect>
                                  </p:childTnLst>
                                </p:cTn>
                              </p:par>
                              <p:par>
                                <p:cTn id="34" presetID="9" presetClass="emph" presetSubtype="0" nodeType="withEffect">
                                  <p:stCondLst>
                                    <p:cond delay="0"/>
                                  </p:stCondLst>
                                  <p:childTnLst>
                                    <p:set>
                                      <p:cBhvr>
                                        <p:cTn id="35" dur="indefinite"/>
                                        <p:tgtEl>
                                          <p:spTgt spid="7"/>
                                        </p:tgtEl>
                                        <p:attrNameLst>
                                          <p:attrName>style.opacity</p:attrName>
                                        </p:attrNameLst>
                                      </p:cBhvr>
                                      <p:to>
                                        <p:strVal val="0.25"/>
                                      </p:to>
                                    </p:set>
                                    <p:animEffect filter="image" prLst="opacity: 0.25">
                                      <p:cBhvr rctx="IE">
                                        <p:cTn id="36" dur="indefinite"/>
                                        <p:tgtEl>
                                          <p:spTgt spid="7"/>
                                        </p:tgtEl>
                                      </p:cBhvr>
                                    </p:animEffect>
                                  </p:childTnLst>
                                </p:cTn>
                              </p:par>
                              <p:par>
                                <p:cTn id="37" presetID="9" presetClass="emph" presetSubtype="0" grpId="1" nodeType="withEffect">
                                  <p:stCondLst>
                                    <p:cond delay="0"/>
                                  </p:stCondLst>
                                  <p:childTnLst>
                                    <p:set>
                                      <p:cBhvr>
                                        <p:cTn id="38" dur="indefinite"/>
                                        <p:tgtEl>
                                          <p:spTgt spid="9"/>
                                        </p:tgtEl>
                                        <p:attrNameLst>
                                          <p:attrName>style.opacity</p:attrName>
                                        </p:attrNameLst>
                                      </p:cBhvr>
                                      <p:to>
                                        <p:strVal val="0.25"/>
                                      </p:to>
                                    </p:set>
                                    <p:animEffect filter="image" prLst="opacity: 0.25">
                                      <p:cBhvr rctx="IE">
                                        <p:cTn id="39" dur="indefinite"/>
                                        <p:tgtEl>
                                          <p:spTgt spid="9"/>
                                        </p:tgtEl>
                                      </p:cBhvr>
                                    </p:animEffect>
                                  </p:childTnLst>
                                </p:cTn>
                              </p:par>
                              <p:par>
                                <p:cTn id="40" presetID="9" presetClass="emph" presetSubtype="0" nodeType="withEffect">
                                  <p:stCondLst>
                                    <p:cond delay="0"/>
                                  </p:stCondLst>
                                  <p:childTnLst>
                                    <p:set>
                                      <p:cBhvr>
                                        <p:cTn id="41" dur="indefinite"/>
                                        <p:tgtEl>
                                          <p:spTgt spid="13"/>
                                        </p:tgtEl>
                                        <p:attrNameLst>
                                          <p:attrName>style.opacity</p:attrName>
                                        </p:attrNameLst>
                                      </p:cBhvr>
                                      <p:to>
                                        <p:strVal val="0.25"/>
                                      </p:to>
                                    </p:set>
                                    <p:animEffect filter="image" prLst="opacity: 0.25">
                                      <p:cBhvr rctx="IE">
                                        <p:cTn id="42" dur="indefinite"/>
                                        <p:tgtEl>
                                          <p:spTgt spid="13"/>
                                        </p:tgtEl>
                                      </p:cBhvr>
                                    </p:animEffect>
                                  </p:childTnLst>
                                </p:cTn>
                              </p:par>
                              <p:par>
                                <p:cTn id="43" presetID="9" presetClass="emph" presetSubtype="0" nodeType="withEffect">
                                  <p:stCondLst>
                                    <p:cond delay="0"/>
                                  </p:stCondLst>
                                  <p:childTnLst>
                                    <p:set>
                                      <p:cBhvr>
                                        <p:cTn id="44" dur="indefinite"/>
                                        <p:tgtEl>
                                          <p:spTgt spid="11"/>
                                        </p:tgtEl>
                                        <p:attrNameLst>
                                          <p:attrName>style.opacity</p:attrName>
                                        </p:attrNameLst>
                                      </p:cBhvr>
                                      <p:to>
                                        <p:strVal val="0.25"/>
                                      </p:to>
                                    </p:set>
                                    <p:animEffect filter="image" prLst="opacity: 0.25">
                                      <p:cBhvr rctx="IE">
                                        <p:cTn id="45" dur="indefinite"/>
                                        <p:tgtEl>
                                          <p:spTgt spid="11"/>
                                        </p:tgtEl>
                                      </p:cBhvr>
                                    </p:animEffect>
                                  </p:childTnLst>
                                </p:cTn>
                              </p:par>
                              <p:par>
                                <p:cTn id="46" presetID="9" presetClass="emph" presetSubtype="0" nodeType="withEffect">
                                  <p:stCondLst>
                                    <p:cond delay="0"/>
                                  </p:stCondLst>
                                  <p:childTnLst>
                                    <p:set>
                                      <p:cBhvr>
                                        <p:cTn id="47" dur="indefinite"/>
                                        <p:tgtEl>
                                          <p:spTgt spid="18"/>
                                        </p:tgtEl>
                                        <p:attrNameLst>
                                          <p:attrName>style.opacity</p:attrName>
                                        </p:attrNameLst>
                                      </p:cBhvr>
                                      <p:to>
                                        <p:strVal val="0.25"/>
                                      </p:to>
                                    </p:set>
                                    <p:animEffect filter="image" prLst="opacity: 0.25">
                                      <p:cBhvr rctx="IE">
                                        <p:cTn id="48" dur="indefinite"/>
                                        <p:tgtEl>
                                          <p:spTgt spid="18"/>
                                        </p:tgtEl>
                                      </p:cBhvr>
                                    </p:animEffect>
                                  </p:childTnLst>
                                </p:cTn>
                              </p:par>
                              <p:par>
                                <p:cTn id="49" presetID="9" presetClass="emph" presetSubtype="0" grpId="1" nodeType="withEffect">
                                  <p:stCondLst>
                                    <p:cond delay="0"/>
                                  </p:stCondLst>
                                  <p:childTnLst>
                                    <p:set>
                                      <p:cBhvr>
                                        <p:cTn id="50" dur="indefinite"/>
                                        <p:tgtEl>
                                          <p:spTgt spid="22"/>
                                        </p:tgtEl>
                                        <p:attrNameLst>
                                          <p:attrName>style.opacity</p:attrName>
                                        </p:attrNameLst>
                                      </p:cBhvr>
                                      <p:to>
                                        <p:strVal val="0.25"/>
                                      </p:to>
                                    </p:set>
                                    <p:animEffect filter="image" prLst="opacity: 0.25">
                                      <p:cBhvr rctx="IE">
                                        <p:cTn id="51" dur="indefinite"/>
                                        <p:tgtEl>
                                          <p:spTgt spid="22"/>
                                        </p:tgtEl>
                                      </p:cBhvr>
                                    </p:animEffect>
                                  </p:childTnLst>
                                </p:cTn>
                              </p:par>
                              <p:par>
                                <p:cTn id="52" presetID="9" presetClass="emph" presetSubtype="0" nodeType="withEffect">
                                  <p:stCondLst>
                                    <p:cond delay="0"/>
                                  </p:stCondLst>
                                  <p:childTnLst>
                                    <p:set>
                                      <p:cBhvr>
                                        <p:cTn id="53" dur="indefinite"/>
                                        <p:tgtEl>
                                          <p:spTgt spid="31"/>
                                        </p:tgtEl>
                                        <p:attrNameLst>
                                          <p:attrName>style.opacity</p:attrName>
                                        </p:attrNameLst>
                                      </p:cBhvr>
                                      <p:to>
                                        <p:strVal val="0.25"/>
                                      </p:to>
                                    </p:set>
                                    <p:animEffect filter="image" prLst="opacity: 0.25">
                                      <p:cBhvr rctx="IE">
                                        <p:cTn id="54" dur="indefinite"/>
                                        <p:tgtEl>
                                          <p:spTgt spid="31"/>
                                        </p:tgtEl>
                                      </p:cBhvr>
                                    </p:animEffect>
                                  </p:childTnLst>
                                </p:cTn>
                              </p:par>
                              <p:par>
                                <p:cTn id="55" presetID="9" presetClass="emph" presetSubtype="0" grpId="1" nodeType="withEffect">
                                  <p:stCondLst>
                                    <p:cond delay="0"/>
                                  </p:stCondLst>
                                  <p:childTnLst>
                                    <p:set>
                                      <p:cBhvr>
                                        <p:cTn id="56" dur="indefinite"/>
                                        <p:tgtEl>
                                          <p:spTgt spid="21"/>
                                        </p:tgtEl>
                                        <p:attrNameLst>
                                          <p:attrName>style.opacity</p:attrName>
                                        </p:attrNameLst>
                                      </p:cBhvr>
                                      <p:to>
                                        <p:strVal val="0.25"/>
                                      </p:to>
                                    </p:set>
                                    <p:animEffect filter="image" prLst="opacity: 0.25">
                                      <p:cBhvr rctx="IE">
                                        <p:cTn id="57" dur="indefinite"/>
                                        <p:tgtEl>
                                          <p:spTgt spid="21"/>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9" grpId="0" animBg="1"/>
      <p:bldP spid="9" grpId="1" animBg="1"/>
      <p:bldP spid="21" grpId="0" animBg="1"/>
      <p:bldP spid="21" grpId="1" animBg="1"/>
      <p:bldP spid="22" grpId="0" animBg="1"/>
      <p:bldP spid="22" grpId="1"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887FD-A60D-49C5-BECD-DCD5963223DB}"/>
              </a:ext>
            </a:extLst>
          </p:cNvPr>
          <p:cNvSpPr>
            <a:spLocks noGrp="1"/>
          </p:cNvSpPr>
          <p:nvPr>
            <p:ph type="title"/>
          </p:nvPr>
        </p:nvSpPr>
        <p:spPr>
          <a:xfrm>
            <a:off x="711200" y="157480"/>
            <a:ext cx="11236158" cy="1341120"/>
          </a:xfrm>
        </p:spPr>
        <p:txBody>
          <a:bodyPr>
            <a:noAutofit/>
          </a:bodyPr>
          <a:lstStyle/>
          <a:p>
            <a:r>
              <a:rPr lang="en-US" sz="4800" dirty="0"/>
              <a:t>Destination Characteristics of Smart Home IoT</a:t>
            </a:r>
          </a:p>
        </p:txBody>
      </p:sp>
      <p:sp>
        <p:nvSpPr>
          <p:cNvPr id="3" name="Footer Placeholder 2">
            <a:extLst>
              <a:ext uri="{FF2B5EF4-FFF2-40B4-BE49-F238E27FC236}">
                <a16:creationId xmlns:a16="http://schemas.microsoft.com/office/drawing/2014/main" id="{6C5D88DD-45DC-4BD8-84EB-483F68098333}"/>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CA449321-F42B-4CEA-812A-BF7181A2E490}"/>
              </a:ext>
            </a:extLst>
          </p:cNvPr>
          <p:cNvSpPr>
            <a:spLocks noGrp="1"/>
          </p:cNvSpPr>
          <p:nvPr>
            <p:ph type="sldNum" sz="quarter" idx="12"/>
          </p:nvPr>
        </p:nvSpPr>
        <p:spPr>
          <a:xfrm>
            <a:off x="0" y="6229863"/>
            <a:ext cx="711200" cy="357938"/>
          </a:xfrm>
        </p:spPr>
        <p:txBody>
          <a:bodyPr>
            <a:normAutofit lnSpcReduction="10000"/>
          </a:bodyPr>
          <a:lstStyle/>
          <a:p>
            <a:fld id="{2ABC7612-2C91-4738-8FA0-3151D896C48D}" type="slidenum">
              <a:rPr lang="en-US" smtClean="0">
                <a:solidFill>
                  <a:schemeClr val="tx1"/>
                </a:solidFill>
              </a:rPr>
              <a:t>19</a:t>
            </a:fld>
            <a:endParaRPr lang="en-US">
              <a:solidFill>
                <a:schemeClr val="tx1"/>
              </a:solidFill>
            </a:endParaRPr>
          </a:p>
        </p:txBody>
      </p:sp>
      <p:sp>
        <p:nvSpPr>
          <p:cNvPr id="5" name="Content Placeholder 4">
            <a:extLst>
              <a:ext uri="{FF2B5EF4-FFF2-40B4-BE49-F238E27FC236}">
                <a16:creationId xmlns:a16="http://schemas.microsoft.com/office/drawing/2014/main" id="{B976FE26-D270-4B2C-BA56-3A87BA974107}"/>
              </a:ext>
            </a:extLst>
          </p:cNvPr>
          <p:cNvSpPr>
            <a:spLocks noGrp="1"/>
          </p:cNvSpPr>
          <p:nvPr>
            <p:ph sz="quarter" idx="13"/>
          </p:nvPr>
        </p:nvSpPr>
        <p:spPr/>
        <p:txBody>
          <a:bodyPr>
            <a:normAutofit/>
          </a:bodyPr>
          <a:lstStyle/>
          <a:p>
            <a:r>
              <a:rPr lang="en-US" sz="3200" dirty="0"/>
              <a:t>Autonomous System (AS) and domain levels.</a:t>
            </a:r>
          </a:p>
          <a:p>
            <a:r>
              <a:rPr lang="en-US" sz="3200" dirty="0"/>
              <a:t>70-90% of traffic goes to Amazon, Google owned AS, reflecting centralization at back-end.</a:t>
            </a:r>
          </a:p>
          <a:p>
            <a:r>
              <a:rPr lang="en-US" sz="3200" dirty="0"/>
              <a:t>Domains primarily correspond to device functionality (e.g. </a:t>
            </a:r>
            <a:r>
              <a:rPr lang="en-US" sz="3200" dirty="0">
                <a:latin typeface="Source Sans Pro" panose="020B0503030403020204" pitchFamily="34" charset="0"/>
                <a:ea typeface="Source Sans Pro" panose="020B0503030403020204" pitchFamily="34" charset="0"/>
              </a:rPr>
              <a:t>pandora.com </a:t>
            </a:r>
            <a:r>
              <a:rPr lang="en-US" sz="3200" dirty="0"/>
              <a:t>for smart speakers).</a:t>
            </a:r>
          </a:p>
          <a:p>
            <a:r>
              <a:rPr lang="en-US" sz="3200" dirty="0"/>
              <a:t>Domains associated with tracking also observed, particularly for smart TVs (</a:t>
            </a:r>
            <a:r>
              <a:rPr lang="en-US" sz="3200" dirty="0">
                <a:latin typeface="Source Sans Pro" panose="020B0604020202020204" pitchFamily="34" charset="0"/>
              </a:rPr>
              <a:t>samsungacr.com</a:t>
            </a:r>
            <a:r>
              <a:rPr lang="en-US" sz="3200" dirty="0"/>
              <a:t>).</a:t>
            </a:r>
          </a:p>
        </p:txBody>
      </p:sp>
      <p:sp>
        <p:nvSpPr>
          <p:cNvPr id="7" name="TextBox 6">
            <a:extLst>
              <a:ext uri="{FF2B5EF4-FFF2-40B4-BE49-F238E27FC236}">
                <a16:creationId xmlns:a16="http://schemas.microsoft.com/office/drawing/2014/main" id="{9BBFE166-D1F2-4B27-847E-EB5AF7ACF827}"/>
              </a:ext>
            </a:extLst>
          </p:cNvPr>
          <p:cNvSpPr txBox="1"/>
          <p:nvPr/>
        </p:nvSpPr>
        <p:spPr>
          <a:xfrm>
            <a:off x="711200" y="3429000"/>
            <a:ext cx="10871200" cy="783193"/>
          </a:xfrm>
          <a:prstGeom prst="roundRect">
            <a:avLst/>
          </a:prstGeom>
          <a:solidFill>
            <a:schemeClr val="bg1">
              <a:lumMod val="85000"/>
            </a:schemeClr>
          </a:solidFill>
          <a:ln>
            <a:solidFill>
              <a:schemeClr val="accent1"/>
            </a:solidFill>
          </a:ln>
        </p:spPr>
        <p:txBody>
          <a:bodyPr wrap="square" rtlCol="0">
            <a:spAutoFit/>
          </a:bodyPr>
          <a:lstStyle/>
          <a:p>
            <a:pPr algn="ctr"/>
            <a:r>
              <a:rPr lang="en-US" sz="4000" dirty="0">
                <a:solidFill>
                  <a:srgbClr val="FF0000"/>
                </a:solidFill>
              </a:rPr>
              <a:t>Destinations depend upon device functionality.</a:t>
            </a:r>
          </a:p>
        </p:txBody>
      </p:sp>
    </p:spTree>
    <p:extLst>
      <p:ext uri="{BB962C8B-B14F-4D97-AF65-F5344CB8AC3E}">
        <p14:creationId xmlns:p14="http://schemas.microsoft.com/office/powerpoint/2010/main" val="319565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mph" presetSubtype="0" grpId="1" nodeType="clickEffect">
                                  <p:stCondLst>
                                    <p:cond delay="0"/>
                                  </p:stCondLst>
                                  <p:childTnLst>
                                    <p:set>
                                      <p:cBhvr>
                                        <p:cTn id="22" dur="indefinite"/>
                                        <p:tgtEl>
                                          <p:spTgt spid="5">
                                            <p:txEl>
                                              <p:pRg st="0" end="0"/>
                                            </p:txEl>
                                          </p:spTgt>
                                        </p:tgtEl>
                                        <p:attrNameLst>
                                          <p:attrName>style.opacity</p:attrName>
                                        </p:attrNameLst>
                                      </p:cBhvr>
                                      <p:to>
                                        <p:strVal val="0.25"/>
                                      </p:to>
                                    </p:set>
                                    <p:animEffect filter="image" prLst="opacity: 0.25">
                                      <p:cBhvr rctx="IE">
                                        <p:cTn id="23" dur="indefinite"/>
                                        <p:tgtEl>
                                          <p:spTgt spid="5">
                                            <p:txEl>
                                              <p:pRg st="0" end="0"/>
                                            </p:txEl>
                                          </p:spTgt>
                                        </p:tgtEl>
                                      </p:cBhvr>
                                    </p:animEffect>
                                  </p:childTnLst>
                                </p:cTn>
                              </p:par>
                              <p:par>
                                <p:cTn id="24" presetID="9" presetClass="emph" presetSubtype="0" grpId="1" nodeType="withEffect">
                                  <p:stCondLst>
                                    <p:cond delay="0"/>
                                  </p:stCondLst>
                                  <p:childTnLst>
                                    <p:set>
                                      <p:cBhvr>
                                        <p:cTn id="25" dur="indefinite"/>
                                        <p:tgtEl>
                                          <p:spTgt spid="5">
                                            <p:txEl>
                                              <p:pRg st="1" end="1"/>
                                            </p:txEl>
                                          </p:spTgt>
                                        </p:tgtEl>
                                        <p:attrNameLst>
                                          <p:attrName>style.opacity</p:attrName>
                                        </p:attrNameLst>
                                      </p:cBhvr>
                                      <p:to>
                                        <p:strVal val="0.25"/>
                                      </p:to>
                                    </p:set>
                                    <p:animEffect filter="image" prLst="opacity: 0.25">
                                      <p:cBhvr rctx="IE">
                                        <p:cTn id="26" dur="indefinite"/>
                                        <p:tgtEl>
                                          <p:spTgt spid="5">
                                            <p:txEl>
                                              <p:pRg st="1" end="1"/>
                                            </p:txEl>
                                          </p:spTgt>
                                        </p:tgtEl>
                                      </p:cBhvr>
                                    </p:animEffect>
                                  </p:childTnLst>
                                </p:cTn>
                              </p:par>
                              <p:par>
                                <p:cTn id="27" presetID="9" presetClass="emph" presetSubtype="0" grpId="1" nodeType="withEffect">
                                  <p:stCondLst>
                                    <p:cond delay="0"/>
                                  </p:stCondLst>
                                  <p:childTnLst>
                                    <p:set>
                                      <p:cBhvr>
                                        <p:cTn id="28" dur="indefinite"/>
                                        <p:tgtEl>
                                          <p:spTgt spid="5">
                                            <p:txEl>
                                              <p:pRg st="2" end="2"/>
                                            </p:txEl>
                                          </p:spTgt>
                                        </p:tgtEl>
                                        <p:attrNameLst>
                                          <p:attrName>style.opacity</p:attrName>
                                        </p:attrNameLst>
                                      </p:cBhvr>
                                      <p:to>
                                        <p:strVal val="0.25"/>
                                      </p:to>
                                    </p:set>
                                    <p:animEffect filter="image" prLst="opacity: 0.25">
                                      <p:cBhvr rctx="IE">
                                        <p:cTn id="29" dur="indefinite"/>
                                        <p:tgtEl>
                                          <p:spTgt spid="5">
                                            <p:txEl>
                                              <p:pRg st="2" end="2"/>
                                            </p:txEl>
                                          </p:spTgt>
                                        </p:tgtEl>
                                      </p:cBhvr>
                                    </p:animEffect>
                                  </p:childTnLst>
                                </p:cTn>
                              </p:par>
                              <p:par>
                                <p:cTn id="30" presetID="9" presetClass="emph" presetSubtype="0" grpId="1" nodeType="withEffect">
                                  <p:stCondLst>
                                    <p:cond delay="0"/>
                                  </p:stCondLst>
                                  <p:childTnLst>
                                    <p:set>
                                      <p:cBhvr>
                                        <p:cTn id="31" dur="indefinite"/>
                                        <p:tgtEl>
                                          <p:spTgt spid="5">
                                            <p:txEl>
                                              <p:pRg st="3" end="3"/>
                                            </p:txEl>
                                          </p:spTgt>
                                        </p:tgtEl>
                                        <p:attrNameLst>
                                          <p:attrName>style.opacity</p:attrName>
                                        </p:attrNameLst>
                                      </p:cBhvr>
                                      <p:to>
                                        <p:strVal val="0.25"/>
                                      </p:to>
                                    </p:set>
                                    <p:animEffect filter="image" prLst="opacity: 0.25">
                                      <p:cBhvr rctx="IE">
                                        <p:cTn id="32" dur="indefinite"/>
                                        <p:tgtEl>
                                          <p:spTgt spid="5">
                                            <p:txEl>
                                              <p:pRg st="3" end="3"/>
                                            </p:txEl>
                                          </p:spTgt>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uiExpand="1" build="p"/>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5F004-F0E9-485E-B6BB-B0724D99664A}"/>
              </a:ext>
            </a:extLst>
          </p:cNvPr>
          <p:cNvSpPr>
            <a:spLocks noGrp="1"/>
          </p:cNvSpPr>
          <p:nvPr>
            <p:ph type="title"/>
          </p:nvPr>
        </p:nvSpPr>
        <p:spPr/>
        <p:txBody>
          <a:bodyPr>
            <a:normAutofit/>
          </a:bodyPr>
          <a:lstStyle/>
          <a:p>
            <a:r>
              <a:rPr lang="en-US" sz="4800" dirty="0"/>
              <a:t>Smart Home IoT – Categorization</a:t>
            </a:r>
          </a:p>
        </p:txBody>
      </p:sp>
      <p:sp>
        <p:nvSpPr>
          <p:cNvPr id="3" name="Footer Placeholder 2">
            <a:extLst>
              <a:ext uri="{FF2B5EF4-FFF2-40B4-BE49-F238E27FC236}">
                <a16:creationId xmlns:a16="http://schemas.microsoft.com/office/drawing/2014/main" id="{08D1AD5B-DDCF-4F54-B050-CD9F31701EF8}"/>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62E72165-3BDF-4357-A7D7-1B4ABC0938C1}"/>
              </a:ext>
            </a:extLst>
          </p:cNvPr>
          <p:cNvSpPr>
            <a:spLocks noGrp="1"/>
          </p:cNvSpPr>
          <p:nvPr>
            <p:ph type="sldNum" sz="quarter" idx="12"/>
          </p:nvPr>
        </p:nvSpPr>
        <p:spPr>
          <a:xfrm>
            <a:off x="72192" y="6294033"/>
            <a:ext cx="711200" cy="357938"/>
          </a:xfrm>
        </p:spPr>
        <p:txBody>
          <a:bodyPr>
            <a:normAutofit lnSpcReduction="10000"/>
          </a:bodyPr>
          <a:lstStyle/>
          <a:p>
            <a:fld id="{2ABC7612-2C91-4738-8FA0-3151D896C48D}" type="slidenum">
              <a:rPr lang="en-US" smtClean="0">
                <a:solidFill>
                  <a:schemeClr val="tx1"/>
                </a:solidFill>
              </a:rPr>
              <a:t>20</a:t>
            </a:fld>
            <a:endParaRPr lang="en-US" dirty="0">
              <a:solidFill>
                <a:schemeClr val="tx1"/>
              </a:solidFill>
            </a:endParaRPr>
          </a:p>
        </p:txBody>
      </p:sp>
      <p:pic>
        <p:nvPicPr>
          <p:cNvPr id="10" name="Content Placeholder 9">
            <a:extLst>
              <a:ext uri="{FF2B5EF4-FFF2-40B4-BE49-F238E27FC236}">
                <a16:creationId xmlns:a16="http://schemas.microsoft.com/office/drawing/2014/main" id="{06B7BF44-330F-4008-AEC1-32EDB4DFC58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53453" y="3039214"/>
            <a:ext cx="834189" cy="834189"/>
          </a:xfrm>
        </p:spPr>
      </p:pic>
      <p:sp>
        <p:nvSpPr>
          <p:cNvPr id="11" name="Arrow: Left-Right 10">
            <a:extLst>
              <a:ext uri="{FF2B5EF4-FFF2-40B4-BE49-F238E27FC236}">
                <a16:creationId xmlns:a16="http://schemas.microsoft.com/office/drawing/2014/main" id="{DAC3BCA3-2DC1-44BA-8CA5-A4D9F04BD28C}"/>
              </a:ext>
            </a:extLst>
          </p:cNvPr>
          <p:cNvSpPr/>
          <p:nvPr/>
        </p:nvSpPr>
        <p:spPr>
          <a:xfrm>
            <a:off x="812800" y="3938240"/>
            <a:ext cx="10785642" cy="4251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picture containing electronics, clock&#10;&#10;Description automatically generated">
            <a:extLst>
              <a:ext uri="{FF2B5EF4-FFF2-40B4-BE49-F238E27FC236}">
                <a16:creationId xmlns:a16="http://schemas.microsoft.com/office/drawing/2014/main" id="{E522326B-D0FA-4BB6-AC53-FA2E161E8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5307" y="3048113"/>
            <a:ext cx="834189" cy="825291"/>
          </a:xfrm>
          <a:prstGeom prst="rect">
            <a:avLst/>
          </a:prstGeom>
        </p:spPr>
      </p:pic>
      <p:pic>
        <p:nvPicPr>
          <p:cNvPr id="15" name="Picture 14" descr="A close up of a camera&#10;&#10;Description automatically generated">
            <a:extLst>
              <a:ext uri="{FF2B5EF4-FFF2-40B4-BE49-F238E27FC236}">
                <a16:creationId xmlns:a16="http://schemas.microsoft.com/office/drawing/2014/main" id="{18A9EAE2-F69B-424E-90AB-7D5323E49E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9052" y="2022017"/>
            <a:ext cx="957179" cy="957179"/>
          </a:xfrm>
          <a:prstGeom prst="rect">
            <a:avLst/>
          </a:prstGeom>
        </p:spPr>
      </p:pic>
      <p:pic>
        <p:nvPicPr>
          <p:cNvPr id="17" name="Picture 16" descr="A screenshot of a video game&#10;&#10;Description automatically generated">
            <a:extLst>
              <a:ext uri="{FF2B5EF4-FFF2-40B4-BE49-F238E27FC236}">
                <a16:creationId xmlns:a16="http://schemas.microsoft.com/office/drawing/2014/main" id="{57F01E90-FF4D-47FF-A0A8-A12D7CF3CB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4667" y="3249573"/>
            <a:ext cx="1181333" cy="772026"/>
          </a:xfrm>
          <a:prstGeom prst="rect">
            <a:avLst/>
          </a:prstGeom>
        </p:spPr>
      </p:pic>
      <p:pic>
        <p:nvPicPr>
          <p:cNvPr id="19" name="Picture 18" descr="A close up of a computer&#10;&#10;Description automatically generated">
            <a:extLst>
              <a:ext uri="{FF2B5EF4-FFF2-40B4-BE49-F238E27FC236}">
                <a16:creationId xmlns:a16="http://schemas.microsoft.com/office/drawing/2014/main" id="{1EE285AA-5D00-4A97-A692-B66DAD7FFD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84231" y="3324610"/>
            <a:ext cx="1122657" cy="621952"/>
          </a:xfrm>
          <a:prstGeom prst="rect">
            <a:avLst/>
          </a:prstGeom>
        </p:spPr>
      </p:pic>
      <p:pic>
        <p:nvPicPr>
          <p:cNvPr id="21" name="Picture 20" descr="A close up of a speaker&#10;&#10;Description automatically generated">
            <a:extLst>
              <a:ext uri="{FF2B5EF4-FFF2-40B4-BE49-F238E27FC236}">
                <a16:creationId xmlns:a16="http://schemas.microsoft.com/office/drawing/2014/main" id="{343AD9B1-F87A-4BA4-929F-C59A1C03A5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19621" y="2022017"/>
            <a:ext cx="929219" cy="1195137"/>
          </a:xfrm>
          <a:prstGeom prst="rect">
            <a:avLst/>
          </a:prstGeom>
        </p:spPr>
      </p:pic>
      <p:pic>
        <p:nvPicPr>
          <p:cNvPr id="23" name="Picture 22" descr="A picture containing photo, computer, table, sitting&#10;&#10;Description automatically generated">
            <a:extLst>
              <a:ext uri="{FF2B5EF4-FFF2-40B4-BE49-F238E27FC236}">
                <a16:creationId xmlns:a16="http://schemas.microsoft.com/office/drawing/2014/main" id="{A80DF029-7CCA-421E-8AFB-7A4EA17DF97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57782" y="2796300"/>
            <a:ext cx="771183" cy="1174301"/>
          </a:xfrm>
          <a:prstGeom prst="rect">
            <a:avLst/>
          </a:prstGeom>
        </p:spPr>
      </p:pic>
      <p:pic>
        <p:nvPicPr>
          <p:cNvPr id="25" name="Picture 24" descr="A flat screen tv sitting on top of a computer&#10;&#10;Description automatically generated">
            <a:extLst>
              <a:ext uri="{FF2B5EF4-FFF2-40B4-BE49-F238E27FC236}">
                <a16:creationId xmlns:a16="http://schemas.microsoft.com/office/drawing/2014/main" id="{F72FEB0E-DA81-45C8-8700-342D91268F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49390" y="2763939"/>
            <a:ext cx="1919530" cy="1174301"/>
          </a:xfrm>
          <a:prstGeom prst="rect">
            <a:avLst/>
          </a:prstGeom>
        </p:spPr>
      </p:pic>
      <p:sp>
        <p:nvSpPr>
          <p:cNvPr id="26" name="TextBox 25">
            <a:extLst>
              <a:ext uri="{FF2B5EF4-FFF2-40B4-BE49-F238E27FC236}">
                <a16:creationId xmlns:a16="http://schemas.microsoft.com/office/drawing/2014/main" id="{DF44545E-2778-4433-8E20-D75041458134}"/>
              </a:ext>
            </a:extLst>
          </p:cNvPr>
          <p:cNvSpPr txBox="1"/>
          <p:nvPr/>
        </p:nvSpPr>
        <p:spPr>
          <a:xfrm>
            <a:off x="355599" y="4363356"/>
            <a:ext cx="2179053" cy="830997"/>
          </a:xfrm>
          <a:prstGeom prst="rect">
            <a:avLst/>
          </a:prstGeom>
          <a:noFill/>
        </p:spPr>
        <p:txBody>
          <a:bodyPr wrap="square" rtlCol="0">
            <a:spAutoFit/>
          </a:bodyPr>
          <a:lstStyle/>
          <a:p>
            <a:pPr algn="ctr"/>
            <a:r>
              <a:rPr lang="en-US" sz="2400" dirty="0"/>
              <a:t>Single-purposed IoT Devices</a:t>
            </a:r>
          </a:p>
        </p:txBody>
      </p:sp>
      <p:sp>
        <p:nvSpPr>
          <p:cNvPr id="27" name="TextBox 26">
            <a:extLst>
              <a:ext uri="{FF2B5EF4-FFF2-40B4-BE49-F238E27FC236}">
                <a16:creationId xmlns:a16="http://schemas.microsoft.com/office/drawing/2014/main" id="{EB553F05-12FE-42F2-88C3-6A8301AF5E84}"/>
              </a:ext>
            </a:extLst>
          </p:cNvPr>
          <p:cNvSpPr txBox="1"/>
          <p:nvPr/>
        </p:nvSpPr>
        <p:spPr>
          <a:xfrm>
            <a:off x="5104052" y="4312063"/>
            <a:ext cx="1983896" cy="830997"/>
          </a:xfrm>
          <a:prstGeom prst="rect">
            <a:avLst/>
          </a:prstGeom>
          <a:noFill/>
        </p:spPr>
        <p:txBody>
          <a:bodyPr wrap="square" rtlCol="0">
            <a:spAutoFit/>
          </a:bodyPr>
          <a:lstStyle/>
          <a:p>
            <a:pPr algn="ctr"/>
            <a:r>
              <a:rPr lang="en-US" sz="2400" dirty="0"/>
              <a:t>‘IoT-</a:t>
            </a:r>
            <a:r>
              <a:rPr lang="en-US" sz="2400" dirty="0" err="1"/>
              <a:t>ish</a:t>
            </a:r>
            <a:r>
              <a:rPr lang="en-US" sz="2400" dirty="0"/>
              <a:t>’ Devices</a:t>
            </a:r>
          </a:p>
        </p:txBody>
      </p:sp>
      <p:sp>
        <p:nvSpPr>
          <p:cNvPr id="28" name="TextBox 27">
            <a:extLst>
              <a:ext uri="{FF2B5EF4-FFF2-40B4-BE49-F238E27FC236}">
                <a16:creationId xmlns:a16="http://schemas.microsoft.com/office/drawing/2014/main" id="{9E51E6D9-3034-457F-8AFB-19D6E17D624E}"/>
              </a:ext>
            </a:extLst>
          </p:cNvPr>
          <p:cNvSpPr txBox="1"/>
          <p:nvPr/>
        </p:nvSpPr>
        <p:spPr>
          <a:xfrm>
            <a:off x="9554628" y="4250953"/>
            <a:ext cx="2179053" cy="830997"/>
          </a:xfrm>
          <a:prstGeom prst="rect">
            <a:avLst/>
          </a:prstGeom>
          <a:noFill/>
        </p:spPr>
        <p:txBody>
          <a:bodyPr wrap="square" rtlCol="0">
            <a:spAutoFit/>
          </a:bodyPr>
          <a:lstStyle/>
          <a:p>
            <a:pPr algn="ctr"/>
            <a:r>
              <a:rPr lang="en-US" sz="2400" dirty="0"/>
              <a:t>Multi-purposed non-IoT Devices</a:t>
            </a:r>
          </a:p>
        </p:txBody>
      </p:sp>
      <p:sp>
        <p:nvSpPr>
          <p:cNvPr id="29" name="Rectangle 28">
            <a:extLst>
              <a:ext uri="{FF2B5EF4-FFF2-40B4-BE49-F238E27FC236}">
                <a16:creationId xmlns:a16="http://schemas.microsoft.com/office/drawing/2014/main" id="{D65EBABB-074B-445F-A715-67E6FE58EE94}"/>
              </a:ext>
            </a:extLst>
          </p:cNvPr>
          <p:cNvSpPr/>
          <p:nvPr/>
        </p:nvSpPr>
        <p:spPr>
          <a:xfrm>
            <a:off x="248652" y="1828801"/>
            <a:ext cx="7169175" cy="3457074"/>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D526349-083B-4AB5-A005-3BFBF58BB2C0}"/>
              </a:ext>
            </a:extLst>
          </p:cNvPr>
          <p:cNvSpPr txBox="1"/>
          <p:nvPr/>
        </p:nvSpPr>
        <p:spPr>
          <a:xfrm>
            <a:off x="1178851" y="5354792"/>
            <a:ext cx="5308776" cy="523220"/>
          </a:xfrm>
          <a:prstGeom prst="rect">
            <a:avLst/>
          </a:prstGeom>
          <a:noFill/>
        </p:spPr>
        <p:txBody>
          <a:bodyPr wrap="square" rtlCol="0">
            <a:spAutoFit/>
          </a:bodyPr>
          <a:lstStyle/>
          <a:p>
            <a:pPr algn="ctr"/>
            <a:r>
              <a:rPr lang="en-US" sz="2800" dirty="0">
                <a:solidFill>
                  <a:srgbClr val="FF0000"/>
                </a:solidFill>
              </a:rPr>
              <a:t>IoT – 8 categories</a:t>
            </a:r>
          </a:p>
        </p:txBody>
      </p:sp>
      <p:sp>
        <p:nvSpPr>
          <p:cNvPr id="31" name="Rectangle 30">
            <a:extLst>
              <a:ext uri="{FF2B5EF4-FFF2-40B4-BE49-F238E27FC236}">
                <a16:creationId xmlns:a16="http://schemas.microsoft.com/office/drawing/2014/main" id="{2145D9E4-2A7C-4F40-8B6A-2464DFED361E}"/>
              </a:ext>
            </a:extLst>
          </p:cNvPr>
          <p:cNvSpPr/>
          <p:nvPr/>
        </p:nvSpPr>
        <p:spPr>
          <a:xfrm>
            <a:off x="8674482" y="1828800"/>
            <a:ext cx="3268866" cy="3457073"/>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F13E017-310F-4EED-9CBF-2259FC98FBA9}"/>
              </a:ext>
            </a:extLst>
          </p:cNvPr>
          <p:cNvSpPr txBox="1"/>
          <p:nvPr/>
        </p:nvSpPr>
        <p:spPr>
          <a:xfrm>
            <a:off x="8579375" y="5369212"/>
            <a:ext cx="3459079" cy="523220"/>
          </a:xfrm>
          <a:prstGeom prst="rect">
            <a:avLst/>
          </a:prstGeom>
          <a:noFill/>
        </p:spPr>
        <p:txBody>
          <a:bodyPr wrap="square" rtlCol="0">
            <a:spAutoFit/>
          </a:bodyPr>
          <a:lstStyle/>
          <a:p>
            <a:pPr algn="ctr"/>
            <a:r>
              <a:rPr lang="en-US" sz="2800" dirty="0">
                <a:solidFill>
                  <a:srgbClr val="FF0000"/>
                </a:solidFill>
              </a:rPr>
              <a:t>Non-IoT – 4 categories</a:t>
            </a:r>
          </a:p>
        </p:txBody>
      </p:sp>
    </p:spTree>
    <p:extLst>
      <p:ext uri="{BB962C8B-B14F-4D97-AF65-F5344CB8AC3E}">
        <p14:creationId xmlns:p14="http://schemas.microsoft.com/office/powerpoint/2010/main" val="53851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p:bldP spid="27" grpId="0"/>
      <p:bldP spid="28" grpId="0"/>
      <p:bldP spid="29" grpId="0" animBg="1"/>
      <p:bldP spid="30" grpId="0"/>
      <p:bldP spid="31" grpId="0" animBg="1"/>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4CFDC-611C-4D3E-A1E9-F5DE58D51BDE}"/>
              </a:ext>
            </a:extLst>
          </p:cNvPr>
          <p:cNvSpPr>
            <a:spLocks noGrp="1"/>
          </p:cNvSpPr>
          <p:nvPr>
            <p:ph type="title"/>
          </p:nvPr>
        </p:nvSpPr>
        <p:spPr/>
        <p:txBody>
          <a:bodyPr>
            <a:normAutofit/>
          </a:bodyPr>
          <a:lstStyle/>
          <a:p>
            <a:r>
              <a:rPr lang="en-US" sz="4800" dirty="0"/>
              <a:t>Overview – Smart Home IoT Challenges</a:t>
            </a:r>
          </a:p>
        </p:txBody>
      </p:sp>
      <p:sp>
        <p:nvSpPr>
          <p:cNvPr id="3" name="Footer Placeholder 2">
            <a:extLst>
              <a:ext uri="{FF2B5EF4-FFF2-40B4-BE49-F238E27FC236}">
                <a16:creationId xmlns:a16="http://schemas.microsoft.com/office/drawing/2014/main" id="{AD54AAF0-F555-426A-8F63-BB91BC983D6A}"/>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968AF8BC-96FC-418B-B353-C0F742A5B67E}"/>
              </a:ext>
            </a:extLst>
          </p:cNvPr>
          <p:cNvSpPr>
            <a:spLocks noGrp="1"/>
          </p:cNvSpPr>
          <p:nvPr>
            <p:ph type="sldNum" sz="quarter" idx="12"/>
          </p:nvPr>
        </p:nvSpPr>
        <p:spPr>
          <a:xfrm>
            <a:off x="64415" y="6308371"/>
            <a:ext cx="711200" cy="357938"/>
          </a:xfrm>
        </p:spPr>
        <p:txBody>
          <a:bodyPr>
            <a:normAutofit lnSpcReduction="10000"/>
          </a:bodyPr>
          <a:lstStyle/>
          <a:p>
            <a:fld id="{2ABC7612-2C91-4738-8FA0-3151D896C48D}" type="slidenum">
              <a:rPr lang="en-US" smtClean="0">
                <a:solidFill>
                  <a:schemeClr val="tx1"/>
                </a:solidFill>
              </a:rPr>
              <a:t>21</a:t>
            </a:fld>
            <a:endParaRPr lang="en-US" dirty="0">
              <a:solidFill>
                <a:schemeClr val="tx1"/>
              </a:solidFill>
            </a:endParaRPr>
          </a:p>
        </p:txBody>
      </p:sp>
      <p:sp>
        <p:nvSpPr>
          <p:cNvPr id="5" name="Content Placeholder 4">
            <a:extLst>
              <a:ext uri="{FF2B5EF4-FFF2-40B4-BE49-F238E27FC236}">
                <a16:creationId xmlns:a16="http://schemas.microsoft.com/office/drawing/2014/main" id="{A71C0357-AD05-462B-83AD-D4516C3F29D4}"/>
              </a:ext>
            </a:extLst>
          </p:cNvPr>
          <p:cNvSpPr>
            <a:spLocks noGrp="1"/>
          </p:cNvSpPr>
          <p:nvPr>
            <p:ph sz="quarter" idx="13"/>
          </p:nvPr>
        </p:nvSpPr>
        <p:spPr/>
        <p:txBody>
          <a:bodyPr>
            <a:normAutofit/>
          </a:bodyPr>
          <a:lstStyle/>
          <a:p>
            <a:r>
              <a:rPr lang="en-US" sz="3200" dirty="0"/>
              <a:t>Smart Home IoT brings new challenges to:</a:t>
            </a:r>
          </a:p>
          <a:p>
            <a:pPr lvl="1"/>
            <a:r>
              <a:rPr lang="en-US" sz="3200" dirty="0"/>
              <a:t>Management (ISPs, homes)</a:t>
            </a:r>
          </a:p>
          <a:p>
            <a:pPr lvl="1"/>
            <a:r>
              <a:rPr lang="en-US" sz="3200" dirty="0"/>
              <a:t>Security (Botnets, vulnerabilities in devices)</a:t>
            </a:r>
          </a:p>
          <a:p>
            <a:pPr lvl="1"/>
            <a:r>
              <a:rPr lang="en-US" sz="3200" dirty="0"/>
              <a:t>Privacy (Sensitive information leakage)</a:t>
            </a:r>
          </a:p>
          <a:p>
            <a:pPr lvl="1"/>
            <a:endParaRPr lang="en-US" sz="3200" dirty="0"/>
          </a:p>
          <a:p>
            <a:pPr marL="60958" indent="0" algn="ctr">
              <a:buNone/>
            </a:pPr>
            <a:r>
              <a:rPr lang="en-US" sz="3600" dirty="0">
                <a:solidFill>
                  <a:schemeClr val="accent2"/>
                </a:solidFill>
              </a:rPr>
              <a:t>Studying smart home IoT device design, adoption and usage is paramount to tackling these challenges.</a:t>
            </a:r>
          </a:p>
        </p:txBody>
      </p:sp>
    </p:spTree>
    <p:extLst>
      <p:ext uri="{BB962C8B-B14F-4D97-AF65-F5344CB8AC3E}">
        <p14:creationId xmlns:p14="http://schemas.microsoft.com/office/powerpoint/2010/main" val="83186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45D0-A6AE-4CD6-B23A-4C6CC7596977}"/>
              </a:ext>
            </a:extLst>
          </p:cNvPr>
          <p:cNvSpPr>
            <a:spLocks noGrp="1"/>
          </p:cNvSpPr>
          <p:nvPr>
            <p:ph type="title"/>
          </p:nvPr>
        </p:nvSpPr>
        <p:spPr/>
        <p:txBody>
          <a:bodyPr>
            <a:normAutofit/>
          </a:bodyPr>
          <a:lstStyle/>
          <a:p>
            <a:r>
              <a:rPr lang="en-US" sz="4800" dirty="0"/>
              <a:t>Unencrypted Traffic in Smart Home IoT</a:t>
            </a:r>
          </a:p>
        </p:txBody>
      </p:sp>
      <p:sp>
        <p:nvSpPr>
          <p:cNvPr id="3" name="Footer Placeholder 2">
            <a:extLst>
              <a:ext uri="{FF2B5EF4-FFF2-40B4-BE49-F238E27FC236}">
                <a16:creationId xmlns:a16="http://schemas.microsoft.com/office/drawing/2014/main" id="{490F5A1F-0A41-47E9-99DD-0E9C1839675C}"/>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BEFD5C1F-4C5C-4D58-A5C5-4169A1AC46BF}"/>
              </a:ext>
            </a:extLst>
          </p:cNvPr>
          <p:cNvSpPr>
            <a:spLocks noGrp="1"/>
          </p:cNvSpPr>
          <p:nvPr>
            <p:ph type="sldNum" sz="quarter" idx="12"/>
          </p:nvPr>
        </p:nvSpPr>
        <p:spPr>
          <a:xfrm>
            <a:off x="0" y="6253929"/>
            <a:ext cx="711200" cy="357938"/>
          </a:xfrm>
        </p:spPr>
        <p:txBody>
          <a:bodyPr>
            <a:normAutofit lnSpcReduction="10000"/>
          </a:bodyPr>
          <a:lstStyle/>
          <a:p>
            <a:fld id="{2ABC7612-2C91-4738-8FA0-3151D896C48D}" type="slidenum">
              <a:rPr lang="en-US" smtClean="0">
                <a:solidFill>
                  <a:schemeClr val="tx1"/>
                </a:solidFill>
              </a:rPr>
              <a:t>22</a:t>
            </a:fld>
            <a:endParaRPr lang="en-US">
              <a:solidFill>
                <a:schemeClr val="tx1"/>
              </a:solidFill>
            </a:endParaRPr>
          </a:p>
        </p:txBody>
      </p:sp>
      <p:sp>
        <p:nvSpPr>
          <p:cNvPr id="5" name="Content Placeholder 4">
            <a:extLst>
              <a:ext uri="{FF2B5EF4-FFF2-40B4-BE49-F238E27FC236}">
                <a16:creationId xmlns:a16="http://schemas.microsoft.com/office/drawing/2014/main" id="{3B87D404-A75B-4043-9011-4BF5BA3D63AD}"/>
              </a:ext>
            </a:extLst>
          </p:cNvPr>
          <p:cNvSpPr>
            <a:spLocks noGrp="1"/>
          </p:cNvSpPr>
          <p:nvPr>
            <p:ph sz="quarter" idx="13"/>
          </p:nvPr>
        </p:nvSpPr>
        <p:spPr/>
        <p:txBody>
          <a:bodyPr>
            <a:normAutofit/>
          </a:bodyPr>
          <a:lstStyle/>
          <a:p>
            <a:r>
              <a:rPr lang="en-US" sz="3200" dirty="0"/>
              <a:t>Except for Smart Cameras, all IoT categories generated some HTTP (TCP port 80) traffic.</a:t>
            </a:r>
          </a:p>
          <a:p>
            <a:endParaRPr lang="en-US" sz="3200" dirty="0"/>
          </a:p>
          <a:p>
            <a:r>
              <a:rPr lang="en-US" sz="3200" dirty="0"/>
              <a:t>Frequently associated with ad/tracking or manufacturer domains.</a:t>
            </a:r>
          </a:p>
        </p:txBody>
      </p:sp>
    </p:spTree>
    <p:extLst>
      <p:ext uri="{BB962C8B-B14F-4D97-AF65-F5344CB8AC3E}">
        <p14:creationId xmlns:p14="http://schemas.microsoft.com/office/powerpoint/2010/main" val="2064502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CE12-132D-4604-AAE8-7CCFAC15A247}"/>
              </a:ext>
            </a:extLst>
          </p:cNvPr>
          <p:cNvSpPr>
            <a:spLocks noGrp="1"/>
          </p:cNvSpPr>
          <p:nvPr>
            <p:ph type="title"/>
          </p:nvPr>
        </p:nvSpPr>
        <p:spPr/>
        <p:txBody>
          <a:bodyPr>
            <a:normAutofit/>
          </a:bodyPr>
          <a:lstStyle/>
          <a:p>
            <a:r>
              <a:rPr lang="en-US" sz="4800" dirty="0"/>
              <a:t>Use of Public DNS in Smart Home IoT</a:t>
            </a:r>
          </a:p>
        </p:txBody>
      </p:sp>
      <p:sp>
        <p:nvSpPr>
          <p:cNvPr id="3" name="Footer Placeholder 2">
            <a:extLst>
              <a:ext uri="{FF2B5EF4-FFF2-40B4-BE49-F238E27FC236}">
                <a16:creationId xmlns:a16="http://schemas.microsoft.com/office/drawing/2014/main" id="{900D1A0D-F7BE-4CD1-A589-99D605759AC5}"/>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B6BCE544-2BF5-4E26-B76C-8B7C311E4DEB}"/>
              </a:ext>
            </a:extLst>
          </p:cNvPr>
          <p:cNvSpPr>
            <a:spLocks noGrp="1"/>
          </p:cNvSpPr>
          <p:nvPr>
            <p:ph type="sldNum" sz="quarter" idx="12"/>
          </p:nvPr>
        </p:nvSpPr>
        <p:spPr>
          <a:xfrm>
            <a:off x="0" y="6253925"/>
            <a:ext cx="711200" cy="357938"/>
          </a:xfrm>
        </p:spPr>
        <p:txBody>
          <a:bodyPr>
            <a:normAutofit lnSpcReduction="10000"/>
          </a:bodyPr>
          <a:lstStyle/>
          <a:p>
            <a:fld id="{2ABC7612-2C91-4738-8FA0-3151D896C48D}" type="slidenum">
              <a:rPr lang="en-US" smtClean="0">
                <a:solidFill>
                  <a:schemeClr val="tx1"/>
                </a:solidFill>
              </a:rPr>
              <a:t>23</a:t>
            </a:fld>
            <a:endParaRPr lang="en-US">
              <a:solidFill>
                <a:schemeClr val="tx1"/>
              </a:solidFill>
            </a:endParaRPr>
          </a:p>
        </p:txBody>
      </p:sp>
      <p:sp>
        <p:nvSpPr>
          <p:cNvPr id="5" name="Content Placeholder 4">
            <a:extLst>
              <a:ext uri="{FF2B5EF4-FFF2-40B4-BE49-F238E27FC236}">
                <a16:creationId xmlns:a16="http://schemas.microsoft.com/office/drawing/2014/main" id="{43997970-6489-4B19-95BD-058117835A27}"/>
              </a:ext>
            </a:extLst>
          </p:cNvPr>
          <p:cNvSpPr>
            <a:spLocks noGrp="1"/>
          </p:cNvSpPr>
          <p:nvPr>
            <p:ph sz="quarter" idx="13"/>
          </p:nvPr>
        </p:nvSpPr>
        <p:spPr/>
        <p:txBody>
          <a:bodyPr>
            <a:normAutofit/>
          </a:bodyPr>
          <a:lstStyle/>
          <a:p>
            <a:r>
              <a:rPr lang="en-US" sz="3200" dirty="0"/>
              <a:t>Google DNS is most prominent across IoT categories (98% of Smart Assistants used Google DNS).</a:t>
            </a:r>
          </a:p>
          <a:p>
            <a:endParaRPr lang="en-US" sz="3200" dirty="0"/>
          </a:p>
          <a:p>
            <a:r>
              <a:rPr lang="en-US" sz="3200" dirty="0"/>
              <a:t>Hard-coded DNS servers to avoid ISP DNS issues.</a:t>
            </a:r>
          </a:p>
          <a:p>
            <a:pPr marL="0" indent="0">
              <a:buNone/>
            </a:pPr>
            <a:endParaRPr lang="en-US" sz="3200" dirty="0"/>
          </a:p>
          <a:p>
            <a:r>
              <a:rPr lang="en-US" sz="3200" dirty="0"/>
              <a:t>Renders DNS level blocking (through Pi Hole) ineffective.</a:t>
            </a:r>
          </a:p>
          <a:p>
            <a:endParaRPr lang="en-US" sz="3200" dirty="0"/>
          </a:p>
          <a:p>
            <a:endParaRPr lang="en-US" sz="3200" dirty="0"/>
          </a:p>
          <a:p>
            <a:endParaRPr lang="en-US" sz="3200" dirty="0"/>
          </a:p>
        </p:txBody>
      </p:sp>
    </p:spTree>
    <p:extLst>
      <p:ext uri="{BB962C8B-B14F-4D97-AF65-F5344CB8AC3E}">
        <p14:creationId xmlns:p14="http://schemas.microsoft.com/office/powerpoint/2010/main" val="2937267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41ED7-0441-4BDB-97D1-F7CCC6A4D73C}"/>
              </a:ext>
            </a:extLst>
          </p:cNvPr>
          <p:cNvSpPr>
            <a:spLocks noGrp="1"/>
          </p:cNvSpPr>
          <p:nvPr>
            <p:ph type="title"/>
          </p:nvPr>
        </p:nvSpPr>
        <p:spPr/>
        <p:txBody>
          <a:bodyPr>
            <a:normAutofit/>
          </a:bodyPr>
          <a:lstStyle/>
          <a:p>
            <a:r>
              <a:rPr lang="en-US" sz="4800" dirty="0"/>
              <a:t>Diversity in Smart Home IoT Adoption</a:t>
            </a:r>
          </a:p>
        </p:txBody>
      </p:sp>
      <p:sp>
        <p:nvSpPr>
          <p:cNvPr id="3" name="Footer Placeholder 2">
            <a:extLst>
              <a:ext uri="{FF2B5EF4-FFF2-40B4-BE49-F238E27FC236}">
                <a16:creationId xmlns:a16="http://schemas.microsoft.com/office/drawing/2014/main" id="{1CF034CA-C403-4DD2-B347-DE7C8088F60C}"/>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AC9714E1-B27E-4B5D-8EEF-1EBFC5464174}"/>
              </a:ext>
            </a:extLst>
          </p:cNvPr>
          <p:cNvSpPr>
            <a:spLocks noGrp="1"/>
          </p:cNvSpPr>
          <p:nvPr>
            <p:ph type="sldNum" sz="quarter" idx="12"/>
          </p:nvPr>
        </p:nvSpPr>
        <p:spPr>
          <a:xfrm>
            <a:off x="0" y="6254154"/>
            <a:ext cx="711200" cy="325398"/>
          </a:xfrm>
        </p:spPr>
        <p:txBody>
          <a:bodyPr>
            <a:normAutofit fontScale="92500" lnSpcReduction="10000"/>
          </a:bodyPr>
          <a:lstStyle/>
          <a:p>
            <a:fld id="{2ABC7612-2C91-4738-8FA0-3151D896C48D}" type="slidenum">
              <a:rPr lang="en-US" smtClean="0">
                <a:solidFill>
                  <a:schemeClr val="tx1"/>
                </a:solidFill>
              </a:rPr>
              <a:t>24</a:t>
            </a:fld>
            <a:endParaRPr lang="en-US">
              <a:solidFill>
                <a:schemeClr val="tx1"/>
              </a:solidFill>
            </a:endParaRPr>
          </a:p>
        </p:txBody>
      </p:sp>
      <p:pic>
        <p:nvPicPr>
          <p:cNvPr id="7" name="Content Placeholder 6">
            <a:extLst>
              <a:ext uri="{FF2B5EF4-FFF2-40B4-BE49-F238E27FC236}">
                <a16:creationId xmlns:a16="http://schemas.microsoft.com/office/drawing/2014/main" id="{EE212A6E-EB33-4C99-A117-E777A67F6C47}"/>
              </a:ext>
            </a:extLst>
          </p:cNvPr>
          <p:cNvPicPr>
            <a:picLocks noGrp="1" noChangeAspect="1"/>
          </p:cNvPicPr>
          <p:nvPr>
            <p:ph sz="quarter" idx="13"/>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13624" y="1796718"/>
            <a:ext cx="7416163" cy="3654623"/>
          </a:xfrm>
        </p:spPr>
      </p:pic>
      <p:cxnSp>
        <p:nvCxnSpPr>
          <p:cNvPr id="9" name="Straight Connector 8">
            <a:extLst>
              <a:ext uri="{FF2B5EF4-FFF2-40B4-BE49-F238E27FC236}">
                <a16:creationId xmlns:a16="http://schemas.microsoft.com/office/drawing/2014/main" id="{39D1B8E7-2B92-49A3-862A-1FA8D11D65A8}"/>
              </a:ext>
            </a:extLst>
          </p:cNvPr>
          <p:cNvCxnSpPr>
            <a:cxnSpLocks/>
          </p:cNvCxnSpPr>
          <p:nvPr/>
        </p:nvCxnSpPr>
        <p:spPr>
          <a:xfrm>
            <a:off x="2949803" y="3301760"/>
            <a:ext cx="666743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59B7A01-7FB3-4F3B-9113-46A6B39A2C69}"/>
              </a:ext>
            </a:extLst>
          </p:cNvPr>
          <p:cNvSpPr txBox="1"/>
          <p:nvPr/>
        </p:nvSpPr>
        <p:spPr>
          <a:xfrm>
            <a:off x="4291263" y="3716607"/>
            <a:ext cx="2245644" cy="715089"/>
          </a:xfrm>
          <a:prstGeom prst="roundRect">
            <a:avLst/>
          </a:prstGeom>
          <a:solidFill>
            <a:schemeClr val="bg1">
              <a:lumMod val="95000"/>
            </a:schemeClr>
          </a:solidFill>
          <a:ln w="28575">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chemeClr val="accent1"/>
                </a:solidFill>
              </a:rPr>
              <a:t>54% of homes do not have an IoT device.</a:t>
            </a:r>
          </a:p>
        </p:txBody>
      </p:sp>
      <p:cxnSp>
        <p:nvCxnSpPr>
          <p:cNvPr id="12" name="Straight Arrow Connector 11">
            <a:extLst>
              <a:ext uri="{FF2B5EF4-FFF2-40B4-BE49-F238E27FC236}">
                <a16:creationId xmlns:a16="http://schemas.microsoft.com/office/drawing/2014/main" id="{58422A1D-2DD1-46FB-846A-4FC5C4F3DA67}"/>
              </a:ext>
            </a:extLst>
          </p:cNvPr>
          <p:cNvCxnSpPr>
            <a:cxnSpLocks/>
            <a:stCxn id="10" idx="1"/>
          </p:cNvCxnSpPr>
          <p:nvPr/>
        </p:nvCxnSpPr>
        <p:spPr>
          <a:xfrm flipH="1" flipV="1">
            <a:off x="2949803" y="3301761"/>
            <a:ext cx="1341460" cy="7723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59E774B-BE7D-4229-8B7A-CA0C1BC1FD45}"/>
              </a:ext>
            </a:extLst>
          </p:cNvPr>
          <p:cNvCxnSpPr>
            <a:cxnSpLocks/>
          </p:cNvCxnSpPr>
          <p:nvPr/>
        </p:nvCxnSpPr>
        <p:spPr>
          <a:xfrm>
            <a:off x="7106653" y="1892971"/>
            <a:ext cx="0" cy="307206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8005115-4EF8-427F-9429-C1317FDDAB80}"/>
              </a:ext>
            </a:extLst>
          </p:cNvPr>
          <p:cNvSpPr txBox="1"/>
          <p:nvPr/>
        </p:nvSpPr>
        <p:spPr>
          <a:xfrm>
            <a:off x="8646695" y="2197771"/>
            <a:ext cx="2751221" cy="715089"/>
          </a:xfrm>
          <a:prstGeom prst="roundRect">
            <a:avLst/>
          </a:prstGeom>
          <a:solidFill>
            <a:schemeClr val="bg1">
              <a:lumMod val="95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chemeClr val="accent1"/>
                </a:solidFill>
              </a:rPr>
              <a:t>Some homes have more than 25 IoT devices</a:t>
            </a:r>
          </a:p>
        </p:txBody>
      </p:sp>
      <p:cxnSp>
        <p:nvCxnSpPr>
          <p:cNvPr id="26" name="Straight Arrow Connector 25">
            <a:extLst>
              <a:ext uri="{FF2B5EF4-FFF2-40B4-BE49-F238E27FC236}">
                <a16:creationId xmlns:a16="http://schemas.microsoft.com/office/drawing/2014/main" id="{120CCE46-F38B-4B1F-A829-C1F2F33F07E3}"/>
              </a:ext>
            </a:extLst>
          </p:cNvPr>
          <p:cNvCxnSpPr>
            <a:cxnSpLocks/>
            <a:stCxn id="24" idx="1"/>
          </p:cNvCxnSpPr>
          <p:nvPr/>
        </p:nvCxnSpPr>
        <p:spPr>
          <a:xfrm flipH="1" flipV="1">
            <a:off x="7106654" y="1892973"/>
            <a:ext cx="1540041" cy="6623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47B4F38-ECA7-459E-A4E1-EAAF527777C7}"/>
              </a:ext>
            </a:extLst>
          </p:cNvPr>
          <p:cNvSpPr txBox="1"/>
          <p:nvPr/>
        </p:nvSpPr>
        <p:spPr>
          <a:xfrm>
            <a:off x="525381" y="5427291"/>
            <a:ext cx="11141237" cy="584775"/>
          </a:xfrm>
          <a:prstGeom prst="rect">
            <a:avLst/>
          </a:prstGeom>
          <a:noFill/>
        </p:spPr>
        <p:txBody>
          <a:bodyPr wrap="square" rtlCol="0">
            <a:spAutoFit/>
          </a:bodyPr>
          <a:lstStyle/>
          <a:p>
            <a:pPr algn="ctr"/>
            <a:r>
              <a:rPr lang="en-US" sz="3200" dirty="0">
                <a:solidFill>
                  <a:schemeClr val="accent2"/>
                </a:solidFill>
              </a:rPr>
              <a:t>Large Diversity in Smart Home IoT adoption</a:t>
            </a:r>
          </a:p>
        </p:txBody>
      </p:sp>
    </p:spTree>
    <p:extLst>
      <p:ext uri="{BB962C8B-B14F-4D97-AF65-F5344CB8AC3E}">
        <p14:creationId xmlns:p14="http://schemas.microsoft.com/office/powerpoint/2010/main" val="340738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BA901-913D-4EEF-9623-133302C25453}"/>
              </a:ext>
            </a:extLst>
          </p:cNvPr>
          <p:cNvSpPr>
            <a:spLocks noGrp="1"/>
          </p:cNvSpPr>
          <p:nvPr>
            <p:ph type="title"/>
          </p:nvPr>
        </p:nvSpPr>
        <p:spPr/>
        <p:txBody>
          <a:bodyPr>
            <a:normAutofit/>
          </a:bodyPr>
          <a:lstStyle/>
          <a:p>
            <a:r>
              <a:rPr lang="en-US" sz="4800" dirty="0"/>
              <a:t>Characterization - Conclusions</a:t>
            </a:r>
          </a:p>
        </p:txBody>
      </p:sp>
      <p:sp>
        <p:nvSpPr>
          <p:cNvPr id="3" name="Footer Placeholder 2">
            <a:extLst>
              <a:ext uri="{FF2B5EF4-FFF2-40B4-BE49-F238E27FC236}">
                <a16:creationId xmlns:a16="http://schemas.microsoft.com/office/drawing/2014/main" id="{22EC85D8-62AB-46F6-A41F-4037D3181EF8}"/>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EA64C3E9-DF5E-4880-9265-2C34C40CDDF7}"/>
              </a:ext>
            </a:extLst>
          </p:cNvPr>
          <p:cNvSpPr>
            <a:spLocks noGrp="1"/>
          </p:cNvSpPr>
          <p:nvPr>
            <p:ph type="sldNum" sz="quarter" idx="12"/>
          </p:nvPr>
        </p:nvSpPr>
        <p:spPr>
          <a:xfrm>
            <a:off x="0" y="6255394"/>
            <a:ext cx="711200" cy="357938"/>
          </a:xfrm>
        </p:spPr>
        <p:txBody>
          <a:bodyPr>
            <a:normAutofit lnSpcReduction="10000"/>
          </a:bodyPr>
          <a:lstStyle/>
          <a:p>
            <a:fld id="{2ABC7612-2C91-4738-8FA0-3151D896C48D}" type="slidenum">
              <a:rPr lang="en-US" smtClean="0">
                <a:solidFill>
                  <a:schemeClr val="tx1"/>
                </a:solidFill>
              </a:rPr>
              <a:t>25</a:t>
            </a:fld>
            <a:endParaRPr lang="en-US" dirty="0">
              <a:solidFill>
                <a:schemeClr val="tx1"/>
              </a:solidFill>
            </a:endParaRPr>
          </a:p>
        </p:txBody>
      </p:sp>
      <p:sp>
        <p:nvSpPr>
          <p:cNvPr id="5" name="Content Placeholder 4">
            <a:extLst>
              <a:ext uri="{FF2B5EF4-FFF2-40B4-BE49-F238E27FC236}">
                <a16:creationId xmlns:a16="http://schemas.microsoft.com/office/drawing/2014/main" id="{C7C00606-4EC8-432C-8922-B8E9FDEA165E}"/>
              </a:ext>
            </a:extLst>
          </p:cNvPr>
          <p:cNvSpPr>
            <a:spLocks noGrp="1"/>
          </p:cNvSpPr>
          <p:nvPr>
            <p:ph sz="quarter" idx="13"/>
          </p:nvPr>
        </p:nvSpPr>
        <p:spPr/>
        <p:txBody>
          <a:bodyPr>
            <a:normAutofit/>
          </a:bodyPr>
          <a:lstStyle/>
          <a:p>
            <a:r>
              <a:rPr lang="en-US" sz="3200" dirty="0"/>
              <a:t>Functionality defines volumetric, temporal and destination characteristics of smart home IoT traffic.</a:t>
            </a:r>
          </a:p>
          <a:p>
            <a:endParaRPr lang="en-US" sz="3200" dirty="0"/>
          </a:p>
          <a:p>
            <a:r>
              <a:rPr lang="en-US" sz="3200" dirty="0"/>
              <a:t>Despite front end fragmentation, the back end is centralized on general cloud service providers.</a:t>
            </a:r>
          </a:p>
        </p:txBody>
      </p:sp>
    </p:spTree>
    <p:extLst>
      <p:ext uri="{BB962C8B-B14F-4D97-AF65-F5344CB8AC3E}">
        <p14:creationId xmlns:p14="http://schemas.microsoft.com/office/powerpoint/2010/main" val="1715877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6DFD1-8397-4AED-945E-CFFB11DAF095}"/>
              </a:ext>
            </a:extLst>
          </p:cNvPr>
          <p:cNvSpPr>
            <a:spLocks noGrp="1"/>
          </p:cNvSpPr>
          <p:nvPr>
            <p:ph type="title"/>
          </p:nvPr>
        </p:nvSpPr>
        <p:spPr/>
        <p:txBody>
          <a:bodyPr>
            <a:normAutofit/>
          </a:bodyPr>
          <a:lstStyle/>
          <a:p>
            <a:r>
              <a:rPr lang="en-US" sz="4800" dirty="0"/>
              <a:t>Data Collection - Deployment</a:t>
            </a:r>
          </a:p>
        </p:txBody>
      </p:sp>
      <p:sp>
        <p:nvSpPr>
          <p:cNvPr id="3" name="Footer Placeholder 2">
            <a:extLst>
              <a:ext uri="{FF2B5EF4-FFF2-40B4-BE49-F238E27FC236}">
                <a16:creationId xmlns:a16="http://schemas.microsoft.com/office/drawing/2014/main" id="{3BD19E4C-BD5A-475A-AE23-4709C39A6B80}"/>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037F00E9-6323-483A-BC86-A5B953F205FF}"/>
              </a:ext>
            </a:extLst>
          </p:cNvPr>
          <p:cNvSpPr>
            <a:spLocks noGrp="1"/>
          </p:cNvSpPr>
          <p:nvPr>
            <p:ph type="sldNum" sz="quarter" idx="12"/>
          </p:nvPr>
        </p:nvSpPr>
        <p:spPr>
          <a:xfrm>
            <a:off x="0" y="6101524"/>
            <a:ext cx="711200" cy="357938"/>
          </a:xfrm>
        </p:spPr>
        <p:txBody>
          <a:bodyPr>
            <a:normAutofit lnSpcReduction="10000"/>
          </a:bodyPr>
          <a:lstStyle/>
          <a:p>
            <a:fld id="{2ABC7612-2C91-4738-8FA0-3151D896C48D}" type="slidenum">
              <a:rPr lang="en-US" smtClean="0">
                <a:solidFill>
                  <a:schemeClr val="tx1"/>
                </a:solidFill>
              </a:rPr>
              <a:t>26</a:t>
            </a:fld>
            <a:endParaRPr lang="en-US">
              <a:solidFill>
                <a:schemeClr val="tx1"/>
              </a:solidFill>
            </a:endParaRPr>
          </a:p>
        </p:txBody>
      </p:sp>
      <p:sp>
        <p:nvSpPr>
          <p:cNvPr id="5" name="Content Placeholder 4">
            <a:extLst>
              <a:ext uri="{FF2B5EF4-FFF2-40B4-BE49-F238E27FC236}">
                <a16:creationId xmlns:a16="http://schemas.microsoft.com/office/drawing/2014/main" id="{C575A588-37F9-4CEC-A19A-04BEC8955121}"/>
              </a:ext>
            </a:extLst>
          </p:cNvPr>
          <p:cNvSpPr>
            <a:spLocks noGrp="1"/>
          </p:cNvSpPr>
          <p:nvPr>
            <p:ph sz="quarter" idx="13"/>
          </p:nvPr>
        </p:nvSpPr>
        <p:spPr/>
        <p:txBody>
          <a:bodyPr>
            <a:normAutofit/>
          </a:bodyPr>
          <a:lstStyle/>
          <a:p>
            <a:r>
              <a:rPr lang="en-US" sz="3200" dirty="0"/>
              <a:t>Partner with Minim – Smart home management platform.</a:t>
            </a:r>
          </a:p>
          <a:p>
            <a:endParaRPr lang="en-US" sz="3200" dirty="0"/>
          </a:p>
          <a:p>
            <a:r>
              <a:rPr lang="en-US" sz="3200" dirty="0"/>
              <a:t>Recruit 220 homes with informed consent of data collection.</a:t>
            </a:r>
          </a:p>
          <a:p>
            <a:endParaRPr lang="en-US" sz="3200" dirty="0"/>
          </a:p>
          <a:p>
            <a:r>
              <a:rPr lang="en-US" sz="3200" dirty="0"/>
              <a:t>Collect data over 19-day period in February ’18.</a:t>
            </a:r>
          </a:p>
        </p:txBody>
      </p:sp>
    </p:spTree>
    <p:extLst>
      <p:ext uri="{BB962C8B-B14F-4D97-AF65-F5344CB8AC3E}">
        <p14:creationId xmlns:p14="http://schemas.microsoft.com/office/powerpoint/2010/main" val="271525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6C34-D617-46DC-AEE9-2E74ADBB190A}"/>
              </a:ext>
            </a:extLst>
          </p:cNvPr>
          <p:cNvSpPr>
            <a:spLocks noGrp="1"/>
          </p:cNvSpPr>
          <p:nvPr>
            <p:ph type="title"/>
          </p:nvPr>
        </p:nvSpPr>
        <p:spPr/>
        <p:txBody>
          <a:bodyPr>
            <a:normAutofit/>
          </a:bodyPr>
          <a:lstStyle/>
          <a:p>
            <a:r>
              <a:rPr lang="en-US" sz="4800" dirty="0"/>
              <a:t>Studying Smart Home IoT - Challenges</a:t>
            </a:r>
          </a:p>
        </p:txBody>
      </p:sp>
      <p:sp>
        <p:nvSpPr>
          <p:cNvPr id="3" name="Footer Placeholder 2">
            <a:extLst>
              <a:ext uri="{FF2B5EF4-FFF2-40B4-BE49-F238E27FC236}">
                <a16:creationId xmlns:a16="http://schemas.microsoft.com/office/drawing/2014/main" id="{E60BF411-8A18-42F8-B333-F1EB12EB7B34}"/>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968D9F28-A91F-4CF9-A3FA-FB1ECE9BF894}"/>
              </a:ext>
            </a:extLst>
          </p:cNvPr>
          <p:cNvSpPr>
            <a:spLocks noGrp="1"/>
          </p:cNvSpPr>
          <p:nvPr>
            <p:ph type="sldNum" sz="quarter" idx="12"/>
          </p:nvPr>
        </p:nvSpPr>
        <p:spPr>
          <a:xfrm>
            <a:off x="42779" y="6312125"/>
            <a:ext cx="711200" cy="357938"/>
          </a:xfrm>
        </p:spPr>
        <p:txBody>
          <a:bodyPr>
            <a:normAutofit lnSpcReduction="10000"/>
          </a:bodyPr>
          <a:lstStyle/>
          <a:p>
            <a:fld id="{2ABC7612-2C91-4738-8FA0-3151D896C48D}" type="slidenum">
              <a:rPr lang="en-US" smtClean="0">
                <a:solidFill>
                  <a:schemeClr val="tx1"/>
                </a:solidFill>
              </a:rPr>
              <a:t>27</a:t>
            </a:fld>
            <a:endParaRPr lang="en-US" dirty="0">
              <a:solidFill>
                <a:schemeClr val="tx1"/>
              </a:solidFill>
            </a:endParaRPr>
          </a:p>
        </p:txBody>
      </p:sp>
      <p:sp>
        <p:nvSpPr>
          <p:cNvPr id="5" name="Content Placeholder 4">
            <a:extLst>
              <a:ext uri="{FF2B5EF4-FFF2-40B4-BE49-F238E27FC236}">
                <a16:creationId xmlns:a16="http://schemas.microsoft.com/office/drawing/2014/main" id="{FFFA1144-8BED-455B-8069-1872E9B35FA1}"/>
              </a:ext>
            </a:extLst>
          </p:cNvPr>
          <p:cNvSpPr>
            <a:spLocks noGrp="1"/>
          </p:cNvSpPr>
          <p:nvPr>
            <p:ph sz="quarter" idx="13"/>
          </p:nvPr>
        </p:nvSpPr>
        <p:spPr/>
        <p:txBody>
          <a:bodyPr>
            <a:normAutofit/>
          </a:bodyPr>
          <a:lstStyle/>
          <a:p>
            <a:r>
              <a:rPr lang="en-US" sz="3200" dirty="0"/>
              <a:t>Smart home IoT ecosystem is </a:t>
            </a:r>
            <a:r>
              <a:rPr lang="en-US" sz="3200" i="1" u="sng" dirty="0"/>
              <a:t>fragmented</a:t>
            </a:r>
            <a:r>
              <a:rPr lang="en-US" sz="3200" i="1" dirty="0"/>
              <a:t>.</a:t>
            </a:r>
          </a:p>
          <a:p>
            <a:pPr marL="0" indent="0">
              <a:buNone/>
            </a:pPr>
            <a:endParaRPr lang="en-US" sz="3200" dirty="0"/>
          </a:p>
          <a:p>
            <a:r>
              <a:rPr lang="en-US" sz="3200" dirty="0"/>
              <a:t>Smart home IoT behavior is </a:t>
            </a:r>
            <a:r>
              <a:rPr lang="en-US" sz="3200" i="1" u="sng" dirty="0"/>
              <a:t>environment-dependent</a:t>
            </a:r>
            <a:r>
              <a:rPr lang="en-US" sz="3200" i="1" dirty="0"/>
              <a:t>.</a:t>
            </a:r>
          </a:p>
          <a:p>
            <a:pPr marL="0" indent="0">
              <a:buNone/>
            </a:pPr>
            <a:endParaRPr lang="en-US" sz="3200" dirty="0"/>
          </a:p>
          <a:p>
            <a:r>
              <a:rPr lang="en-US" sz="3200" dirty="0"/>
              <a:t>Smart home IoT is difficult to study at </a:t>
            </a:r>
            <a:r>
              <a:rPr lang="en-US" sz="3200" i="1" u="sng" dirty="0"/>
              <a:t>scale</a:t>
            </a:r>
            <a:r>
              <a:rPr lang="en-US" sz="3200" i="1" dirty="0"/>
              <a:t>.</a:t>
            </a:r>
            <a:endParaRPr lang="en-US" sz="3200" dirty="0"/>
          </a:p>
        </p:txBody>
      </p:sp>
    </p:spTree>
    <p:extLst>
      <p:ext uri="{BB962C8B-B14F-4D97-AF65-F5344CB8AC3E}">
        <p14:creationId xmlns:p14="http://schemas.microsoft.com/office/powerpoint/2010/main" val="1133653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CF93A-E8CE-470E-8073-03FB305F33B1}"/>
              </a:ext>
            </a:extLst>
          </p:cNvPr>
          <p:cNvSpPr>
            <a:spLocks noGrp="1"/>
          </p:cNvSpPr>
          <p:nvPr>
            <p:ph type="title"/>
          </p:nvPr>
        </p:nvSpPr>
        <p:spPr/>
        <p:txBody>
          <a:bodyPr>
            <a:normAutofit/>
          </a:bodyPr>
          <a:lstStyle/>
          <a:p>
            <a:r>
              <a:rPr lang="en-US" sz="4800" dirty="0"/>
              <a:t>Background - Smart Home</a:t>
            </a:r>
          </a:p>
        </p:txBody>
      </p:sp>
      <p:sp>
        <p:nvSpPr>
          <p:cNvPr id="3" name="Footer Placeholder 2">
            <a:extLst>
              <a:ext uri="{FF2B5EF4-FFF2-40B4-BE49-F238E27FC236}">
                <a16:creationId xmlns:a16="http://schemas.microsoft.com/office/drawing/2014/main" id="{6A8505B7-1688-4EA5-BA61-219695399236}"/>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47516EF9-5D77-4925-A791-90DC9479BA66}"/>
              </a:ext>
            </a:extLst>
          </p:cNvPr>
          <p:cNvSpPr>
            <a:spLocks noGrp="1"/>
          </p:cNvSpPr>
          <p:nvPr>
            <p:ph type="sldNum" sz="quarter" idx="12"/>
          </p:nvPr>
        </p:nvSpPr>
        <p:spPr>
          <a:xfrm>
            <a:off x="0" y="6254152"/>
            <a:ext cx="711200" cy="325398"/>
          </a:xfrm>
        </p:spPr>
        <p:txBody>
          <a:bodyPr>
            <a:normAutofit fontScale="92500" lnSpcReduction="10000"/>
          </a:bodyPr>
          <a:lstStyle/>
          <a:p>
            <a:fld id="{2ABC7612-2C91-4738-8FA0-3151D896C48D}" type="slidenum">
              <a:rPr lang="en-US" smtClean="0">
                <a:solidFill>
                  <a:schemeClr val="tx1"/>
                </a:solidFill>
              </a:rPr>
              <a:t>28</a:t>
            </a:fld>
            <a:endParaRPr lang="en-US">
              <a:solidFill>
                <a:schemeClr val="tx1"/>
              </a:solidFill>
            </a:endParaRPr>
          </a:p>
        </p:txBody>
      </p:sp>
      <p:pic>
        <p:nvPicPr>
          <p:cNvPr id="9" name="Content Placeholder 8">
            <a:extLst>
              <a:ext uri="{FF2B5EF4-FFF2-40B4-BE49-F238E27FC236}">
                <a16:creationId xmlns:a16="http://schemas.microsoft.com/office/drawing/2014/main" id="{F70DF48B-02F9-4925-A488-80D1DEFE93A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429925" y="2497329"/>
            <a:ext cx="780808" cy="780808"/>
          </a:xfrm>
        </p:spPr>
      </p:pic>
      <p:grpSp>
        <p:nvGrpSpPr>
          <p:cNvPr id="20" name="Group 19">
            <a:extLst>
              <a:ext uri="{FF2B5EF4-FFF2-40B4-BE49-F238E27FC236}">
                <a16:creationId xmlns:a16="http://schemas.microsoft.com/office/drawing/2014/main" id="{0D40D4A3-CC1C-46DA-8503-76EF791D6803}"/>
              </a:ext>
            </a:extLst>
          </p:cNvPr>
          <p:cNvGrpSpPr/>
          <p:nvPr/>
        </p:nvGrpSpPr>
        <p:grpSpPr>
          <a:xfrm>
            <a:off x="1214293" y="1804308"/>
            <a:ext cx="5431435" cy="3963896"/>
            <a:chOff x="1793958" y="2248605"/>
            <a:chExt cx="4767942" cy="3564367"/>
          </a:xfrm>
        </p:grpSpPr>
        <p:sp>
          <p:nvSpPr>
            <p:cNvPr id="6" name="Rectangle 5">
              <a:extLst>
                <a:ext uri="{FF2B5EF4-FFF2-40B4-BE49-F238E27FC236}">
                  <a16:creationId xmlns:a16="http://schemas.microsoft.com/office/drawing/2014/main" id="{A89CACCD-79D2-4FC7-8166-445CC6B99D8B}"/>
                </a:ext>
              </a:extLst>
            </p:cNvPr>
            <p:cNvSpPr/>
            <p:nvPr/>
          </p:nvSpPr>
          <p:spPr>
            <a:xfrm>
              <a:off x="2012209" y="2795612"/>
              <a:ext cx="4331441" cy="30173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D574E44F-248F-426A-813C-2B885D06241B}"/>
                </a:ext>
              </a:extLst>
            </p:cNvPr>
            <p:cNvSpPr/>
            <p:nvPr/>
          </p:nvSpPr>
          <p:spPr>
            <a:xfrm>
              <a:off x="1793958" y="2248605"/>
              <a:ext cx="4767942" cy="54700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Picture 10" descr="A close up of a speaker&#10;&#10;Description automatically generated">
            <a:extLst>
              <a:ext uri="{FF2B5EF4-FFF2-40B4-BE49-F238E27FC236}">
                <a16:creationId xmlns:a16="http://schemas.microsoft.com/office/drawing/2014/main" id="{0E28AE9A-D063-418D-AB54-0F5D05D06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8679" y="4415890"/>
            <a:ext cx="585356" cy="752870"/>
          </a:xfrm>
          <a:prstGeom prst="rect">
            <a:avLst/>
          </a:prstGeom>
        </p:spPr>
      </p:pic>
      <p:pic>
        <p:nvPicPr>
          <p:cNvPr id="15" name="Graphic 14" descr="Wireless router">
            <a:extLst>
              <a:ext uri="{FF2B5EF4-FFF2-40B4-BE49-F238E27FC236}">
                <a16:creationId xmlns:a16="http://schemas.microsoft.com/office/drawing/2014/main" id="{574268EF-93C5-4FBC-A059-5DFEC27044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2215" y="4297527"/>
            <a:ext cx="988141" cy="988141"/>
          </a:xfrm>
          <a:prstGeom prst="rect">
            <a:avLst/>
          </a:prstGeom>
        </p:spPr>
      </p:pic>
      <p:grpSp>
        <p:nvGrpSpPr>
          <p:cNvPr id="19" name="Group 18">
            <a:extLst>
              <a:ext uri="{FF2B5EF4-FFF2-40B4-BE49-F238E27FC236}">
                <a16:creationId xmlns:a16="http://schemas.microsoft.com/office/drawing/2014/main" id="{E1ED6267-5BCA-4896-815F-A62411B01FE0}"/>
              </a:ext>
            </a:extLst>
          </p:cNvPr>
          <p:cNvGrpSpPr/>
          <p:nvPr/>
        </p:nvGrpSpPr>
        <p:grpSpPr>
          <a:xfrm>
            <a:off x="2693914" y="2319560"/>
            <a:ext cx="1478390" cy="1553843"/>
            <a:chOff x="2992371" y="3020786"/>
            <a:chExt cx="1437886" cy="1437886"/>
          </a:xfrm>
        </p:grpSpPr>
        <p:pic>
          <p:nvPicPr>
            <p:cNvPr id="17" name="Picture 16" descr="A picture containing flower, bird&#10;&#10;Description automatically generated">
              <a:extLst>
                <a:ext uri="{FF2B5EF4-FFF2-40B4-BE49-F238E27FC236}">
                  <a16:creationId xmlns:a16="http://schemas.microsoft.com/office/drawing/2014/main" id="{2C1D29A2-07BB-4BD8-ABCD-274D3CBA42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92371" y="3020786"/>
              <a:ext cx="1437886" cy="1437886"/>
            </a:xfrm>
            <a:prstGeom prst="rect">
              <a:avLst/>
            </a:prstGeom>
          </p:spPr>
        </p:pic>
        <p:sp>
          <p:nvSpPr>
            <p:cNvPr id="18" name="Rectangle: Rounded Corners 17">
              <a:extLst>
                <a:ext uri="{FF2B5EF4-FFF2-40B4-BE49-F238E27FC236}">
                  <a16:creationId xmlns:a16="http://schemas.microsoft.com/office/drawing/2014/main" id="{660A5BBD-3A62-4E3C-8B35-F203D5CD24F8}"/>
                </a:ext>
              </a:extLst>
            </p:cNvPr>
            <p:cNvSpPr/>
            <p:nvPr/>
          </p:nvSpPr>
          <p:spPr>
            <a:xfrm>
              <a:off x="3224893" y="3456021"/>
              <a:ext cx="996043" cy="58076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descr="A screenshot of a video game&#10;&#10;Description automatically generated">
            <a:extLst>
              <a:ext uri="{FF2B5EF4-FFF2-40B4-BE49-F238E27FC236}">
                <a16:creationId xmlns:a16="http://schemas.microsoft.com/office/drawing/2014/main" id="{3D369C54-7DAE-47FE-92F8-2BA08D95C3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03090" y="2638484"/>
            <a:ext cx="1104064" cy="721529"/>
          </a:xfrm>
          <a:prstGeom prst="rect">
            <a:avLst/>
          </a:prstGeom>
        </p:spPr>
      </p:pic>
      <p:cxnSp>
        <p:nvCxnSpPr>
          <p:cNvPr id="24" name="Straight Arrow Connector 23">
            <a:extLst>
              <a:ext uri="{FF2B5EF4-FFF2-40B4-BE49-F238E27FC236}">
                <a16:creationId xmlns:a16="http://schemas.microsoft.com/office/drawing/2014/main" id="{4E5DAD6B-76A5-4CD7-AD20-0C406B4ED371}"/>
              </a:ext>
            </a:extLst>
          </p:cNvPr>
          <p:cNvCxnSpPr>
            <a:cxnSpLocks/>
            <a:stCxn id="9" idx="2"/>
          </p:cNvCxnSpPr>
          <p:nvPr/>
        </p:nvCxnSpPr>
        <p:spPr>
          <a:xfrm>
            <a:off x="1820329" y="3278137"/>
            <a:ext cx="0" cy="936508"/>
          </a:xfrm>
          <a:prstGeom prst="straightConnector1">
            <a:avLst/>
          </a:prstGeom>
          <a:ln w="28575">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6F5BF56-6CC8-42B3-854D-0680E86E79E8}"/>
              </a:ext>
            </a:extLst>
          </p:cNvPr>
          <p:cNvCxnSpPr>
            <a:stCxn id="11" idx="3"/>
            <a:endCxn id="15" idx="1"/>
          </p:cNvCxnSpPr>
          <p:nvPr/>
        </p:nvCxnSpPr>
        <p:spPr>
          <a:xfrm flipV="1">
            <a:off x="2224035" y="4791598"/>
            <a:ext cx="2718180" cy="727"/>
          </a:xfrm>
          <a:prstGeom prst="straightConnector1">
            <a:avLst/>
          </a:prstGeom>
          <a:ln w="28575">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14A0294-EC41-451E-B3D8-4011227B892F}"/>
              </a:ext>
            </a:extLst>
          </p:cNvPr>
          <p:cNvCxnSpPr>
            <a:cxnSpLocks/>
            <a:endCxn id="18" idx="1"/>
          </p:cNvCxnSpPr>
          <p:nvPr/>
        </p:nvCxnSpPr>
        <p:spPr>
          <a:xfrm>
            <a:off x="1967422" y="3096481"/>
            <a:ext cx="965564" cy="7213"/>
          </a:xfrm>
          <a:prstGeom prst="straightConnector1">
            <a:avLst/>
          </a:prstGeom>
          <a:ln w="28575">
            <a:prstDash val="sysDash"/>
            <a:headEnd type="triangle"/>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42AF2181-2A5E-4EFB-867A-43F3CE689D46}"/>
              </a:ext>
            </a:extLst>
          </p:cNvPr>
          <p:cNvCxnSpPr>
            <a:cxnSpLocks/>
            <a:stCxn id="11" idx="0"/>
          </p:cNvCxnSpPr>
          <p:nvPr/>
        </p:nvCxnSpPr>
        <p:spPr>
          <a:xfrm flipV="1">
            <a:off x="1931357" y="3433136"/>
            <a:ext cx="1007038" cy="982754"/>
          </a:xfrm>
          <a:prstGeom prst="straightConnector1">
            <a:avLst/>
          </a:prstGeom>
          <a:ln w="28575">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143ECEB4-1575-4EBE-91D2-DEEA61531B75}"/>
              </a:ext>
            </a:extLst>
          </p:cNvPr>
          <p:cNvCxnSpPr>
            <a:cxnSpLocks/>
          </p:cNvCxnSpPr>
          <p:nvPr/>
        </p:nvCxnSpPr>
        <p:spPr>
          <a:xfrm>
            <a:off x="3962094" y="2918548"/>
            <a:ext cx="921787" cy="1"/>
          </a:xfrm>
          <a:prstGeom prst="straightConnector1">
            <a:avLst/>
          </a:prstGeom>
          <a:ln w="28575">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3BC0D4C-74DC-4496-A2BD-49E2AE92D888}"/>
              </a:ext>
            </a:extLst>
          </p:cNvPr>
          <p:cNvCxnSpPr>
            <a:stCxn id="22" idx="2"/>
            <a:endCxn id="15" idx="0"/>
          </p:cNvCxnSpPr>
          <p:nvPr/>
        </p:nvCxnSpPr>
        <p:spPr>
          <a:xfrm flipH="1">
            <a:off x="5436286" y="3360013"/>
            <a:ext cx="18836" cy="937514"/>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E73E7CD2-930B-41FB-A5E6-68CD88F32F14}"/>
              </a:ext>
            </a:extLst>
          </p:cNvPr>
          <p:cNvSpPr txBox="1"/>
          <p:nvPr/>
        </p:nvSpPr>
        <p:spPr>
          <a:xfrm>
            <a:off x="8213814" y="4474934"/>
            <a:ext cx="2454417" cy="646331"/>
          </a:xfrm>
          <a:prstGeom prst="rect">
            <a:avLst/>
          </a:prstGeom>
          <a:noFill/>
          <a:ln w="19050">
            <a:solidFill>
              <a:schemeClr val="tx1"/>
            </a:solidFill>
          </a:ln>
        </p:spPr>
        <p:txBody>
          <a:bodyPr wrap="square" rtlCol="0">
            <a:spAutoFit/>
          </a:bodyPr>
          <a:lstStyle/>
          <a:p>
            <a:pPr algn="ctr"/>
            <a:r>
              <a:rPr lang="en-US" sz="3600" dirty="0"/>
              <a:t>ISP</a:t>
            </a:r>
          </a:p>
        </p:txBody>
      </p:sp>
      <p:sp>
        <p:nvSpPr>
          <p:cNvPr id="43" name="Cloud 42">
            <a:extLst>
              <a:ext uri="{FF2B5EF4-FFF2-40B4-BE49-F238E27FC236}">
                <a16:creationId xmlns:a16="http://schemas.microsoft.com/office/drawing/2014/main" id="{918B728A-CA05-443A-9C00-0860642CAD45}"/>
              </a:ext>
            </a:extLst>
          </p:cNvPr>
          <p:cNvSpPr/>
          <p:nvPr/>
        </p:nvSpPr>
        <p:spPr>
          <a:xfrm>
            <a:off x="8395993" y="2272394"/>
            <a:ext cx="2090057" cy="1411451"/>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Cloud Services</a:t>
            </a:r>
          </a:p>
        </p:txBody>
      </p:sp>
      <p:cxnSp>
        <p:nvCxnSpPr>
          <p:cNvPr id="44" name="Straight Arrow Connector 43">
            <a:extLst>
              <a:ext uri="{FF2B5EF4-FFF2-40B4-BE49-F238E27FC236}">
                <a16:creationId xmlns:a16="http://schemas.microsoft.com/office/drawing/2014/main" id="{68EE6A19-FE39-4D82-BEDE-D5AB0B4CE3C8}"/>
              </a:ext>
            </a:extLst>
          </p:cNvPr>
          <p:cNvCxnSpPr>
            <a:cxnSpLocks/>
            <a:stCxn id="15" idx="3"/>
            <a:endCxn id="42" idx="1"/>
          </p:cNvCxnSpPr>
          <p:nvPr/>
        </p:nvCxnSpPr>
        <p:spPr>
          <a:xfrm>
            <a:off x="5930356" y="4791598"/>
            <a:ext cx="2283458" cy="6502"/>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B8468CBA-1DEE-49C9-B933-8DE167008B29}"/>
              </a:ext>
            </a:extLst>
          </p:cNvPr>
          <p:cNvCxnSpPr>
            <a:cxnSpLocks/>
            <a:stCxn id="43" idx="1"/>
            <a:endCxn id="42" idx="0"/>
          </p:cNvCxnSpPr>
          <p:nvPr/>
        </p:nvCxnSpPr>
        <p:spPr>
          <a:xfrm>
            <a:off x="9441022" y="3682342"/>
            <a:ext cx="1" cy="792592"/>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A982BF83-F9EC-431D-B094-AD41AFEFF5BB}"/>
              </a:ext>
            </a:extLst>
          </p:cNvPr>
          <p:cNvSpPr txBox="1"/>
          <p:nvPr/>
        </p:nvSpPr>
        <p:spPr>
          <a:xfrm>
            <a:off x="4545143" y="5168033"/>
            <a:ext cx="1678824" cy="369332"/>
          </a:xfrm>
          <a:prstGeom prst="rect">
            <a:avLst/>
          </a:prstGeom>
          <a:noFill/>
        </p:spPr>
        <p:txBody>
          <a:bodyPr wrap="square" rtlCol="0">
            <a:spAutoFit/>
          </a:bodyPr>
          <a:lstStyle/>
          <a:p>
            <a:r>
              <a:rPr lang="en-US" dirty="0"/>
              <a:t>Home Gateway</a:t>
            </a:r>
          </a:p>
        </p:txBody>
      </p:sp>
      <p:sp>
        <p:nvSpPr>
          <p:cNvPr id="30" name="Rectangle 29">
            <a:extLst>
              <a:ext uri="{FF2B5EF4-FFF2-40B4-BE49-F238E27FC236}">
                <a16:creationId xmlns:a16="http://schemas.microsoft.com/office/drawing/2014/main" id="{5B88BC6F-2F9B-4A0E-A4A4-E4FFE68A9105}"/>
              </a:ext>
            </a:extLst>
          </p:cNvPr>
          <p:cNvSpPr/>
          <p:nvPr/>
        </p:nvSpPr>
        <p:spPr>
          <a:xfrm>
            <a:off x="4545134" y="4266302"/>
            <a:ext cx="1678824" cy="131691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descr="Wireless">
            <a:extLst>
              <a:ext uri="{FF2B5EF4-FFF2-40B4-BE49-F238E27FC236}">
                <a16:creationId xmlns:a16="http://schemas.microsoft.com/office/drawing/2014/main" id="{31A55676-8742-4D60-91F8-9DF57A59B09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107787" y="4197963"/>
            <a:ext cx="495362" cy="495362"/>
          </a:xfrm>
          <a:prstGeom prst="rect">
            <a:avLst/>
          </a:prstGeom>
        </p:spPr>
      </p:pic>
      <p:pic>
        <p:nvPicPr>
          <p:cNvPr id="35" name="Graphic 34" descr="Bluetooth">
            <a:extLst>
              <a:ext uri="{FF2B5EF4-FFF2-40B4-BE49-F238E27FC236}">
                <a16:creationId xmlns:a16="http://schemas.microsoft.com/office/drawing/2014/main" id="{415EFEA7-D61B-46FC-8391-3F4B02F7422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56123" y="3584530"/>
            <a:ext cx="336253" cy="336253"/>
          </a:xfrm>
          <a:prstGeom prst="rect">
            <a:avLst/>
          </a:prstGeom>
        </p:spPr>
      </p:pic>
      <p:pic>
        <p:nvPicPr>
          <p:cNvPr id="38" name="Graphic 37" descr="USB">
            <a:extLst>
              <a:ext uri="{FF2B5EF4-FFF2-40B4-BE49-F238E27FC236}">
                <a16:creationId xmlns:a16="http://schemas.microsoft.com/office/drawing/2014/main" id="{108351EC-F45F-40BA-A830-9ED8FFAEE87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95550" y="3523600"/>
            <a:ext cx="424241" cy="424241"/>
          </a:xfrm>
          <a:prstGeom prst="rect">
            <a:avLst/>
          </a:prstGeom>
        </p:spPr>
      </p:pic>
    </p:spTree>
    <p:extLst>
      <p:ext uri="{BB962C8B-B14F-4D97-AF65-F5344CB8AC3E}">
        <p14:creationId xmlns:p14="http://schemas.microsoft.com/office/powerpoint/2010/main" val="3736127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085EB-A56A-4AB2-BB91-B14F1FB77A2C}"/>
              </a:ext>
            </a:extLst>
          </p:cNvPr>
          <p:cNvSpPr>
            <a:spLocks noGrp="1"/>
          </p:cNvSpPr>
          <p:nvPr>
            <p:ph type="title"/>
          </p:nvPr>
        </p:nvSpPr>
        <p:spPr/>
        <p:txBody>
          <a:bodyPr>
            <a:normAutofit/>
          </a:bodyPr>
          <a:lstStyle/>
          <a:p>
            <a:r>
              <a:rPr lang="en-US" sz="4800" dirty="0"/>
              <a:t>Data Statistics – Manufacturer Dominance</a:t>
            </a:r>
          </a:p>
        </p:txBody>
      </p:sp>
      <p:sp>
        <p:nvSpPr>
          <p:cNvPr id="3" name="Footer Placeholder 2">
            <a:extLst>
              <a:ext uri="{FF2B5EF4-FFF2-40B4-BE49-F238E27FC236}">
                <a16:creationId xmlns:a16="http://schemas.microsoft.com/office/drawing/2014/main" id="{654F05C0-CE54-4499-B56D-45EBD580AE32}"/>
              </a:ext>
            </a:extLst>
          </p:cNvPr>
          <p:cNvSpPr>
            <a:spLocks noGrp="1"/>
          </p:cNvSpPr>
          <p:nvPr>
            <p:ph type="ftr" sz="quarter" idx="11"/>
          </p:nvPr>
        </p:nvSpPr>
        <p:spPr>
          <a:xfrm>
            <a:off x="812802" y="6248207"/>
            <a:ext cx="10871198" cy="365125"/>
          </a:xfrm>
        </p:spPr>
        <p:txBody>
          <a:bodyPr/>
          <a:lstStyle/>
          <a:p>
            <a:r>
              <a:rPr lang="en-US" dirty="0"/>
              <a:t>M. Hammad Mazhar</a:t>
            </a:r>
          </a:p>
        </p:txBody>
      </p:sp>
      <p:sp>
        <p:nvSpPr>
          <p:cNvPr id="4" name="Slide Number Placeholder 3">
            <a:extLst>
              <a:ext uri="{FF2B5EF4-FFF2-40B4-BE49-F238E27FC236}">
                <a16:creationId xmlns:a16="http://schemas.microsoft.com/office/drawing/2014/main" id="{CB0B0F99-43D2-45BA-BB7D-5496EBDFFAC1}"/>
              </a:ext>
            </a:extLst>
          </p:cNvPr>
          <p:cNvSpPr>
            <a:spLocks noGrp="1"/>
          </p:cNvSpPr>
          <p:nvPr>
            <p:ph type="sldNum" sz="quarter" idx="12"/>
          </p:nvPr>
        </p:nvSpPr>
        <p:spPr>
          <a:xfrm>
            <a:off x="8021" y="6277968"/>
            <a:ext cx="711200" cy="357938"/>
          </a:xfrm>
        </p:spPr>
        <p:txBody>
          <a:bodyPr>
            <a:normAutofit lnSpcReduction="10000"/>
          </a:bodyPr>
          <a:lstStyle/>
          <a:p>
            <a:fld id="{2ABC7612-2C91-4738-8FA0-3151D896C48D}" type="slidenum">
              <a:rPr lang="en-US" smtClean="0">
                <a:solidFill>
                  <a:schemeClr val="tx1"/>
                </a:solidFill>
              </a:rPr>
              <a:t>29</a:t>
            </a:fld>
            <a:endParaRPr lang="en-US">
              <a:solidFill>
                <a:schemeClr val="tx1"/>
              </a:solidFill>
            </a:endParaRPr>
          </a:p>
        </p:txBody>
      </p:sp>
      <p:pic>
        <p:nvPicPr>
          <p:cNvPr id="7" name="Content Placeholder 6">
            <a:extLst>
              <a:ext uri="{FF2B5EF4-FFF2-40B4-BE49-F238E27FC236}">
                <a16:creationId xmlns:a16="http://schemas.microsoft.com/office/drawing/2014/main" id="{FE80F1CC-00AF-491C-AF82-58337830B2CA}"/>
              </a:ext>
            </a:extLst>
          </p:cNvPr>
          <p:cNvPicPr>
            <a:picLocks noGrp="1" noChangeAspect="1"/>
          </p:cNvPicPr>
          <p:nvPr>
            <p:ph sz="quarter" idx="13"/>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77979" y="2612539"/>
            <a:ext cx="7146883" cy="3559391"/>
          </a:xfrm>
        </p:spPr>
      </p:pic>
      <p:sp>
        <p:nvSpPr>
          <p:cNvPr id="8" name="Rectangle 7">
            <a:extLst>
              <a:ext uri="{FF2B5EF4-FFF2-40B4-BE49-F238E27FC236}">
                <a16:creationId xmlns:a16="http://schemas.microsoft.com/office/drawing/2014/main" id="{BC110F32-8D3D-4F88-8C2D-A71AC48D259B}"/>
              </a:ext>
            </a:extLst>
          </p:cNvPr>
          <p:cNvSpPr/>
          <p:nvPr/>
        </p:nvSpPr>
        <p:spPr>
          <a:xfrm>
            <a:off x="3035969" y="3248526"/>
            <a:ext cx="1327484" cy="180473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884F5D6-9C2C-40C5-A1E3-883DC26635AD}"/>
              </a:ext>
            </a:extLst>
          </p:cNvPr>
          <p:cNvSpPr txBox="1"/>
          <p:nvPr/>
        </p:nvSpPr>
        <p:spPr>
          <a:xfrm>
            <a:off x="5422293" y="3194988"/>
            <a:ext cx="2261875" cy="646331"/>
          </a:xfrm>
          <a:prstGeom prst="rect">
            <a:avLst/>
          </a:prstGeom>
          <a:ln w="28575"/>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Top 5 Manufacturers by home dominance</a:t>
            </a:r>
          </a:p>
        </p:txBody>
      </p:sp>
      <p:cxnSp>
        <p:nvCxnSpPr>
          <p:cNvPr id="11" name="Straight Arrow Connector 10">
            <a:extLst>
              <a:ext uri="{FF2B5EF4-FFF2-40B4-BE49-F238E27FC236}">
                <a16:creationId xmlns:a16="http://schemas.microsoft.com/office/drawing/2014/main" id="{51A56DE7-50CC-40E6-8585-92E325D88C0A}"/>
              </a:ext>
            </a:extLst>
          </p:cNvPr>
          <p:cNvCxnSpPr>
            <a:cxnSpLocks/>
          </p:cNvCxnSpPr>
          <p:nvPr/>
        </p:nvCxnSpPr>
        <p:spPr>
          <a:xfrm flipH="1">
            <a:off x="4363453" y="3340530"/>
            <a:ext cx="1058840" cy="3552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Content Placeholder 4">
            <a:extLst>
              <a:ext uri="{FF2B5EF4-FFF2-40B4-BE49-F238E27FC236}">
                <a16:creationId xmlns:a16="http://schemas.microsoft.com/office/drawing/2014/main" id="{86448B75-DBDF-490B-B708-35CDEA2D6F47}"/>
              </a:ext>
            </a:extLst>
          </p:cNvPr>
          <p:cNvSpPr txBox="1">
            <a:spLocks/>
          </p:cNvSpPr>
          <p:nvPr/>
        </p:nvSpPr>
        <p:spPr>
          <a:xfrm>
            <a:off x="812800" y="1803400"/>
            <a:ext cx="10871200" cy="4368800"/>
          </a:xfrm>
          <a:prstGeom prst="rect">
            <a:avLst/>
          </a:prstGeom>
        </p:spPr>
        <p:txBody>
          <a:bodyPr vert="horz">
            <a:normAutofit/>
          </a:bodyPr>
          <a:lstStyle>
            <a:lvl1pPr marL="426709" indent="-426709" algn="l" rtl="0" eaLnBrk="1" latinLnBrk="0" hangingPunct="1">
              <a:spcBef>
                <a:spcPts val="933"/>
              </a:spcBef>
              <a:buClr>
                <a:schemeClr val="accent2"/>
              </a:buClr>
              <a:buSzPct val="60000"/>
              <a:buFont typeface="Wingdings"/>
              <a:buChar char=""/>
              <a:defRPr kumimoji="0"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kumimoji="0"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kumimoji="0"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kumimoji="0"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kumimoji="0"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kumimoji="0"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kumimoji="0"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kumimoji="0"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kumimoji="0" sz="2400" kern="1200" baseline="0">
                <a:solidFill>
                  <a:schemeClr val="tx1"/>
                </a:solidFill>
                <a:latin typeface="+mn-lt"/>
                <a:ea typeface="+mn-ea"/>
                <a:cs typeface="+mn-cs"/>
              </a:defRPr>
            </a:lvl9pPr>
            <a:extLst/>
          </a:lstStyle>
          <a:p>
            <a:r>
              <a:rPr lang="en-US" sz="3200" dirty="0"/>
              <a:t>User preference for certain manufacturers of IoT devices</a:t>
            </a:r>
          </a:p>
          <a:p>
            <a:pPr marL="0" indent="0">
              <a:buFont typeface="Wingdings"/>
              <a:buNone/>
            </a:pPr>
            <a:endParaRPr lang="en-US" dirty="0"/>
          </a:p>
        </p:txBody>
      </p:sp>
    </p:spTree>
    <p:extLst>
      <p:ext uri="{BB962C8B-B14F-4D97-AF65-F5344CB8AC3E}">
        <p14:creationId xmlns:p14="http://schemas.microsoft.com/office/powerpoint/2010/main" val="3842526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479D-7904-4069-820F-3D7F713029CC}"/>
              </a:ext>
            </a:extLst>
          </p:cNvPr>
          <p:cNvSpPr>
            <a:spLocks noGrp="1"/>
          </p:cNvSpPr>
          <p:nvPr>
            <p:ph type="title"/>
          </p:nvPr>
        </p:nvSpPr>
        <p:spPr/>
        <p:txBody>
          <a:bodyPr>
            <a:noAutofit/>
          </a:bodyPr>
          <a:lstStyle/>
          <a:p>
            <a:r>
              <a:rPr lang="en-US" sz="4800" dirty="0"/>
              <a:t>With whom do smart home IoT devices communicate? – Second Level Domains</a:t>
            </a:r>
          </a:p>
        </p:txBody>
      </p:sp>
      <p:sp>
        <p:nvSpPr>
          <p:cNvPr id="3" name="Footer Placeholder 2">
            <a:extLst>
              <a:ext uri="{FF2B5EF4-FFF2-40B4-BE49-F238E27FC236}">
                <a16:creationId xmlns:a16="http://schemas.microsoft.com/office/drawing/2014/main" id="{F84E27B3-682F-47AF-A527-7DBF0C4E7303}"/>
              </a:ext>
            </a:extLst>
          </p:cNvPr>
          <p:cNvSpPr>
            <a:spLocks noGrp="1"/>
          </p:cNvSpPr>
          <p:nvPr>
            <p:ph type="ftr" sz="quarter" idx="11"/>
          </p:nvPr>
        </p:nvSpPr>
        <p:spPr>
          <a:xfrm>
            <a:off x="812802" y="6248207"/>
            <a:ext cx="10871198" cy="365125"/>
          </a:xfrm>
        </p:spPr>
        <p:txBody>
          <a:bodyPr/>
          <a:lstStyle/>
          <a:p>
            <a:r>
              <a:rPr lang="en-US"/>
              <a:t>M. Hammad Mazhar</a:t>
            </a:r>
          </a:p>
        </p:txBody>
      </p:sp>
      <p:sp>
        <p:nvSpPr>
          <p:cNvPr id="4" name="Slide Number Placeholder 3">
            <a:extLst>
              <a:ext uri="{FF2B5EF4-FFF2-40B4-BE49-F238E27FC236}">
                <a16:creationId xmlns:a16="http://schemas.microsoft.com/office/drawing/2014/main" id="{99D1EAF3-6D0F-4DBB-BDAA-40917D5B8064}"/>
              </a:ext>
            </a:extLst>
          </p:cNvPr>
          <p:cNvSpPr>
            <a:spLocks noGrp="1"/>
          </p:cNvSpPr>
          <p:nvPr>
            <p:ph type="sldNum" sz="quarter" idx="12"/>
          </p:nvPr>
        </p:nvSpPr>
        <p:spPr>
          <a:xfrm>
            <a:off x="16042" y="6213819"/>
            <a:ext cx="711200" cy="357938"/>
          </a:xfrm>
        </p:spPr>
        <p:txBody>
          <a:bodyPr>
            <a:normAutofit lnSpcReduction="10000"/>
          </a:bodyPr>
          <a:lstStyle/>
          <a:p>
            <a:fld id="{2ABC7612-2C91-4738-8FA0-3151D896C48D}" type="slidenum">
              <a:rPr lang="en-US" smtClean="0">
                <a:solidFill>
                  <a:schemeClr val="tx1"/>
                </a:solidFill>
              </a:rPr>
              <a:t>30</a:t>
            </a:fld>
            <a:endParaRPr lang="en-US" dirty="0">
              <a:solidFill>
                <a:schemeClr val="tx1"/>
              </a:solidFill>
            </a:endParaRPr>
          </a:p>
        </p:txBody>
      </p:sp>
      <p:sp>
        <p:nvSpPr>
          <p:cNvPr id="9" name="Content Placeholder 8">
            <a:extLst>
              <a:ext uri="{FF2B5EF4-FFF2-40B4-BE49-F238E27FC236}">
                <a16:creationId xmlns:a16="http://schemas.microsoft.com/office/drawing/2014/main" id="{5DA47612-B2DE-4C0D-A759-840860F65F2E}"/>
              </a:ext>
            </a:extLst>
          </p:cNvPr>
          <p:cNvSpPr>
            <a:spLocks noGrp="1"/>
          </p:cNvSpPr>
          <p:nvPr>
            <p:ph sz="quarter" idx="13"/>
          </p:nvPr>
        </p:nvSpPr>
        <p:spPr/>
        <p:txBody>
          <a:bodyPr/>
          <a:lstStyle/>
          <a:p>
            <a:r>
              <a:rPr lang="en-US" dirty="0"/>
              <a:t>Top 10 SLDs by ratio of flows per category.</a:t>
            </a:r>
          </a:p>
        </p:txBody>
      </p:sp>
      <p:pic>
        <p:nvPicPr>
          <p:cNvPr id="13" name="Graphic 12">
            <a:extLst>
              <a:ext uri="{FF2B5EF4-FFF2-40B4-BE49-F238E27FC236}">
                <a16:creationId xmlns:a16="http://schemas.microsoft.com/office/drawing/2014/main" id="{357CAC55-01FE-4FAA-AADA-57B57B8210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938614" y="2369593"/>
            <a:ext cx="2751509" cy="3436273"/>
          </a:xfrm>
          <a:prstGeom prst="rect">
            <a:avLst/>
          </a:prstGeom>
        </p:spPr>
      </p:pic>
      <p:sp>
        <p:nvSpPr>
          <p:cNvPr id="14" name="TextBox 13">
            <a:extLst>
              <a:ext uri="{FF2B5EF4-FFF2-40B4-BE49-F238E27FC236}">
                <a16:creationId xmlns:a16="http://schemas.microsoft.com/office/drawing/2014/main" id="{AFFC79C6-6416-4416-9512-47F28FA7D769}"/>
              </a:ext>
            </a:extLst>
          </p:cNvPr>
          <p:cNvSpPr txBox="1"/>
          <p:nvPr/>
        </p:nvSpPr>
        <p:spPr>
          <a:xfrm>
            <a:off x="683977" y="5539491"/>
            <a:ext cx="3260783" cy="461665"/>
          </a:xfrm>
          <a:prstGeom prst="rect">
            <a:avLst/>
          </a:prstGeom>
          <a:noFill/>
        </p:spPr>
        <p:txBody>
          <a:bodyPr wrap="square" rtlCol="0">
            <a:spAutoFit/>
          </a:bodyPr>
          <a:lstStyle/>
          <a:p>
            <a:pPr algn="ctr"/>
            <a:r>
              <a:rPr lang="en-US" sz="2400" dirty="0"/>
              <a:t>Smart TVs</a:t>
            </a:r>
          </a:p>
        </p:txBody>
      </p:sp>
      <p:pic>
        <p:nvPicPr>
          <p:cNvPr id="16" name="Graphic 15">
            <a:extLst>
              <a:ext uri="{FF2B5EF4-FFF2-40B4-BE49-F238E27FC236}">
                <a16:creationId xmlns:a16="http://schemas.microsoft.com/office/drawing/2014/main" id="{C7619152-B969-4871-A9D9-E78D859354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4879204" y="2058268"/>
            <a:ext cx="1980341" cy="3416090"/>
          </a:xfrm>
          <a:prstGeom prst="rect">
            <a:avLst/>
          </a:prstGeom>
        </p:spPr>
      </p:pic>
      <p:sp>
        <p:nvSpPr>
          <p:cNvPr id="17" name="TextBox 16">
            <a:extLst>
              <a:ext uri="{FF2B5EF4-FFF2-40B4-BE49-F238E27FC236}">
                <a16:creationId xmlns:a16="http://schemas.microsoft.com/office/drawing/2014/main" id="{9B7A4881-A8B0-487D-9A01-AD621D2E7EEA}"/>
              </a:ext>
            </a:extLst>
          </p:cNvPr>
          <p:cNvSpPr txBox="1"/>
          <p:nvPr/>
        </p:nvSpPr>
        <p:spPr>
          <a:xfrm>
            <a:off x="4161328" y="5517251"/>
            <a:ext cx="3260783" cy="461665"/>
          </a:xfrm>
          <a:prstGeom prst="rect">
            <a:avLst/>
          </a:prstGeom>
          <a:noFill/>
        </p:spPr>
        <p:txBody>
          <a:bodyPr wrap="square" rtlCol="0">
            <a:spAutoFit/>
          </a:bodyPr>
          <a:lstStyle/>
          <a:p>
            <a:pPr algn="ctr"/>
            <a:r>
              <a:rPr lang="en-US" sz="2400" dirty="0"/>
              <a:t>Smart Speakers</a:t>
            </a:r>
          </a:p>
        </p:txBody>
      </p:sp>
      <p:pic>
        <p:nvPicPr>
          <p:cNvPr id="19" name="Graphic 18">
            <a:extLst>
              <a:ext uri="{FF2B5EF4-FFF2-40B4-BE49-F238E27FC236}">
                <a16:creationId xmlns:a16="http://schemas.microsoft.com/office/drawing/2014/main" id="{0A927838-D608-4FBB-8383-CB413E6C26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8310050" y="2236019"/>
            <a:ext cx="2293160" cy="3325283"/>
          </a:xfrm>
          <a:prstGeom prst="rect">
            <a:avLst/>
          </a:prstGeom>
        </p:spPr>
      </p:pic>
      <p:sp>
        <p:nvSpPr>
          <p:cNvPr id="20" name="TextBox 19">
            <a:extLst>
              <a:ext uri="{FF2B5EF4-FFF2-40B4-BE49-F238E27FC236}">
                <a16:creationId xmlns:a16="http://schemas.microsoft.com/office/drawing/2014/main" id="{28AD62BD-DFCB-4C73-83D1-724B864C34EA}"/>
              </a:ext>
            </a:extLst>
          </p:cNvPr>
          <p:cNvSpPr txBox="1"/>
          <p:nvPr/>
        </p:nvSpPr>
        <p:spPr>
          <a:xfrm>
            <a:off x="7793988" y="5539491"/>
            <a:ext cx="3260783" cy="461665"/>
          </a:xfrm>
          <a:prstGeom prst="rect">
            <a:avLst/>
          </a:prstGeom>
          <a:noFill/>
        </p:spPr>
        <p:txBody>
          <a:bodyPr wrap="square" rtlCol="0">
            <a:spAutoFit/>
          </a:bodyPr>
          <a:lstStyle/>
          <a:p>
            <a:pPr algn="ctr"/>
            <a:r>
              <a:rPr lang="en-US" sz="2400" dirty="0"/>
              <a:t>Smart Cameras</a:t>
            </a:r>
          </a:p>
        </p:txBody>
      </p:sp>
    </p:spTree>
    <p:extLst>
      <p:ext uri="{BB962C8B-B14F-4D97-AF65-F5344CB8AC3E}">
        <p14:creationId xmlns:p14="http://schemas.microsoft.com/office/powerpoint/2010/main" val="17972221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extLst>
    <a:ext uri="{05A4C25C-085E-4340-85A3-A5531E510DB2}">
      <thm15:themeFamily xmlns:thm15="http://schemas.microsoft.com/office/thememl/2012/main" name="Theme1" id="{BFCC1558-C113-4E93-8486-6ECE7BFED80F}" vid="{D961359D-E337-48F5-BE57-D698885F57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5812</TotalTime>
  <Words>4232</Words>
  <Application>Microsoft Office PowerPoint</Application>
  <PresentationFormat>Widescreen</PresentationFormat>
  <Paragraphs>401</Paragraphs>
  <Slides>30</Slides>
  <Notes>21</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Calibri</vt:lpstr>
      <vt:lpstr>Source Sans Pro</vt:lpstr>
      <vt:lpstr>Tw Cen MT</vt:lpstr>
      <vt:lpstr>Wingdings</vt:lpstr>
      <vt:lpstr>Wingdings 2</vt:lpstr>
      <vt:lpstr>Theme1</vt:lpstr>
      <vt:lpstr>Characterizing Smart home IoT Traffic in the wild</vt:lpstr>
      <vt:lpstr>Smart Home IoT – A Target</vt:lpstr>
      <vt:lpstr>Prior Work – Limitations and Challenges</vt:lpstr>
      <vt:lpstr>Our Contributions</vt:lpstr>
      <vt:lpstr>Data Collection - Instrumentation</vt:lpstr>
      <vt:lpstr>Data Statistics</vt:lpstr>
      <vt:lpstr>Characterizing Smart Home IoT traffic</vt:lpstr>
      <vt:lpstr>Security/Privacy Issues in Smart Home IoT</vt:lpstr>
      <vt:lpstr>Securing Smart Home IoT via Access Control</vt:lpstr>
      <vt:lpstr>Securing Smart Home IoT via Access Control</vt:lpstr>
      <vt:lpstr>Security/Privacy Issues in Smart Home IoT</vt:lpstr>
      <vt:lpstr>Advertising/Tracking in Smart Home IoT</vt:lpstr>
      <vt:lpstr>Security/Privacy Issues in Smart Home IoT</vt:lpstr>
      <vt:lpstr>Conclusions and Implications</vt:lpstr>
      <vt:lpstr>Questions</vt:lpstr>
      <vt:lpstr>Overview – Smart Home IoT </vt:lpstr>
      <vt:lpstr>Volumetric Characteristics of Smart Home IoT</vt:lpstr>
      <vt:lpstr>Temporal Characteristics of Smart Home IoT</vt:lpstr>
      <vt:lpstr>Destination Characteristics of Smart Home IoT</vt:lpstr>
      <vt:lpstr>Smart Home IoT – Categorization</vt:lpstr>
      <vt:lpstr>Overview – Smart Home IoT Challenges</vt:lpstr>
      <vt:lpstr>Unencrypted Traffic in Smart Home IoT</vt:lpstr>
      <vt:lpstr>Use of Public DNS in Smart Home IoT</vt:lpstr>
      <vt:lpstr>Diversity in Smart Home IoT Adoption</vt:lpstr>
      <vt:lpstr>Characterization - Conclusions</vt:lpstr>
      <vt:lpstr>Data Collection - Deployment</vt:lpstr>
      <vt:lpstr>Studying Smart Home IoT - Challenges</vt:lpstr>
      <vt:lpstr>Background - Smart Home</vt:lpstr>
      <vt:lpstr>Data Statistics – Manufacturer Dominance</vt:lpstr>
      <vt:lpstr>With whom do smart home IoT devices communicate? – Second Level Domains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Characterizing Smart home IoT Traffic in the wild</dc:title>
  <dc:creator>Mazhar, Muhammad Hammad</dc:creator>
  <cp:lastModifiedBy>Hammad Mazhar</cp:lastModifiedBy>
  <cp:revision>167</cp:revision>
  <dcterms:created xsi:type="dcterms:W3CDTF">2020-03-11T19:42:41Z</dcterms:created>
  <dcterms:modified xsi:type="dcterms:W3CDTF">2020-04-17T20:23:25Z</dcterms:modified>
</cp:coreProperties>
</file>